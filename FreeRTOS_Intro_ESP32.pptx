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/>
  <p:notesSz cx="5143500" cy="9144000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90194360" val="1234" revOS="4"/>
      <pr:smFileRevision xmlns:pr="smNativeData" xmlns="smNativeData" dt="1790194360" val="101"/>
      <pr:guideOptions xmlns:pr="smNativeData" xmlns="smNativeData" dt="1790194360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 snapToObjects="1">
      <p:cViewPr varScale="1">
        <p:scale>
          <a:sx n="99" d="100"/>
          <a:sy n="99" d="100"/>
        </p:scale>
        <p:origin x="284" y="344"/>
      </p:cViewPr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21" d="100"/>
        <a:sy n="21" d="100"/>
      </p:scale>
      <p:origin x="0" y="0"/>
    </p:cViewPr>
  </p:sorterViewPr>
  <p:notesViewPr>
    <p:cSldViewPr snapToGrid="0" snapToObjects="1">
      <p:cViewPr>
        <p:scale>
          <a:sx n="99" d="100"/>
          <a:sy n="99" d="100"/>
        </p:scale>
        <p:origin x="284" y="344"/>
      </p:cViewPr>
    </p:cSldViewPr>
  </p:notesViewPr>
  <p:gridSpacing cx="78028800" cy="7802880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K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BIEgAA0wIAABAAAAAmAAAACAAAAD+PAAAAAAAA"/>
              </a:ext>
            </a:extLst>
          </p:cNvSpPr>
          <p:nvPr>
            <p:ph type="hdr" sz="quarter"/>
          </p:nvPr>
        </p:nvSpPr>
        <p:spPr>
          <a:xfrm>
            <a:off x="0" y="0"/>
            <a:ext cx="2971800" cy="45910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AAAAAAuKgAA0wIAABAAAAAmAAAACAAAAD+PAAAAAAAA"/>
              </a:ext>
            </a:extLst>
          </p:cNvSpPr>
          <p:nvPr>
            <p:ph type="dt" idx="10"/>
          </p:nvPr>
        </p:nvSpPr>
        <p:spPr>
          <a:xfrm>
            <a:off x="3884930" y="0"/>
            <a:ext cx="2971800" cy="45910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2CA4E356-18C1-F115-8F1C-EE40AD5279BB}" type="datetime1">
              <a:t>7/23/19</a:t>
            </a:fld>
          </a:p>
        </p:txBody>
      </p:sp>
      <p:sp>
        <p:nvSpPr>
          <p:cNvPr id="4" name="Slide Image Placeholder 3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K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L8PAAD/HwAA"/>
              </a:ext>
            </a:extLst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/>
            <a:endParaRPr lang="en-us" cap="none"/>
          </a:p>
        </p:txBody>
      </p:sp>
      <p:sp>
        <p:nvSpPr>
          <p:cNvPr id="5" name="Notes Placeholder 4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OAQAABIbAAD4JQAAODEAABAAAAAmAAAACAAAAD8PAAD/HwAA"/>
              </a:ext>
            </a:extLst>
          </p:cNvSpPr>
          <p:nvPr>
            <p:ph type="body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rPr lang="en-us" cap="none"/>
              <a:t>Click to edit Master text styles</a:t>
            </a:r>
            <a:endParaRPr lang="en-us" cap="none"/>
          </a:p>
          <a:p>
            <a:pPr lvl="1"/>
            <a:r>
              <a:rPr lang="en-us" cap="none"/>
              <a:t>Second level</a:t>
            </a:r>
            <a:endParaRPr lang="en-us" cap="none"/>
          </a:p>
          <a:p>
            <a:pPr lvl="2"/>
            <a:r>
              <a:rPr lang="en-us" cap="none"/>
              <a:t>Third level</a:t>
            </a:r>
            <a:endParaRPr lang="en-us" cap="none"/>
          </a:p>
          <a:p>
            <a:pPr lvl="3"/>
            <a:r>
              <a:rPr lang="en-us" cap="none"/>
              <a:t>Fourth level</a:t>
            </a:r>
            <a:endParaRPr lang="en-us" cap="none"/>
          </a:p>
          <a:p>
            <a:pPr lvl="4"/>
            <a:r>
              <a:rPr lang="en-us" cap="none"/>
              <a:t>Fifth level</a:t>
            </a:r>
            <a:endParaRPr lang="en-us" cap="none"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G41AABIEgAAQDgAABAAAAAmAAAACAAAAL+PAAD/HwAA"/>
              </a:ext>
            </a:extLst>
          </p:cNvSpPr>
          <p:nvPr>
            <p:ph type="ftr" sz="quarter" idx="11"/>
          </p:nvPr>
        </p:nvSpPr>
        <p:spPr>
          <a:xfrm>
            <a:off x="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G41AAAuKgAAQDgAABAAAAAmAAAACAAAAL+PAAD/Hw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2CA4B636-78C1-F140-8F1C-8E15F85279DB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2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themeOverride" Target="../theme/themeOverride1.xml"/></Relationships>
</file>

<file path=ppt/notesSlides/_rels/notesSlide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themeOverride" Target="../theme/themeOverride2.xml"/></Relationships>
</file>

<file path=ppt/notesSlides/_rels/notesSlide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themeOverride" Target="../theme/themeOverride3.xml"/></Relationships>
</file>

<file path=ppt/notesSlides/_rels/notesSlide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themeOverride" Target="../theme/themeOverride4.xml"/></Relationships>
</file>

<file path=ppt/notesSlides/_rels/notesSlide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themeOverride" Target="../theme/themeOverride5.xml"/></Relationships>
</file>

<file path=ppt/notesSlides/_rels/notesSlide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themeOverride" Target="../theme/themeOverride6.xml"/></Relationships>
</file>

<file path=ppt/notesSlides/_rels/notesSlide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themeOverride" Target="../theme/themeOverride7.xml"/></Relationships>
</file>

<file path=ppt/notesSlides/_rels/notesSlide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themeOverride" Target="../theme/themeOverride8.xml"/></Relationships>
</file>

<file path=ppt/notesSlides/_rels/notesSlide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Relationship Id="rId3" Type="http://schemas.openxmlformats.org/officeDocument/2006/relationships/themeOverride" Target="../theme/themeOverride9.xml"/></Relationships>
</file>

<file path=ppt/notesSlides/_rels/notesSlide1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Relationship Id="rId3" Type="http://schemas.openxmlformats.org/officeDocument/2006/relationships/themeOverride" Target="../theme/themeOverride10.xml"/></Relationships>
</file>

<file path=ppt/notesSlides/_rels/notesSlide1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Relationship Id="rId3" Type="http://schemas.openxmlformats.org/officeDocument/2006/relationships/themeOverride" Target="../theme/themeOverride11.xml"/></Relationships>
</file>

<file path=ppt/notesSlides/_rels/notesSlide1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Relationship Id="rId3" Type="http://schemas.openxmlformats.org/officeDocument/2006/relationships/themeOverride" Target="../theme/themeOverride12.xml"/></Relationships>
</file>

<file path=ppt/notesSlides/_rels/notesSlide1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Relationship Id="rId3" Type="http://schemas.openxmlformats.org/officeDocument/2006/relationships/themeOverride" Target="../theme/themeOverride13.xml"/></Relationships>
</file>

<file path=ppt/notesSlides/_rels/notesSlide1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Relationship Id="rId3" Type="http://schemas.openxmlformats.org/officeDocument/2006/relationships/themeOverride" Target="../theme/themeOverride14.xml"/></Relationships>
</file>

<file path=ppt/notesSlides/_rels/notesSlide1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Relationship Id="rId3" Type="http://schemas.openxmlformats.org/officeDocument/2006/relationships/themeOverride" Target="../theme/themeOverride15.xml"/></Relationships>
</file>

<file path=ppt/notesSlides/_rels/notesSlide1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Relationship Id="rId3" Type="http://schemas.openxmlformats.org/officeDocument/2006/relationships/themeOverride" Target="../theme/themeOverride16.xml"/></Relationships>
</file>

<file path=ppt/notesSlides/_rels/notesSlide1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Relationship Id="rId3" Type="http://schemas.openxmlformats.org/officeDocument/2006/relationships/themeOverride" Target="../theme/themeOverride17.xml"/></Relationships>
</file>

<file path=ppt/notesSlides/_rels/notesSlide1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Relationship Id="rId3" Type="http://schemas.openxmlformats.org/officeDocument/2006/relationships/themeOverride" Target="../theme/themeOverride18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E695-DBC1-F110-8F1C-2D45A8527978}" type="slidenum">
              <a:t>1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90A0-EEC1-F166-8F1C-1833DE52794D}" type="slidenum">
              <a:rPr lang="en-us" cap="none"/>
              <a:t>2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L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L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850D-43C1-F173-8F1C-B526CB5279E0}" type="slidenum">
              <a:rPr lang="en-us" cap="none"/>
              <a:t>3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H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M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8879-37C1-F17E-8F1C-C12BC6527994}" type="slidenum">
              <a:rPr lang="en-us" cap="none"/>
              <a:t>4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P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P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A94E-00C1-F15F-8F1C-F60AE75279A3}" type="slidenum">
              <a:rPr lang="en-us" cap="none"/>
              <a:t>5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DDCE-80C1-F12B-8F1C-767E93527923}" type="slidenum">
              <a:rPr lang="en-us" cap="none"/>
              <a:t>6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T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9326-68C1-F165-8F1C-9E30DD5279CB}" type="slidenum">
              <a:rPr lang="en-us" cap="none"/>
              <a:t>7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92C2-8CC1-F164-8F1C-7A31DC52792F}" type="slidenum">
              <a:rPr lang="en-us" cap="none"/>
              <a:t>8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F130-7EC1-F107-8F1C-8852BF5279DD}" type="slidenum">
              <a:rPr lang="en-us" cap="none"/>
              <a:t>9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D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B7B9-F7C1-F141-8F1C-0114F9527954}" type="slidenum">
              <a:rPr lang="en-us" cap="none"/>
              <a:t>10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ICA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9170-3EC1-F167-8F1C-C832DF52799D}" type="slidenum">
              <a:rPr lang="en-us" cap="none"/>
              <a:t>11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8E09-47C1-F178-8F1C-B12DC05279E4}" type="slidenum">
              <a:rPr lang="en-us" cap="none"/>
              <a:t>12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F3F1-BFC1-F105-8F1C-4950BD52791C}" type="slidenum">
              <a:rPr lang="en-us" cap="none"/>
              <a:t>13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CB97-D9C1-F13D-8F1C-2F688552797A}" type="slidenum">
              <a:rPr lang="en-us" cap="none"/>
              <a:t>14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911D-53C1-F167-8F1C-A532DF5279F0}" type="slidenum">
              <a:rPr lang="en-us" cap="none"/>
              <a:t>15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866B-25C1-F170-8F1C-D325C8527986}" type="slidenum">
              <a:rPr lang="en-us" cap="none"/>
              <a:t>16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CF8C-C2C1-F139-8F1C-346C81527961}" type="slidenum">
              <a:rPr lang="en-us" cap="none"/>
              <a:t>17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uDK0ah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uDK0ahMAAAAlAAAAZAAAAA0AAAAAkAAAAEgAAACQAAAASAAAAAAAAAAC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2CA48802-4CC1-F17E-8F1C-BA2BC65279EF}" type="slidenum">
              <a:rPr lang="en-us" cap="none"/>
              <a:t>18</a:t>
            </a:fld>
            <a:endParaRPr lang="en-us"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1"/>
          </a:solidFill>
          <a:effectLst/>
          <a:latin typeface="Calibri Light" pitchFamily="2" charset="0"/>
          <a:ea typeface="Calibri Light" pitchFamily="2" charset="0"/>
          <a:cs typeface="Calibri Light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titleStyle>
    <p:bodyStyle>
      <a:lvl1pPr marL="342900" marR="0" indent="-3429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742950" marR="0" indent="-28575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11430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6002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20574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5146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9718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4290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886200" marR="0" indent="-228600" algn="l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 typeface="Arial" pitchFamily="2" charset="0"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uDK0ahMAAAAlAAAAZQAAAA0AAAAAkAAAAEgAAACQAAAASAAAAAAAAAAAAAAAAAAAAAEAAABQAAAA07zjFB3JtT8AAAAAAADwvwAAAAAAAOA/AAAAAAAA4D8AAAAAAADgPwAAAAAAAOA/AAAAAAAA4D8AAAAAAADgPwAAAAAAAOA/AAAAAAAA4D8CAAAAjAAAAAEAAAAAAAAAAoCQAP///wgQAAAAAAAAAAAAAAAAAAAAAAAAAAAAAAAAAAAAeAAAAAEAAABAAAAAAAAAAAAAAABaAAAAAAAAAAAAAAAAAAAAAAAAAAAAAAAAAAAAAAAAAAAAAAAAAAAAAAAAAAAAAAAAAAAAAAAAAAAAAAAAAAAAAAAAAAAAAAAAAAAAFAAAADwAAAABAAAAAAAAAALDmg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LDmgB/f38A5+bmA8zMzADAwP8Af39/AAAAAAAAAAAAAAAAAAAAAAAAAAAAIQAAABgAAAAUAAAA0AIAACgIAABwNQAAYBUAABAAAAAmAAAACAAAAP//////////"/>
              </a:ext>
            </a:extLst>
          </p:cNvSpPr>
          <p:nvPr/>
        </p:nvSpPr>
        <p:spPr>
          <a:xfrm>
            <a:off x="457200" y="1325880"/>
            <a:ext cx="8229600" cy="2148840"/>
          </a:xfrm>
          <a:prstGeom prst="roundRect">
            <a:avLst>
              <a:gd name="adj" fmla="val 4255"/>
            </a:avLst>
          </a:prstGeom>
          <a:solidFill>
            <a:srgbClr val="028090">
              <a:alpha val="84000"/>
            </a:srgbClr>
          </a:solidFill>
          <a:ln w="12700" cap="flat" cmpd="sng" algn="ctr">
            <a:solidFill>
              <a:srgbClr val="02C39A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1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EgJAADAMwAAEA4AABAAAAAmAAAACAAAAP//////////"/>
              </a:ext>
            </a:extLst>
          </p:cNvSpPr>
          <p:nvPr/>
        </p:nvSpPr>
        <p:spPr>
          <a:xfrm>
            <a:off x="731520" y="1508760"/>
            <a:ext cx="768096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42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FreeRTOS + ESP32</a:t>
            </a:r>
            <a:endParaRPr lang="en-us" sz="4200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FgOAADAMwAA4BAAABAAAAAmAAAACAAAAP//////////"/>
              </a:ext>
            </a:extLst>
          </p:cNvSpPr>
          <p:nvPr/>
        </p:nvSpPr>
        <p:spPr>
          <a:xfrm>
            <a:off x="731520" y="2331720"/>
            <a:ext cx="768096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cap="none">
                <a:solidFill>
                  <a:srgbClr val="02C39A"/>
                </a:solidFill>
              </a:rPr>
              <a:t>Marco teórico mínimo para los proyectos de la materia</a:t>
            </a:r>
            <a:endParaRPr lang="en-us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QAAHgYAADAMwAAuBoAABAAAAAmAAAACAAAAP//////////"/>
              </a:ext>
            </a:extLst>
          </p:cNvSpPr>
          <p:nvPr/>
        </p:nvSpPr>
        <p:spPr>
          <a:xfrm>
            <a:off x="731520" y="3977640"/>
            <a:ext cx="768096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CADCFC"/>
                </a:solidFill>
              </a:rPr>
              <a:t>Técnicas Digitales 2  ·  UTN Paraná  ·  Ingeniería Electrónica</a:t>
            </a:r>
            <a:endParaRPr lang="en-us" sz="16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n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Objetivos de la clase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GAMAAMAGAABYBQAAAAkAABAAAAAmAAAACAAAAP//////////"/>
              </a:ext>
            </a:extLst>
          </p:cNvSpPr>
          <p:nvPr/>
        </p:nvSpPr>
        <p:spPr>
          <a:xfrm>
            <a:off x="502920" y="109728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PoGAABYBQAAxggAABAAAAAmAAAACAAAAP//////////"/>
              </a:ext>
            </a:extLst>
          </p:cNvSpPr>
          <p:nvPr/>
        </p:nvSpPr>
        <p:spPr>
          <a:xfrm>
            <a:off x="502920" y="1134110"/>
            <a:ext cx="365760" cy="29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1</a:t>
            </a:r>
            <a:endParaRPr lang="en-us" sz="13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YAAHgGAACYNAAAIAoAABAAAAAmAAAACAAAAP//////////"/>
              </a:ext>
            </a:extLst>
          </p:cNvSpPr>
          <p:nvPr/>
        </p:nvSpPr>
        <p:spPr>
          <a:xfrm>
            <a:off x="1051560" y="1051560"/>
            <a:ext cx="749808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1A1A2E"/>
                </a:solidFill>
              </a:rPr>
              <a:t>Explicar qué es un RTOS y por qué un solo loop() no alcanza cuando hay varias tareas</a:t>
            </a:r>
            <a:endParaRPr lang="en-us" sz="16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GAMAANALAABYBQAAEA4AABAAAAAmAAAACAAAAP//////////"/>
              </a:ext>
            </a:extLst>
          </p:cNvSpPr>
          <p:nvPr/>
        </p:nvSpPr>
        <p:spPr>
          <a:xfrm>
            <a:off x="502920" y="192024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AoMAABYBQAA1g0AABAAAAAmAAAACAAAAP//////////"/>
              </a:ext>
            </a:extLst>
          </p:cNvSpPr>
          <p:nvPr/>
        </p:nvSpPr>
        <p:spPr>
          <a:xfrm>
            <a:off x="502920" y="1957070"/>
            <a:ext cx="365760" cy="29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2</a:t>
            </a:r>
            <a:endParaRPr lang="en-us" sz="13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YAAIgLAACYNAAAMA8AABAAAAAmAAAACAAAAP//////////"/>
              </a:ext>
            </a:extLst>
          </p:cNvSpPr>
          <p:nvPr/>
        </p:nvSpPr>
        <p:spPr>
          <a:xfrm>
            <a:off x="1051560" y="1874520"/>
            <a:ext cx="749808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1A1A2E"/>
                </a:solidFill>
              </a:rPr>
              <a:t>Reconocer tasks, scheduler, prioridades y los dos núcleos del ESP32</a:t>
            </a:r>
            <a:endParaRPr lang="en-us" sz="16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uDK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GAMAAOAQAABYBQAAIBMAABAAAAAmAAAACAAAAP//////////"/>
              </a:ext>
            </a:extLst>
          </p:cNvSpPr>
          <p:nvPr/>
        </p:nvSpPr>
        <p:spPr>
          <a:xfrm>
            <a:off x="502920" y="274320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BoRAABYBQAA5hIAABAAAAAmAAAACAAAAP//////////"/>
              </a:ext>
            </a:extLst>
          </p:cNvSpPr>
          <p:nvPr/>
        </p:nvSpPr>
        <p:spPr>
          <a:xfrm>
            <a:off x="502920" y="2780030"/>
            <a:ext cx="365760" cy="29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3</a:t>
            </a:r>
            <a:endParaRPr lang="en-us" sz="13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YAAJgQAACYNAAAQBQAABAAAAAmAAAACAAAAP//////////"/>
              </a:ext>
            </a:extLst>
          </p:cNvSpPr>
          <p:nvPr/>
        </p:nvSpPr>
        <p:spPr>
          <a:xfrm>
            <a:off x="1051560" y="2697480"/>
            <a:ext cx="749808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1A1A2E"/>
                </a:solidFill>
              </a:rPr>
              <a:t>Entender colas, ISR, stack/heap y cómo se controla una task</a:t>
            </a:r>
            <a:endParaRPr lang="en-us" sz="16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uDK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n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GAMAAPAVAABYBQAAMBgAABAAAAAmAAAACAAAAP//////////"/>
              </a:ext>
            </a:extLst>
          </p:cNvSpPr>
          <p:nvPr/>
        </p:nvSpPr>
        <p:spPr>
          <a:xfrm>
            <a:off x="502920" y="3566160"/>
            <a:ext cx="365760" cy="3657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CoWAABYBQAA9hcAABAAAAAmAAAACAAAAP//////////"/>
              </a:ext>
            </a:extLst>
          </p:cNvSpPr>
          <p:nvPr/>
        </p:nvSpPr>
        <p:spPr>
          <a:xfrm>
            <a:off x="502920" y="3602990"/>
            <a:ext cx="365760" cy="29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4</a:t>
            </a:r>
            <a:endParaRPr lang="en-us" sz="13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AYAAKgVAACYNAAAUBkAABAAAAAmAAAACAAAAP//////////"/>
              </a:ext>
            </a:extLst>
          </p:cNvSpPr>
          <p:nvPr/>
        </p:nvSpPr>
        <p:spPr>
          <a:xfrm>
            <a:off x="1051560" y="3520440"/>
            <a:ext cx="749808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1A1A2E"/>
                </a:solidFill>
              </a:rPr>
              <a:t>Leer el código de los proyectos de la materia, empezando por el blink de dos LEDs</a:t>
            </a:r>
            <a:endParaRPr lang="en-us" sz="16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Del loop() al problema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ur2kMVpHpT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0AIAADAGAABIGwAA2BsAABAAAAAmAAAACAAAAP//////////"/>
              </a:ext>
            </a:extLst>
          </p:cNvSpPr>
          <p:nvPr/>
        </p:nvSpPr>
        <p:spPr>
          <a:xfrm>
            <a:off x="457200" y="100584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MAGAAB+GgAAjQgAABAAAAAmAAAACAAAAP//////////"/>
              </a:ext>
            </a:extLst>
          </p:cNvSpPr>
          <p:nvPr/>
        </p:nvSpPr>
        <p:spPr>
          <a:xfrm>
            <a:off x="58547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Modelo clásico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H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KoIAAB+GgAASBsAABAAAAAmAAAACAAAAP//////////"/>
              </a:ext>
            </a:extLst>
          </p:cNvSpPr>
          <p:nvPr/>
        </p:nvSpPr>
        <p:spPr>
          <a:xfrm>
            <a:off x="585470" y="1408430"/>
            <a:ext cx="3721100" cy="30264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El MCU ejecuta instrucciones una tras otra.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En Arduino: setup() una vez y loop() para siempre.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Sirve para un LED, un sensor o un ensayo corto. El programa es una sola cola de trabajo.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QAAAA0AAAAAkAAAAEgAAACQAAAASAAAAAAAAAAAAAAAAAAAAAEAAABQAAAAur2kMVpHpT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D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ColgB/f38AAAAAAMvLywDAwP8Af39/AAAAAAAAAAAAAAAAAAAAAAAAAAAAIQAAABgAAAAUAAAA+BwAADAGAABwNQAA2BsAABAAAAAmAAAACAAAAP//////////"/>
              </a:ext>
            </a:extLst>
          </p:cNvSpPr>
          <p:nvPr/>
        </p:nvSpPr>
        <p:spPr>
          <a:xfrm>
            <a:off x="4709160" y="100584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h0AAMAGAACmNAAAjQgAABAAAAAmAAAACAAAAP//////////"/>
              </a:ext>
            </a:extLst>
          </p:cNvSpPr>
          <p:nvPr/>
        </p:nvSpPr>
        <p:spPr>
          <a:xfrm>
            <a:off x="483743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Cuando se queda corto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H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h0AAKoIAACmNAAASBsAABAAAAAmAAAACAAAAP//////////"/>
              </a:ext>
            </a:extLst>
          </p:cNvSpPr>
          <p:nvPr/>
        </p:nvSpPr>
        <p:spPr>
          <a:xfrm>
            <a:off x="4837430" y="1408430"/>
            <a:ext cx="3721100" cy="30264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Sensor + Wi-Fi + pantalla + botón al mismo tiempo.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 delay() frena todo el programa.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Tiempos distintos se mezclan.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El código se vuelve difícil de mantener.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Se pueden perder eventos.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RTOS y FreeRTOS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OgFAADgIgAA2BsAABAAAAAmAAAACAAAAP//////////"/>
              </a:ext>
            </a:extLst>
          </p:cNvSpPr>
          <p:nvPr/>
        </p:nvSpPr>
        <p:spPr>
          <a:xfrm>
            <a:off x="457200" y="960120"/>
            <a:ext cx="5212080" cy="3566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RTOS = Real-Time Operating System: sistema pequeño y eficiente para micros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Multitarea: varias tasks parecen correr en paralelo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El scheduler es el director de orquesta: decide quién usa el CPU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FreeRTOS es open source, liviano y muy usado en industria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En ESP32 ya viene incluido (Arduino y ESP-IDF)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uDK0ahMAAAAlAAAAZgAAAA0AAAAAkAAAAEgAAACQAAAASAAAAAAAAAAAAAAAAAAAAAEAAABQAAAAAAAAAAAA8D8AAAAAAADw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iCYAACgIAAB4MwAAGBUAABAAAAAmAAAACAAAAP//////////"/>
              </a:ext>
            </a:extLst>
          </p:cNvSpPr>
          <p:nvPr/>
        </p:nvSpPr>
        <p:spPr>
          <a:xfrm>
            <a:off x="6263640" y="1325880"/>
            <a:ext cx="2103120" cy="21031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L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iCYAAEALAAB4MwAAuBEAABAAAAAmAAAACAAAAP//////////"/>
              </a:ext>
            </a:extLst>
          </p:cNvSpPr>
          <p:nvPr/>
        </p:nvSpPr>
        <p:spPr>
          <a:xfrm>
            <a:off x="6263640" y="1828800"/>
            <a:ext cx="2103120" cy="10515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26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Free</a:t>
            </a:r>
            <a:endParaRPr lang="en-us" sz="2600" cap="none"/>
          </a:p>
          <a:p>
            <a:pPr marL="0" indent="0" algn="ctr">
              <a:buNone/>
            </a:pPr>
            <a:r>
              <a:rPr lang="en-us" sz="26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RTOS</a:t>
            </a:r>
            <a:endParaRPr lang="en-us" sz="26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sCUAADgWAABQNAAA6BcAABAAAAAmAAAACAAAAP//////////"/>
              </a:ext>
            </a:extLst>
          </p:cNvSpPr>
          <p:nvPr/>
        </p:nvSpPr>
        <p:spPr>
          <a:xfrm>
            <a:off x="6126480" y="3611880"/>
            <a:ext cx="23774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5A6A7A"/>
                </a:solidFill>
              </a:rPr>
              <a:t>freertos.org</a:t>
            </a:r>
            <a:endParaRPr lang="en-us" sz="1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Ventajas principales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P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0AIAADAGAABIGwAAwA8AABAAAAAmAAAACAAAAP//////////"/>
              </a:ext>
            </a:extLst>
          </p:cNvSpPr>
          <p:nvPr/>
        </p:nvSpPr>
        <p:spPr>
          <a:xfrm>
            <a:off x="45720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MAGAAB+GgAAjQgAABAAAAAmAAAACAAAAP//////////"/>
              </a:ext>
            </a:extLst>
          </p:cNvSpPr>
          <p:nvPr/>
        </p:nvSpPr>
        <p:spPr>
          <a:xfrm>
            <a:off x="58547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Organización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KoIAAB+GgAAMA8AABAAAAAmAAAACAAAAP//////////"/>
              </a:ext>
            </a:extLst>
          </p:cNvSpPr>
          <p:nvPr/>
        </p:nvSpPr>
        <p:spPr>
          <a:xfrm>
            <a:off x="585470" y="1408430"/>
            <a:ext cx="372110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Cada task tiene un rol claro: sensor, comunicación, display, consola.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sBwAADAGAAAoNQAAwA8AABAAAAAmAAAACAAAAP//////////"/>
              </a:ext>
            </a:extLst>
          </p:cNvSpPr>
          <p:nvPr/>
        </p:nvSpPr>
        <p:spPr>
          <a:xfrm>
            <a:off x="466344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h0AAMAGAABeNAAAjQgAABAAAAAmAAAACAAAAP//////////"/>
              </a:ext>
            </a:extLst>
          </p:cNvSpPr>
          <p:nvPr/>
        </p:nvSpPr>
        <p:spPr>
          <a:xfrm>
            <a:off x="479171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Mejor uso del CPU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h0AAKoIAABeNAAAMA8AABAAAAAmAAAACAAAAP//////////"/>
              </a:ext>
            </a:extLst>
          </p:cNvSpPr>
          <p:nvPr/>
        </p:nvSpPr>
        <p:spPr>
          <a:xfrm>
            <a:off x="4791710" y="1408430"/>
            <a:ext cx="372110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Mientras una task espera, otra puede ejecutarse.</a:t>
            </a:r>
            <a:endParaRPr lang="en-us" sz="13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uDK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L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0AIAAOAQAABIGwAAcBoAABAAAAAmAAAACAAAAP//////////"/>
              </a:ext>
            </a:extLst>
          </p:cNvSpPr>
          <p:nvPr/>
        </p:nvSpPr>
        <p:spPr>
          <a:xfrm>
            <a:off x="457200" y="2743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b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HARAAB+GgAAPRMAABAAAAAmAAAACAAAAP//////////"/>
              </a:ext>
            </a:extLst>
          </p:cNvSpPr>
          <p:nvPr/>
        </p:nvSpPr>
        <p:spPr>
          <a:xfrm>
            <a:off x="585470" y="283464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Respuesta predecible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n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FoTAAB+GgAA4BkAABAAAAAmAAAACAAAAP//////////"/>
              </a:ext>
            </a:extLst>
          </p:cNvSpPr>
          <p:nvPr/>
        </p:nvSpPr>
        <p:spPr>
          <a:xfrm>
            <a:off x="585470" y="3145790"/>
            <a:ext cx="372110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Las prioridades atienden primero lo urgente.</a:t>
            </a:r>
            <a:endParaRPr lang="en-us" sz="13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uDK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OP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sBwAAOAQAAAoNQAAcBoAABAAAAAmAAAACAAAAP//////////"/>
              </a:ext>
            </a:extLst>
          </p:cNvSpPr>
          <p:nvPr/>
        </p:nvSpPr>
        <p:spPr>
          <a:xfrm>
            <a:off x="4663440" y="27432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P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h0AAHARAABeNAAAPRMAABAAAAAmAAAACAAAAP//////////"/>
              </a:ext>
            </a:extLst>
          </p:cNvSpPr>
          <p:nvPr/>
        </p:nvSpPr>
        <p:spPr>
          <a:xfrm>
            <a:off x="4791710" y="283464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Escalabilidad</a:t>
            </a:r>
            <a:endParaRPr lang="en-us" sz="14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h0AAFoTAABeNAAA4BkAABAAAAAmAAAACAAAAP//////////"/>
              </a:ext>
            </a:extLst>
          </p:cNvSpPr>
          <p:nvPr/>
        </p:nvSpPr>
        <p:spPr>
          <a:xfrm>
            <a:off x="4791710" y="3145790"/>
            <a:ext cx="372110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Se agregan funciones sin reescribir todo el loop().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Concepto central: Tasks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OgFAACgIAAAuBoAABAAAAAmAAAACAAAAP//////////"/>
              </a:ext>
            </a:extLst>
          </p:cNvSpPr>
          <p:nvPr/>
        </p:nvSpPr>
        <p:spPr>
          <a:xfrm>
            <a:off x="457200" y="960120"/>
            <a:ext cx="4846320" cy="3383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Una task es un mini-programa dentro del programa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Se escribe como una función con bucle infinito: for(;;) { ... }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Tiene nombre, prioridad y stack (memoria propia)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El scheduler alterna entre tasks según prioridad y estado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En un núcleo, solo una task corre a la vez</a:t>
            </a:r>
            <a:endParaRPr lang="en-us" sz="1500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P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CEAAHgGAABwNQAACwgAABAAAAAmAAAACAAAAP//////////"/>
              </a:ext>
            </a:extLst>
          </p:cNvSpPr>
          <p:nvPr/>
        </p:nvSpPr>
        <p:spPr>
          <a:xfrm>
            <a:off x="5486400" y="1051560"/>
            <a:ext cx="3200400" cy="2559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5A6A7A"/>
                </a:solidFill>
              </a:rPr>
              <a:t>Tiempo -&gt;</a:t>
            </a:r>
            <a:endParaRPr lang="en-us" sz="12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n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CEAALgIAACgKQAAhQoAABAAAAAmAAAACAAAAP//////////"/>
              </a:ext>
            </a:extLst>
          </p:cNvSpPr>
          <p:nvPr/>
        </p:nvSpPr>
        <p:spPr>
          <a:xfrm>
            <a:off x="5440680" y="1417320"/>
            <a:ext cx="132588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1A1A2E"/>
                </a:solidFill>
              </a:rPr>
              <a:t>Task LED 1</a:t>
            </a:r>
            <a:endParaRPr lang="en-us" sz="12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MCoAAOMIAABTLAAAdgoAABAAAAAmAAAACAAAAP//////////"/>
              </a:ext>
            </a:extLst>
          </p:cNvSpPr>
          <p:nvPr/>
        </p:nvSpPr>
        <p:spPr>
          <a:xfrm>
            <a:off x="6858000" y="1444625"/>
            <a:ext cx="347345" cy="2559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7" name="Shape 5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SC0AAOMIAABrLwAAdgoAABAAAAAmAAAACAAAAP//////////"/>
              </a:ext>
            </a:extLst>
          </p:cNvSpPr>
          <p:nvPr/>
        </p:nvSpPr>
        <p:spPr>
          <a:xfrm>
            <a:off x="7360920" y="1444625"/>
            <a:ext cx="347345" cy="2559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8" name="Shape 6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YDAAAOMIAACDMgAAdgoAABAAAAAmAAAACAAAAP//////////"/>
              </a:ext>
            </a:extLst>
          </p:cNvSpPr>
          <p:nvPr/>
        </p:nvSpPr>
        <p:spPr>
          <a:xfrm>
            <a:off x="7863840" y="1444625"/>
            <a:ext cx="347345" cy="2559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9" name="Shape 7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eDMAAOMIAACbNQAAdgoAABAAAAAmAAAACAAAAP//////////"/>
              </a:ext>
            </a:extLst>
          </p:cNvSpPr>
          <p:nvPr/>
        </p:nvSpPr>
        <p:spPr>
          <a:xfrm>
            <a:off x="8366760" y="1444625"/>
            <a:ext cx="347345" cy="2559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CEAAMgNAACgKQAAlQ8AABAAAAAmAAAACAAAAP//////////"/>
              </a:ext>
            </a:extLst>
          </p:cNvSpPr>
          <p:nvPr/>
        </p:nvSpPr>
        <p:spPr>
          <a:xfrm>
            <a:off x="5440680" y="2240280"/>
            <a:ext cx="132588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1A1A2E"/>
                </a:solidFill>
              </a:rPr>
              <a:t>Task LED 2</a:t>
            </a:r>
            <a:endParaRPr lang="en-us" sz="1200" cap="none"/>
          </a:p>
        </p:txBody>
      </p:sp>
      <p:sp>
        <p:nvSpPr>
          <p:cNvPr id="11" name="Shape 9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3SoAAPMNAAAALQAAhg8AABAAAAAmAAAACAAAAP//////////"/>
              </a:ext>
            </a:extLst>
          </p:cNvSpPr>
          <p:nvPr/>
        </p:nvSpPr>
        <p:spPr>
          <a:xfrm>
            <a:off x="6967855" y="2267585"/>
            <a:ext cx="347345" cy="255905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12" name="Shape 10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9S0AAPMNAAAYMAAAhg8AABAAAAAmAAAACAAAAP//////////"/>
              </a:ext>
            </a:extLst>
          </p:cNvSpPr>
          <p:nvPr/>
        </p:nvSpPr>
        <p:spPr>
          <a:xfrm>
            <a:off x="7470775" y="2267585"/>
            <a:ext cx="347345" cy="255905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13" name="Shape 11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DTEAAPMNAAAwMwAAhg8AABAAAAAmAAAACAAAAP//////////"/>
              </a:ext>
            </a:extLst>
          </p:cNvSpPr>
          <p:nvPr/>
        </p:nvSpPr>
        <p:spPr>
          <a:xfrm>
            <a:off x="7973695" y="2267585"/>
            <a:ext cx="347345" cy="255905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14" name="Shape 12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JTQAAPMNAABINgAAhg8AABAAAAAmAAAACAAAAP//////////"/>
              </a:ext>
            </a:extLst>
          </p:cNvSpPr>
          <p:nvPr/>
        </p:nvSpPr>
        <p:spPr>
          <a:xfrm>
            <a:off x="8476615" y="2267585"/>
            <a:ext cx="347345" cy="255905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15" name="Text 1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CEAANgSAACgKQAApRQAABAAAAAmAAAACAAAAP//////////"/>
              </a:ext>
            </a:extLst>
          </p:cNvSpPr>
          <p:nvPr/>
        </p:nvSpPr>
        <p:spPr>
          <a:xfrm>
            <a:off x="5440680" y="3063240"/>
            <a:ext cx="132588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200" cap="none">
                <a:solidFill>
                  <a:srgbClr val="1A1A2E"/>
                </a:solidFill>
              </a:rPr>
              <a:t>Task otras</a:t>
            </a:r>
            <a:endParaRPr lang="en-us" sz="1200" cap="none"/>
          </a:p>
        </p:txBody>
      </p:sp>
      <p:sp>
        <p:nvSpPr>
          <p:cNvPr id="16" name="Shape 14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iisAAAMTAACtLQAAlhQAABAAAAAmAAAACAAAAP//////////"/>
              </a:ext>
            </a:extLst>
          </p:cNvSpPr>
          <p:nvPr/>
        </p:nvSpPr>
        <p:spPr>
          <a:xfrm>
            <a:off x="7077710" y="3090545"/>
            <a:ext cx="347345" cy="255905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7" name="Shape 15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oi4AAAMTAADFMAAAlhQAABAAAAAmAAAACAAAAP//////////"/>
              </a:ext>
            </a:extLst>
          </p:cNvSpPr>
          <p:nvPr/>
        </p:nvSpPr>
        <p:spPr>
          <a:xfrm>
            <a:off x="7580630" y="3090545"/>
            <a:ext cx="347345" cy="255905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8" name="Shape 16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ujEAAAMTAADdMwAAlhQAABAAAAAmAAAACAAAAP//////////"/>
              </a:ext>
            </a:extLst>
          </p:cNvSpPr>
          <p:nvPr/>
        </p:nvSpPr>
        <p:spPr>
          <a:xfrm>
            <a:off x="8083550" y="3090545"/>
            <a:ext cx="347345" cy="255905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9" name="Shape 17"/>
          <p:cNvSpPr>
            <a:extLst>
              <a:ext uri="smNativeData">
                <pr:smNativeData xmlns:pr="smNativeData" xmlns="smNativeData" val="SMDATA_15_uDK0ahMAAAAlAAAAZAAAAA0AAAAAkAAAAEgAAACQAAAASAAAAAAAAAAAAAAAAAAAAAEAAABQAAAAAAAAAAAA4D8AAAAAAADg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0jQAAAMTAAD1NgAAlhQAABAAAAAmAAAACAAAAP//////////"/>
              </a:ext>
            </a:extLst>
          </p:cNvSpPr>
          <p:nvPr/>
        </p:nvSpPr>
        <p:spPr>
          <a:xfrm>
            <a:off x="8586470" y="3090545"/>
            <a:ext cx="347345" cy="255905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T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Scheduler, prioridades y delay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OgFAADAIQAAmBkAABAAAAAmAAAACAAAAP//////////"/>
              </a:ext>
            </a:extLst>
          </p:cNvSpPr>
          <p:nvPr/>
        </p:nvSpPr>
        <p:spPr>
          <a:xfrm>
            <a:off x="457200" y="960120"/>
            <a:ext cx="5029200" cy="3200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Mayor número de prioridad = más importante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El scheduler es expulsivo: si entra una task más urgente, le quita el CPU a la otra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vTaskDelay() hace esperar sin bloquear el resto del sistema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Dentro de una task, preferir vTaskDelay() (o pdMS_TO_TICKS) y no delay()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uDK0ahMAAAAlAAAAZQAAAA0AAAAAkAAAAEgAAACQAAAASAAAAAAAAAAAAAAAAAAAAAEAAABQAAAANSkF3V7Sq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j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4CIAAHgGAABwNQAAKBoAABAAAAAmAAAACAAAAP//////////"/>
              </a:ext>
            </a:extLst>
          </p:cNvSpPr>
          <p:nvPr/>
        </p:nvSpPr>
        <p:spPr>
          <a:xfrm>
            <a:off x="5669280" y="1051560"/>
            <a:ext cx="3017520" cy="3200400"/>
          </a:xfrm>
          <a:prstGeom prst="roundRect">
            <a:avLst>
              <a:gd name="adj" fmla="val 2424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qiMAAAgHAACmNAAA1QgAABAAAAAmAAAACAAAAP//////////"/>
              </a:ext>
            </a:extLst>
          </p:cNvSpPr>
          <p:nvPr/>
        </p:nvSpPr>
        <p:spPr>
          <a:xfrm>
            <a:off x="5797550" y="1143000"/>
            <a:ext cx="276098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Ejemplo</a:t>
            </a:r>
            <a:endParaRPr lang="en-us" sz="14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P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qiMAAPIIAACmNAAAmBkAABAAAAAmAAAACAAAAP//////////"/>
              </a:ext>
            </a:extLst>
          </p:cNvSpPr>
          <p:nvPr/>
        </p:nvSpPr>
        <p:spPr>
          <a:xfrm>
            <a:off x="5797550" y="1454150"/>
            <a:ext cx="276098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Alta prioridad: medir un período con precisión.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Baja prioridad: un cálculo pesado.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 subimos la prioridad del cálculo, la medición pierde tiempos: eso es jitter.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w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Dual-core en ESP32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YtaLoZxopz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Nf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DAGAABIGwAA4BkAABAAAAAmAAAACAAAAP//////////"/>
              </a:ext>
            </a:extLst>
          </p:cNvSpPr>
          <p:nvPr/>
        </p:nvSpPr>
        <p:spPr>
          <a:xfrm>
            <a:off x="457200" y="100584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MAGAAB+GgAAjQgAABAAAAAmAAAACAAAAP//////////"/>
              </a:ext>
            </a:extLst>
          </p:cNvSpPr>
          <p:nvPr/>
        </p:nvSpPr>
        <p:spPr>
          <a:xfrm>
            <a:off x="58547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Core 0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KoIAAB+GgAAUBkAABAAAAAmAAAACAAAAP//////////"/>
              </a:ext>
            </a:extLst>
          </p:cNvSpPr>
          <p:nvPr/>
        </p:nvSpPr>
        <p:spPr>
          <a:xfrm>
            <a:off x="585470" y="1408430"/>
            <a:ext cx="37211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Suele llevar Wi-Fi, Bluetooth y el servidor web.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La red consume CPU y no es muy predecible.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Función típica: xTaskCreatePinnedToCore(..., 0)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QAAAA0AAAAAkAAAAEgAAACQAAAASAAAAAAAAAAAAAAAAAAAAAEAAABQAAAAYtaLoZxopz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D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+BwAADAGAABwNQAA4BkAABAAAAAmAAAACAAAAP//////////"/>
              </a:ext>
            </a:extLst>
          </p:cNvSpPr>
          <p:nvPr/>
        </p:nvSpPr>
        <p:spPr>
          <a:xfrm>
            <a:off x="4709160" y="100584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LL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0AAMAGAACmNAAAjQgAABAAAAAmAAAACAAAAP//////////"/>
              </a:ext>
            </a:extLst>
          </p:cNvSpPr>
          <p:nvPr/>
        </p:nvSpPr>
        <p:spPr>
          <a:xfrm>
            <a:off x="483743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Core 1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Lb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0AAKoIAACmNAAAUBkAABAAAAAmAAAACAAAAP//////////"/>
              </a:ext>
            </a:extLst>
          </p:cNvSpPr>
          <p:nvPr/>
        </p:nvSpPr>
        <p:spPr>
          <a:xfrm>
            <a:off x="4837430" y="1408430"/>
            <a:ext cx="37211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Conviene usarlo para lo que tiene que responder a tiempo: sensores, medición, control.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Así la red no le roba el CPU a lo urgente.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Función típica: xTaskCreatePinnedToCore(..., 1)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Colas y productor-consumidor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OgFAAAwIQAAuBoAABAAAAAmAAAACAAAAP//////////"/>
              </a:ext>
            </a:extLst>
          </p:cNvSpPr>
          <p:nvPr/>
        </p:nvSpPr>
        <p:spPr>
          <a:xfrm>
            <a:off x="457200" y="960120"/>
            <a:ext cx="4937760" cy="3383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Una queue es un buzón: una task deja datos, otra los retira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Productor: genera eventos o mediciones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Consumidor: los procesa a su ritmo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Si la cola está vacía, el consumidor espera sin gastar CPU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Así dos tasks se hablan sin compartir variables a lo loco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uDK0ahMAAAAlAAAAZQAAAA0AAAAAkAAAAEgAAACQAAAASAAAAAAAAAAAAAAAAAAAAAEAAABQAAAANbVsrS8Swj8AAAAAAADwv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AAAAAEAAAAAAAAAAAAAAAAAAAAAAAAAAAAAAAAAAAAAAAAAAAAAAAB/f38AAAAAA8zMzADAwP8Af39/AAAAAAAAAAAAAAAAAAAAAAAAAAAAIQAAABgAAAAUAAAA4CIAAAgHAABwNQAA0AsAABAAAAAmAAAACAAAAP//////////"/>
              </a:ext>
            </a:extLst>
          </p:cNvSpPr>
          <p:nvPr/>
        </p:nvSpPr>
        <p:spPr>
          <a:xfrm>
            <a:off x="5669280" y="1143000"/>
            <a:ext cx="301752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4CIAALUHAABwNQAAMgsAABAAAAAmAAAACAAAAP//////////"/>
              </a:ext>
            </a:extLst>
          </p:cNvSpPr>
          <p:nvPr/>
        </p:nvSpPr>
        <p:spPr>
          <a:xfrm>
            <a:off x="5669280" y="1252855"/>
            <a:ext cx="301752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Productor</a:t>
            </a:r>
            <a:endParaRPr lang="en-us" sz="1300" cap="none"/>
          </a:p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(botón / sensor)</a:t>
            </a:r>
            <a:endParaRPr lang="en-us" sz="13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CoAAKULAACQLQAA4gwAABAAAAAmAAAACAAAAP//////////"/>
              </a:ext>
            </a:extLst>
          </p:cNvSpPr>
          <p:nvPr/>
        </p:nvSpPr>
        <p:spPr>
          <a:xfrm>
            <a:off x="6949440" y="1892935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5_uDK0ahMAAAAlAAAAZQAAAA0AAAAAkAAAAEgAAACQAAAASAAAAAAAAAAAAAAAAAAAAAEAAABQAAAANbVsrS8Swj8AAAAAAADwv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AAAAAEAAAAAAAAAAAAAAAAAAAAAAAAAAAAAAAAAAAAAAAAAAAAAAAB/f38AAAAAA8zMzADAwP8Af39/AAAAAAAAAAAAAAAAAAAAAAAAAAAAIQAAABgAAAAUAAAA4CIAAMgNAABwNQAAkBIAABAAAAAmAAAACAAAAP//////////"/>
              </a:ext>
            </a:extLst>
          </p:cNvSpPr>
          <p:nvPr/>
        </p:nvSpPr>
        <p:spPr>
          <a:xfrm>
            <a:off x="5669280" y="2240280"/>
            <a:ext cx="3017520" cy="77724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4CIAAHUOAABwNQAA8hEAABAAAAAmAAAACAAAAP//////////"/>
              </a:ext>
            </a:extLst>
          </p:cNvSpPr>
          <p:nvPr/>
        </p:nvSpPr>
        <p:spPr>
          <a:xfrm>
            <a:off x="5669280" y="2350135"/>
            <a:ext cx="301752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Queue</a:t>
            </a:r>
            <a:endParaRPr lang="en-us" sz="1300" cap="none"/>
          </a:p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(buzón)</a:t>
            </a:r>
            <a:endParaRPr lang="en-us" sz="13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CoAAGUSAACQLQAAohMAABAAAAAmAAAACAAAAP//////////"/>
              </a:ext>
            </a:extLst>
          </p:cNvSpPr>
          <p:nvPr/>
        </p:nvSpPr>
        <p:spPr>
          <a:xfrm>
            <a:off x="6949440" y="2990215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10" name="Shape 8"/>
          <p:cNvSpPr>
            <a:extLst>
              <a:ext uri="smNativeData">
                <pr:smNativeData xmlns:pr="smNativeData" xmlns="smNativeData" val="SMDATA_15_uDK0ahMAAAAlAAAAZQAAAA0AAAAAkAAAAEgAAACQAAAASAAAAAAAAAAAAAAAAAAAAAEAAABQAAAANbVsrS8Swj8AAAAAAADwv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AAAAAEAAAAAAAAAAAAAAAAAAAAAAAAAAAAAAAAAAAAAAAAAAAAAAAB/f38AAAAAA8zMzADAwP8Af39/AAAAAAAAAAAAAAAAAAAAAAAAAAAAIQAAABgAAAAUAAAA4CIAAIgUAABwNQAAUBkAABAAAAAmAAAACAAAAP//////////"/>
              </a:ext>
            </a:extLst>
          </p:cNvSpPr>
          <p:nvPr/>
        </p:nvSpPr>
        <p:spPr>
          <a:xfrm>
            <a:off x="5669280" y="3337560"/>
            <a:ext cx="3017520" cy="777240"/>
          </a:xfrm>
          <a:prstGeom prst="roundRect">
            <a:avLst>
              <a:gd name="adj" fmla="val 7059"/>
            </a:avLst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1" name="Text 9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4CIAADUVAABwNQAAshgAABAAAAAmAAAACAAAAP//////////"/>
              </a:ext>
            </a:extLst>
          </p:cNvSpPr>
          <p:nvPr/>
        </p:nvSpPr>
        <p:spPr>
          <a:xfrm>
            <a:off x="5669280" y="3447415"/>
            <a:ext cx="301752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Consumidor</a:t>
            </a:r>
            <a:endParaRPr lang="en-us" sz="1300" cap="none"/>
          </a:p>
          <a:p>
            <a:pPr marL="0" indent="0" algn="ctr">
              <a:buNone/>
            </a:pPr>
            <a:r>
              <a:rPr lang="en-us" sz="1300" b="1" cap="none">
                <a:solidFill>
                  <a:srgbClr val="FFFFFF"/>
                </a:solidFill>
              </a:rPr>
              <a:t>(lógica / display)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X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Semáforos, eventos y mutex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j6omiLoPs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7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iAIAAIMFAAAgEwAA2xMAABAAAAAmAAAACAAAAP//////////"/>
              </a:ext>
            </a:extLst>
          </p:cNvSpPr>
          <p:nvPr/>
        </p:nvSpPr>
        <p:spPr>
          <a:xfrm>
            <a:off x="411480" y="895985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UgMAABMGAABWEgAA4AcAABAAAAAmAAAACAAAAP//////////"/>
              </a:ext>
            </a:extLst>
          </p:cNvSpPr>
          <p:nvPr/>
        </p:nvSpPr>
        <p:spPr>
          <a:xfrm>
            <a:off x="539750" y="987425"/>
            <a:ext cx="244094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Semáforo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n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UgMAAP0HAABWEgAASxMAABAAAAAmAAAACAAAAP//////////"/>
              </a:ext>
            </a:extLst>
          </p:cNvSpPr>
          <p:nvPr/>
        </p:nvSpPr>
        <p:spPr>
          <a:xfrm>
            <a:off x="539750" y="1298575"/>
            <a:ext cx="2440940" cy="18376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Analogía: una bandera.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Transporta: nada, solo un aviso.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Para qué: despertar a una task.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Ejemplo: llegó el flanco, seguí.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QAAAA0AAAAAkAAAAEgAAACQAAAASAAAAAAAAAAAAAAAAAAAAAEAAABQAAAAj6omiLoPs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3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zRMAAIMFAABlJAAA2xMAABAAAAAmAAAACAAAAP//////////"/>
              </a:ext>
            </a:extLst>
          </p:cNvSpPr>
          <p:nvPr/>
        </p:nvSpPr>
        <p:spPr>
          <a:xfrm>
            <a:off x="3218815" y="895985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lhQAABMGAACbIwAA4AcAABAAAAAmAAAACAAAAP//////////"/>
              </a:ext>
            </a:extLst>
          </p:cNvSpPr>
          <p:nvPr/>
        </p:nvSpPr>
        <p:spPr>
          <a:xfrm>
            <a:off x="3346450" y="987425"/>
            <a:ext cx="2441575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Evento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b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lhQAAP0HAACbIwAASxMAABAAAAAmAAAACAAAAP//////////"/>
              </a:ext>
            </a:extLst>
          </p:cNvSpPr>
          <p:nvPr/>
        </p:nvSpPr>
        <p:spPr>
          <a:xfrm>
            <a:off x="3346450" y="1298575"/>
            <a:ext cx="2441575" cy="18376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Algo que pasó: flanco, timeout, comando.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No es un objeto aparte en FreeRTOS.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Se avisa con cola (si hay dato) o con semáforo (si solo hay que despertar).</a:t>
            </a:r>
            <a:endParaRPr lang="en-us" sz="13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uDK0ahMAAAAlAAAAZQAAAA0AAAAAkAAAAEgAAACQAAAASAAAAAAAAAAAAAAAAAAAAAEAAABQAAAAj6omiLoPs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LDm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n///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LDmgB/f38AAAAAAMvLywDAwP8Af39/AAAAAAAAAAAAAAAAAAAAAAAAAAAAIQAAABgAAAAUAAAAICUAAIMFAAC4NQAA2xMAABAAAAAmAAAACAAAAP//////////"/>
              </a:ext>
            </a:extLst>
          </p:cNvSpPr>
          <p:nvPr/>
        </p:nvSpPr>
        <p:spPr>
          <a:xfrm>
            <a:off x="6035040" y="895985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E8F6F5"/>
          </a:solidFill>
          <a:ln w="6350" cap="flat" cmpd="sng" algn="ctr">
            <a:solidFill>
              <a:srgbClr val="02C39A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X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6iUAABMGAADuNAAA4AcAABAAAAAmAAAACAAAAP//////////"/>
              </a:ext>
            </a:extLst>
          </p:cNvSpPr>
          <p:nvPr/>
        </p:nvSpPr>
        <p:spPr>
          <a:xfrm>
            <a:off x="6163310" y="987425"/>
            <a:ext cx="244094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C39A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Mutex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6iUAAP0HAADuNAAASxMAABAAAAAmAAAACAAAAP//////////"/>
              </a:ext>
            </a:extLst>
          </p:cNvSpPr>
          <p:nvPr/>
        </p:nvSpPr>
        <p:spPr>
          <a:xfrm>
            <a:off x="6163310" y="1298575"/>
            <a:ext cx="2440940" cy="18376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Analogía: un candado.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Transporta: nada; reserva un recurso.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Para qué: Serial, I2C, una variable compartida.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Dos tasks no lo usan a la vez.</a:t>
            </a:r>
            <a:endParaRPr lang="en-us" sz="13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uDK0ahMAAAAlAAAAZQAAAA0AAAAAkAAAAEgAAACQAAAASAAAAAAAAAAAAAAAAAAAAAEAAABQAAAA6glLPKBsuj8AAAAAAADwvwAAAAAAAOA/AAAAAAAA4D8AAAAAAADgPwAAAAAAAOA/AAAAAAAA4D8AAAAAAADgPwAAAAAAAOA/AAAAAAAA4D8CAAAAjAAAAAEAAAAAAAAA9Pr6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P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9Pr6AAAAAAEAAAAAAAAAAAAAAAAAAAAAAAAAAAAAAAAAAAAAAAAAAAAAAAB/f38AAAAAA8zMzADAwP8Af39/AAAAAAAAAAAAAAAAAAAAAAAAAAAAIQAAABgAAAAUAAAAiAIAALMUAAC4NQAAax0AABAAAAAmAAAACAAAAP//////////"/>
              </a:ext>
            </a:extLst>
          </p:cNvSpPr>
          <p:nvPr/>
        </p:nvSpPr>
        <p:spPr>
          <a:xfrm>
            <a:off x="411480" y="3364865"/>
            <a:ext cx="8321040" cy="1417320"/>
          </a:xfrm>
          <a:prstGeom prst="roundRect">
            <a:avLst>
              <a:gd name="adj" fmla="val 5161"/>
            </a:avLst>
          </a:prstGeom>
          <a:solidFill>
            <a:srgbClr val="F4FAFA"/>
          </a:solidFill>
          <a:ln>
            <a:noFill/>
          </a:ln>
          <a:effectLst/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YAMAACYVAADgNAAA8xYAABAAAAAmAAAACAAAAP//////////"/>
              </a:ext>
            </a:extLst>
          </p:cNvSpPr>
          <p:nvPr/>
        </p:nvSpPr>
        <p:spPr>
          <a:xfrm>
            <a:off x="548640" y="3437890"/>
            <a:ext cx="80467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5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¿Cuál uso?</a:t>
            </a:r>
            <a:endParaRPr lang="en-us" sz="15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YAMAABAXAACwEwAAoxgAABAAAAAmAAAACAAAAP//////////"/>
              </a:ext>
            </a:extLst>
          </p:cNvSpPr>
          <p:nvPr/>
        </p:nvSpPr>
        <p:spPr>
          <a:xfrm>
            <a:off x="548640" y="3749040"/>
            <a:ext cx="2651760" cy="2559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300" b="1" cap="none">
                <a:solidFill>
                  <a:srgbClr val="00A896"/>
                </a:solidFill>
              </a:rPr>
              <a:t>Cola</a:t>
            </a:r>
            <a:endParaRPr lang="en-us" sz="1300" cap="none"/>
          </a:p>
        </p:txBody>
      </p:sp>
      <p:sp>
        <p:nvSpPr>
          <p:cNvPr id="15" name="Text 1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YAMAAKMYAACwEwAAkxwAABAAAAAmAAAACAAAAP//////////"/>
              </a:ext>
            </a:extLst>
          </p:cNvSpPr>
          <p:nvPr/>
        </p:nvSpPr>
        <p:spPr>
          <a:xfrm>
            <a:off x="548640" y="4004945"/>
            <a:ext cx="26517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Hay que pasar un dato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(timestamp, comando, medición).</a:t>
            </a:r>
            <a:endParaRPr lang="en-us" sz="1300" cap="none"/>
          </a:p>
        </p:txBody>
      </p:sp>
      <p:sp>
        <p:nvSpPr>
          <p:cNvPr id="16" name="Text 14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iBQAABAXAADYJAAAoxgAABAAAAAmAAAACAAAAP//////////"/>
              </a:ext>
            </a:extLst>
          </p:cNvSpPr>
          <p:nvPr/>
        </p:nvSpPr>
        <p:spPr>
          <a:xfrm>
            <a:off x="3337560" y="3749040"/>
            <a:ext cx="2651760" cy="2559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300" b="1" cap="none">
                <a:solidFill>
                  <a:srgbClr val="00A896"/>
                </a:solidFill>
              </a:rPr>
              <a:t>Semáforo</a:t>
            </a:r>
            <a:endParaRPr lang="en-us" sz="1300" cap="none"/>
          </a:p>
        </p:txBody>
      </p:sp>
      <p:sp>
        <p:nvSpPr>
          <p:cNvPr id="17" name="Text 1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iBQAAKMYAADYJAAAkxwAABAAAAAmAAAACAAAAP//////////"/>
              </a:ext>
            </a:extLst>
          </p:cNvSpPr>
          <p:nvPr/>
        </p:nvSpPr>
        <p:spPr>
          <a:xfrm>
            <a:off x="3337560" y="4004945"/>
            <a:ext cx="26517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Solo hay que despertar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 otra task: pasó algo.</a:t>
            </a:r>
            <a:endParaRPr lang="en-us" sz="1300" cap="none"/>
          </a:p>
        </p:txBody>
      </p:sp>
      <p:sp>
        <p:nvSpPr>
          <p:cNvPr id="18" name="Text 16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sCUAABAXAAAANgAAoxgAABAAAAAmAAAACAAAAP//////////"/>
              </a:ext>
            </a:extLst>
          </p:cNvSpPr>
          <p:nvPr/>
        </p:nvSpPr>
        <p:spPr>
          <a:xfrm>
            <a:off x="6126480" y="3749040"/>
            <a:ext cx="2651760" cy="2559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300" b="1" cap="none">
                <a:solidFill>
                  <a:srgbClr val="00A896"/>
                </a:solidFill>
              </a:rPr>
              <a:t>Mutex</a:t>
            </a:r>
            <a:endParaRPr lang="en-us" sz="1300" cap="none"/>
          </a:p>
        </p:txBody>
      </p:sp>
      <p:sp>
        <p:nvSpPr>
          <p:cNvPr id="19" name="Text 17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n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sCUAAKMYAAAANgAAkxwAABAAAAAmAAAACAAAAP//////////"/>
              </a:ext>
            </a:extLst>
          </p:cNvSpPr>
          <p:nvPr/>
        </p:nvSpPr>
        <p:spPr>
          <a:xfrm>
            <a:off x="6126480" y="4004945"/>
            <a:ext cx="265176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Dos tasks quieren el mismo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recurso (Serial, bus I2C).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P05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ISR: capturar y encolar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OgFAAAwIQAAmBkAABAAAAAmAAAACAAAAP//////////"/>
              </a:ext>
            </a:extLst>
          </p:cNvSpPr>
          <p:nvPr/>
        </p:nvSpPr>
        <p:spPr>
          <a:xfrm>
            <a:off x="457200" y="960120"/>
            <a:ext cx="4937760" cy="3200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Una ISR (rutina de interrupción) debe ser muy corta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Regla: no calcular, no imprimir, no esperar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Sí: guardar un timestamp o un flanco y mandarlo a una queue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Una task se despierta, lee la cola y hace el trabajo pesado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uDK0ahMAAAAlAAAAZQAAAA0AAAAAkAAAAEgAAACQAAAASAAAAAAAAAAAAAAAAAAAAAEAAABQAAAA3CkdrP9zq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mCIAAHgGAABwNQAAKBoAABAAAAAmAAAACAAAAP//////////"/>
              </a:ext>
            </a:extLst>
          </p:cNvSpPr>
          <p:nvPr/>
        </p:nvSpPr>
        <p:spPr>
          <a:xfrm>
            <a:off x="5623560" y="1051560"/>
            <a:ext cx="3063240" cy="3200400"/>
          </a:xfrm>
          <a:prstGeom prst="roundRect">
            <a:avLst>
              <a:gd name="adj" fmla="val 2388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YiMAAAgHAACmNAAA1QgAABAAAAAmAAAACAAAAP//////////"/>
              </a:ext>
            </a:extLst>
          </p:cNvSpPr>
          <p:nvPr/>
        </p:nvSpPr>
        <p:spPr>
          <a:xfrm>
            <a:off x="5751830" y="1143000"/>
            <a:ext cx="28067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Cadena corta</a:t>
            </a:r>
            <a:endParaRPr lang="en-us" sz="14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YiMAAPIIAACmNAAAmBkAABAAAAAmAAAACAAAAP//////////"/>
              </a:ext>
            </a:extLst>
          </p:cNvSpPr>
          <p:nvPr/>
        </p:nvSpPr>
        <p:spPr>
          <a:xfrm>
            <a:off x="5751830" y="1454150"/>
            <a:ext cx="28067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Flanco en un pin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-&gt; ISR captura el tiempo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-&gt; xQueueSendFromISR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-&gt; TaskMeasure calcula período y jitter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Memoria: stack, heap y high water mark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DAGAAAgEwAA4BkAABAAAAAmAAAACAAAAP//////////"/>
              </a:ext>
            </a:extLst>
          </p:cNvSpPr>
          <p:nvPr/>
        </p:nvSpPr>
        <p:spPr>
          <a:xfrm>
            <a:off x="45720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MAGAABWEgAAjQgAABAAAAAmAAAACAAAAP//////////"/>
              </a:ext>
            </a:extLst>
          </p:cNvSpPr>
          <p:nvPr/>
        </p:nvSpPr>
        <p:spPr>
          <a:xfrm>
            <a:off x="58547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Stack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KoIAABWEgAAUBkAABAAAAAmAAAACAAAAP//////////"/>
              </a:ext>
            </a:extLst>
          </p:cNvSpPr>
          <p:nvPr/>
        </p:nvSpPr>
        <p:spPr>
          <a:xfrm>
            <a:off x="58547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Memoria propia de cada task.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Ahí van variables locales y llamadas a funciones.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 se acaba: el sistema se cuelga o se resetea.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PX26P8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+BMAADAGAABIJAAA4BkAABAAAAAmAAAACAAAAP//////////"/>
              </a:ext>
            </a:extLst>
          </p:cNvSpPr>
          <p:nvPr/>
        </p:nvSpPr>
        <p:spPr>
          <a:xfrm>
            <a:off x="324612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QAAMAGAAB+IwAAjQgAABAAAAAmAAAACAAAAP//////////"/>
              </a:ext>
            </a:extLst>
          </p:cNvSpPr>
          <p:nvPr/>
        </p:nvSpPr>
        <p:spPr>
          <a:xfrm>
            <a:off x="337439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Heap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whQAAKoIAAB+IwAAUBkAABAAAAAmAAAACAAAAP//////////"/>
              </a:ext>
            </a:extLst>
          </p:cNvSpPr>
          <p:nvPr/>
        </p:nvSpPr>
        <p:spPr>
          <a:xfrm>
            <a:off x="337439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Memoria dinámica compartida.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FreeRTOS y Arduino piden de acá (colas, strings, Wi-Fi).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xPortGetFreeHeapSize() dice cuánto queda.</a:t>
            </a:r>
            <a:endParaRPr lang="en-us" sz="13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uDK0ahMAAAAlAAAAZQAAAA0AAAAAkAAAAEgAAACQAAAASAAAAAAAAAAAAAAAAAAAAAEAAABQAAAA/1vJjo1Ar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LDm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LDmgB/f38AAAAAAMvLywDAwP8Af39/AAAAAAAAAAAAAAAAAAAAAAAAAAAAIQAAABgAAAAUAAAAICUAADAGAABwNQAA4BkAABAAAAAmAAAACAAAAP//////////"/>
              </a:ext>
            </a:extLst>
          </p:cNvSpPr>
          <p:nvPr/>
        </p:nvSpPr>
        <p:spPr>
          <a:xfrm>
            <a:off x="6035040" y="10058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8F6F5"/>
          </a:solidFill>
          <a:ln w="6350" cap="flat" cmpd="sng" algn="ctr">
            <a:solidFill>
              <a:srgbClr val="02C39A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6iUAAMAGAACmNAAAjQgAABAAAAAmAAAACAAAAP//////////"/>
              </a:ext>
            </a:extLst>
          </p:cNvSpPr>
          <p:nvPr/>
        </p:nvSpPr>
        <p:spPr>
          <a:xfrm>
            <a:off x="6163310" y="1097280"/>
            <a:ext cx="239522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C39A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High water mark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X26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6iUAAKoIAACmNAAAUBkAABAAAAAmAAAACAAAAP//////////"/>
              </a:ext>
            </a:extLst>
          </p:cNvSpPr>
          <p:nvPr/>
        </p:nvSpPr>
        <p:spPr>
          <a:xfrm>
            <a:off x="6163310" y="1408430"/>
            <a:ext cx="239522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Lo más cerca que estuvo una task de quedarse sin stack.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Es el mínimo histórico de pila libre.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Sirve para dimensionar el stack.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Estados y control de tasks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OgFAABoEwAAeA8AABAAAAAmAAAACAAAAP//////////"/>
              </a:ext>
            </a:extLst>
          </p:cNvSpPr>
          <p:nvPr/>
        </p:nvSpPr>
        <p:spPr>
          <a:xfrm>
            <a:off x="457200" y="96012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aoAP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HgGAACeEgAARQgAABAAAAAmAAAACAAAAP//////////"/>
              </a:ext>
            </a:extLst>
          </p:cNvSpPr>
          <p:nvPr/>
        </p:nvSpPr>
        <p:spPr>
          <a:xfrm>
            <a:off x="585470" y="1051560"/>
            <a:ext cx="244094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Running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MAAq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GIIAACeEgAA6A4AABAAAAAmAAAACAAAAP//////////"/>
              </a:ext>
            </a:extLst>
          </p:cNvSpPr>
          <p:nvPr/>
        </p:nvSpPr>
        <p:spPr>
          <a:xfrm>
            <a:off x="585470" y="1362710"/>
            <a:ext cx="244094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Está usando el CPU ahora.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s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ColgB/f38AAAAAAMvLywDAwP8Af39/AAAAAAAAAAAAAAAAAAAAAAAAAAAAIQAAABgAAAAUAAAAQBQAAOgFAADYJAAAeA8AABAAAAAmAAAACAAAAP//////////"/>
              </a:ext>
            </a:extLst>
          </p:cNvSpPr>
          <p:nvPr/>
        </p:nvSpPr>
        <p:spPr>
          <a:xfrm>
            <a:off x="3291840" y="96012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hUAAHgGAAAOJAAARQgAABAAAAAmAAAACAAAAP//////////"/>
              </a:ext>
            </a:extLst>
          </p:cNvSpPr>
          <p:nvPr/>
        </p:nvSpPr>
        <p:spPr>
          <a:xfrm>
            <a:off x="3420110" y="1051560"/>
            <a:ext cx="244094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Ready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hUAAGIIAAAOJAAA6A4AABAAAAAmAAAACAAAAP//////////"/>
              </a:ext>
            </a:extLst>
          </p:cNvSpPr>
          <p:nvPr/>
        </p:nvSpPr>
        <p:spPr>
          <a:xfrm>
            <a:off x="3420110" y="1362710"/>
            <a:ext cx="244094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Quiere correr; espera su turno.</a:t>
            </a:r>
            <a:endParaRPr lang="en-us" sz="13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uDK0ahMAAAAlAAAAZQAAAA0AAAAAkAAAAEgAAACQAAAASAAAAAAAAAAAAAAAAAAAAAEAAABQAAAA8UbmkT8YuD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LDm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LDmgB/f38AAAAAAMvLywDAwP8Af39/AAAAAAAAAAAAAAAAAAAAAAAAAAAAIQAAABgAAAAUAAAAsCUAAOgFAABINgAAeA8AABAAAAAmAAAACAAAAP//////////"/>
              </a:ext>
            </a:extLst>
          </p:cNvSpPr>
          <p:nvPr/>
        </p:nvSpPr>
        <p:spPr>
          <a:xfrm>
            <a:off x="6126480" y="96012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E8F6F5"/>
          </a:solidFill>
          <a:ln w="6350" cap="flat" cmpd="sng" algn="ctr">
            <a:solidFill>
              <a:srgbClr val="02C39A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iYAAHgGAAB+NQAARQgAABAAAAAmAAAACAAAAP//////////"/>
              </a:ext>
            </a:extLst>
          </p:cNvSpPr>
          <p:nvPr/>
        </p:nvSpPr>
        <p:spPr>
          <a:xfrm>
            <a:off x="6254750" y="1051560"/>
            <a:ext cx="244094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C39A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Blocked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eiYAAGIIAAB+NQAA6A4AABAAAAAmAAAACAAAAP//////////"/>
              </a:ext>
            </a:extLst>
          </p:cNvSpPr>
          <p:nvPr/>
        </p:nvSpPr>
        <p:spPr>
          <a:xfrm>
            <a:off x="6254750" y="1362710"/>
            <a:ext cx="2440940" cy="10604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Espera un delay, una cola o un evento.</a:t>
            </a:r>
            <a:endParaRPr lang="en-us" sz="13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uDK0ahMAAAAlAAAAZQAAAA0AAAAAkAAAAEgAAACQAAAASAAAAAAAAAAAAAAAAAAAAAEAAABQAAAAbkxPWOIBtT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AAAAAEAAAAAAAAAAAAAAAAAAAAAAAAAAAAAAAAAAAAAAAAAAAKAkAB/f38AAAAAAMvLywDAwP8Af39/AAAAAAAAAAAAAAAAAAAAAAAAAAAAIQAAABgAAAAUAAAA0AIAAJgQAABwNQAAkBsAABAAAAAmAAAACAAAAP//////////"/>
              </a:ext>
            </a:extLst>
          </p:cNvSpPr>
          <p:nvPr/>
        </p:nvSpPr>
        <p:spPr>
          <a:xfrm>
            <a:off x="457200" y="269748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CgRAACmNAAA9RIAABAAAAAmAAAACAAAAP//////////"/>
              </a:ext>
            </a:extLst>
          </p:cNvSpPr>
          <p:nvPr/>
        </p:nvSpPr>
        <p:spPr>
          <a:xfrm>
            <a:off x="585470" y="2788920"/>
            <a:ext cx="797306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Control desde otra task (Proyecto 4)</a:t>
            </a:r>
            <a:endParaRPr lang="en-us" sz="14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mgMAABITAACmNAAAABsAABAAAAAmAAAACAAAAP//////////"/>
              </a:ext>
            </a:extLst>
          </p:cNvSpPr>
          <p:nvPr/>
        </p:nvSpPr>
        <p:spPr>
          <a:xfrm>
            <a:off x="585470" y="3100070"/>
            <a:ext cx="7973060" cy="1289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Suspender / reanudar: pause sensor  ·  resume sensor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Cambiar prioridad: priority logger 5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Consultar: tasks  ·  status</a:t>
            </a: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Una task Watchdog puede vigilar que las demás sigan vivas.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Máquina de estados y antirrebote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YtaLoZxopz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KAkA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AAAAB4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KAkAB/f38AAAAAAMvLywDAwP8Af39/AAAAAAAAAAAAAAAAAAAAAAAAAAAAIQAAABgAAAAUAAAA0AIAADAGAABIGwAA4BkAABAAAAAmAAAACAAAAP//////////"/>
              </a:ext>
            </a:extLst>
          </p:cNvSpPr>
          <p:nvPr/>
        </p:nvSpPr>
        <p:spPr>
          <a:xfrm>
            <a:off x="457200" y="100584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8F6F5"/>
          </a:solidFill>
          <a:ln w="6350" cap="flat" cmpd="sng" algn="ctr">
            <a:solidFill>
              <a:srgbClr val="028090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MAGAAB+GgAAjQgAABAAAAAmAAAACAAAAP//////////"/>
              </a:ext>
            </a:extLst>
          </p:cNvSpPr>
          <p:nvPr/>
        </p:nvSpPr>
        <p:spPr>
          <a:xfrm>
            <a:off x="58547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Máquina de estados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gMAAKoIAAB+GgAAUBkAABAAAAAmAAAACAAAAP//////////"/>
              </a:ext>
            </a:extLst>
          </p:cNvSpPr>
          <p:nvPr/>
        </p:nvSpPr>
        <p:spPr>
          <a:xfrm>
            <a:off x="585470" y="1408430"/>
            <a:ext cx="37211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El semáforo no es un if suelto: es un conjunto de estados (rojo, verde, peatón pedido...).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 evento dispara el cambio de estado.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Eso mantiene la lógica clara cuando hay varios tiempos y botones.</a:t>
            </a:r>
            <a:endParaRPr lang="en-us" sz="13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QAAAA0AAAAAkAAAAEgAAACQAAAASAAAAAAAAAAAAAAAAAAAAAEAAABQAAAAYtaLoZxopz8AAAAAAADwvwAAAAAAAOA/AAAAAAAA4D8AAAAAAADgPwAAAAAAAOA/AAAAAAAA4D8AAAAAAADgPwAAAAAAAOA/AAAAAAAA4D8CAAAAjAAAAAEAAAAAAAAA6Pb1AP///wgAAAAAAAAAAAAAAAAAAAAAAAAAAAAAAAAAAAAAeAAAAAEAAABAAAAAAAAAAAAAAABaAAAAAAAAAAAAAAAAAAAAAAAAAAAAAAAAAAAAAAAAAAAAAAAAAAAAAAAAAAAAAAAAAAAAAAAAAAAAAAAAAAAAAAAAAAAAAAAAAAAAFAAAADwAAAABAAAAAAAAAAColgAKAAAAAQAAACMAAAAjAAAAIwAAAB4AAAAAAAAAZAAAAGQAAAAAAAAAZAAAAGQAAAAVAAAAYAAAAAAAAAAAAAAADwAAACADAAAAAAAAAAAAAAEAAACgMgAAVgcAAKr4//8BAAAAf39/AAEAAABkAAAAAAAAABQAAABAHwAAAAAAACYAAAAAAAAAwOD//wAAAAAmAAAAZAAAABYAAABMAAAAAQAAAAAAAAAGAAAAAAAAAAEAAAAAAAAAWAAAABwAAAAcAAAAZAAAAGQAAAAAAAAAy8vLAFgAAAAcAAAAHAAAAGQAAABkAAAAAAAAABcAAAAUAAAAAAAAAAAAAAD/fwAA/38AAAAAAAAJAAAABAAAAF8AYAAeAAAAaAAAAAAAAAAAAAAAAAAAAAAAAAAAAAAAECcAABAnAAAAAAAAAAAAAAAAAAAAAAAAAAAAAAAAAAAAAAAAAAAAAFAAAAAAAAAAwMD/AAAAAAAAAAAAAAAAAAAAAABkAAAAAAAAAH9/fwAKAAAAIgAAABgAAAAAAAAAAAAAAAAAAAAAAAAAAAAAAAAAAAAkAAAAJAAAAAAAAAAHAAAAAAAAAAAAAAAAAAAAAAAAAAAAAAAAAAAAf39/ACUAAABYAAAAAAAAAAAAAAAAAAAAAAAAAAAAAAAAAAAAAAAAAAAAAAAAAAAAAAAAAAAAAAA/AAAAAAAAAKCGAQAAAAAAAAAAAAAAAAAMAAAAAQAAAAAAAAAAAAAAAAAAAB8AAABUAAAA6Pb1AP///wEAAAAAAAAAAAAAAAAAAAAAAAAAAAAAAAAAAAAAAAAAAAColgB/f38AAAAAAMvLywDAwP8Af39/AAAAAAAAAAAAAAAAAAAAAAAAAAAAIQAAABgAAAAUAAAA+BwAADAGAABwNQAA4BkAABAAAAAmAAAACAAAAP//////////"/>
              </a:ext>
            </a:extLst>
          </p:cNvSpPr>
          <p:nvPr/>
        </p:nvSpPr>
        <p:spPr>
          <a:xfrm>
            <a:off x="4709160" y="1005840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8F6F5"/>
          </a:solidFill>
          <a:ln w="6350" cap="flat" cmpd="sng" algn="ctr">
            <a:solidFill>
              <a:srgbClr val="00A896"/>
            </a:solidFill>
            <a:prstDash val="solid"/>
            <a:headEnd type="none"/>
            <a:tailEnd type="none"/>
          </a:ln>
          <a:effectLst>
            <a:outerShdw blurRad="50800" dist="25145" dir="2700000" algn="bl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h0AAMAGAACmNAAAjQgAABAAAAAmAAAACAAAAP//////////"/>
              </a:ext>
            </a:extLst>
          </p:cNvSpPr>
          <p:nvPr/>
        </p:nvSpPr>
        <p:spPr>
          <a:xfrm>
            <a:off x="4837430" y="1097280"/>
            <a:ext cx="3721100" cy="29273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b="1" cap="none">
                <a:solidFill>
                  <a:srgbClr val="00A896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Antirrebote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wh0AAKoIAACmNAAAUBkAABAAAAAmAAAACAAAAP//////////"/>
              </a:ext>
            </a:extLst>
          </p:cNvSpPr>
          <p:nvPr/>
        </p:nvSpPr>
        <p:spPr>
          <a:xfrm>
            <a:off x="4837430" y="1408430"/>
            <a:ext cx="3721100" cy="27063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Un botón mecánico rebota: varios flancos por una sola pulsación.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Hay que filtrar (tiempo o muestras) antes de tratarlo como evento.</a:t>
            </a:r>
            <a:endParaRPr lang="en-us" sz="1300" cap="none"/>
          </a:p>
          <a:p>
            <a:pPr marL="0" indent="0">
              <a:buNone/>
            </a:pPr>
            <a:endParaRPr lang="en-us" sz="1300" cap="none"/>
          </a:p>
          <a:p>
            <a:pPr marL="0" indent="0">
              <a:buNone/>
            </a:pPr>
            <a:r>
              <a:rPr lang="en-us" sz="1300" cap="none">
                <a:solidFill>
                  <a:srgbClr val="1A1A2E"/>
                </a:solidFill>
              </a:rPr>
              <a:t>Si no, el peatón pide el semáforo varias veces.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FreeRTOS en Arduino (ESP32)</a:t>
            </a:r>
            <a:endParaRPr lang="en-us" sz="32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OgFAACgIAAAKBoAABAAAAAmAAAACAAAAP//////////"/>
              </a:ext>
            </a:extLst>
          </p:cNvSpPr>
          <p:nvPr/>
        </p:nvSpPr>
        <p:spPr>
          <a:xfrm>
            <a:off x="457200" y="960120"/>
            <a:ext cx="4846320" cy="32918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El core de ESP32 en Arduino IDE ya incluye FreeRTOS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En setup() se crean las tasks (xTaskCreate o PinnedToCore)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loop() puede quedar vacío: el scheduler toma el control</a:t>
            </a:r>
            <a:endParaRPr lang="en-us" sz="1500" cap="none"/>
          </a:p>
          <a:p>
            <a:pPr marL="342900" indent="-342900">
              <a:spcAft>
                <a:spcPts val="800"/>
              </a:spcAft>
              <a:buSzTx/>
              <a:buChar char="•"/>
            </a:pPr>
            <a:r>
              <a:rPr lang="en-us" sz="1500" cap="none">
                <a:solidFill>
                  <a:srgbClr val="1A1A2E"/>
                </a:solidFill>
              </a:rPr>
              <a:t>Cada task corre su propio for(;;) con vTaskDelay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uDK0ahMAAAAlAAAAZQAAAA0AAAAAkAAAAEgAAACQAAAASAAAAAAAAAAAAAAAAAAAAAEAAABQAAAAXW3F/rJ7yj8AAAAAAADwv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wAH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CCIAAHgGAAAoNQAAuwkAABAAAAAmAAAACAAAAP//////////"/>
              </a:ext>
            </a:extLst>
          </p:cNvSpPr>
          <p:nvPr/>
        </p:nvSpPr>
        <p:spPr>
          <a:xfrm>
            <a:off x="5532120" y="1051560"/>
            <a:ext cx="3108960" cy="530225"/>
          </a:xfrm>
          <a:prstGeom prst="roundRect">
            <a:avLst>
              <a:gd name="adj" fmla="val 10345"/>
            </a:avLst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CIAAN0GAAAoNQAAVgkAABAAAAAmAAAACAAAAP//////////"/>
              </a:ext>
            </a:extLst>
          </p:cNvSpPr>
          <p:nvPr/>
        </p:nvSpPr>
        <p:spPr>
          <a:xfrm>
            <a:off x="5532120" y="1115695"/>
            <a:ext cx="310896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</a:rPr>
              <a:t>setup()</a:t>
            </a:r>
            <a:endParaRPr lang="en-us" sz="1500" cap="none"/>
          </a:p>
        </p:txBody>
      </p:sp>
      <p:sp>
        <p:nvSpPr>
          <p:cNvPr id="6" name="Text 4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B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CoAAJAJAAAALQAAzQoAABAAAAAmAAAACAAAAP//////////"/>
              </a:ext>
            </a:extLst>
          </p:cNvSpPr>
          <p:nvPr/>
        </p:nvSpPr>
        <p:spPr>
          <a:xfrm>
            <a:off x="6858000" y="1554480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5_uDK0ahMAAAAlAAAAZQAAAA0AAAAAkAAAAEgAAACQAAAASAAAAAAAAAAAAAAAAAAAAAEAAABQAAAAXW3F/rJ7yj8AAAAAAADwv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P///wEAAAAAAAAAAAAAAAAAAAAAAAAAAAAAAAAAAAAAAAAAAAAAAAB/f38A5+bmA8zMzADAwP8Af39/AAAAAAAAAAAAAAAAAAAAAAAAAAAAIQAAABgAAAAUAAAACCIAAEALAAAoNQAAgw4AABAAAAAmAAAACAAAAP//////////"/>
              </a:ext>
            </a:extLst>
          </p:cNvSpPr>
          <p:nvPr/>
        </p:nvSpPr>
        <p:spPr>
          <a:xfrm>
            <a:off x="5532120" y="1828800"/>
            <a:ext cx="3108960" cy="530225"/>
          </a:xfrm>
          <a:prstGeom prst="roundRect">
            <a:avLst>
              <a:gd name="adj" fmla="val 10345"/>
            </a:avLst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CIAAKULAAAoNQAAHg4AABAAAAAmAAAACAAAAP//////////"/>
              </a:ext>
            </a:extLst>
          </p:cNvSpPr>
          <p:nvPr/>
        </p:nvSpPr>
        <p:spPr>
          <a:xfrm>
            <a:off x="5532120" y="1892935"/>
            <a:ext cx="310896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</a:rPr>
              <a:t>xTaskCreate()</a:t>
            </a:r>
            <a:endParaRPr lang="en-us" sz="15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CoAAFgOAAAALQAAlQ8AABAAAAAmAAAACAAAAP//////////"/>
              </a:ext>
            </a:extLst>
          </p:cNvSpPr>
          <p:nvPr/>
        </p:nvSpPr>
        <p:spPr>
          <a:xfrm>
            <a:off x="6858000" y="2331720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10" name="Shape 8"/>
          <p:cNvSpPr>
            <a:extLst>
              <a:ext uri="smNativeData">
                <pr:smNativeData xmlns:pr="smNativeData" xmlns="smNativeData" val="SMDATA_15_uDK0ahMAAAAlAAAAZQAAAA0AAAAAkAAAAEgAAACQAAAASAAAAAAAAAAAAAAAAAAAAAEAAABQAAAAXW3F/rJ7yj8AAAAAAADwv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CCIAAAgQAAAoNQAASxMAABAAAAAmAAAACAAAAP//////////"/>
              </a:ext>
            </a:extLst>
          </p:cNvSpPr>
          <p:nvPr/>
        </p:nvSpPr>
        <p:spPr>
          <a:xfrm>
            <a:off x="5532120" y="2606040"/>
            <a:ext cx="3108960" cy="530225"/>
          </a:xfrm>
          <a:prstGeom prst="roundRect">
            <a:avLst>
              <a:gd name="adj" fmla="val 10345"/>
            </a:avLst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1" name="Text 9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CIAAG0QAAAoNQAA5hIAABAAAAAmAAAACAAAAP//////////"/>
              </a:ext>
            </a:extLst>
          </p:cNvSpPr>
          <p:nvPr/>
        </p:nvSpPr>
        <p:spPr>
          <a:xfrm>
            <a:off x="5532120" y="2670175"/>
            <a:ext cx="310896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</a:rPr>
              <a:t>Scheduler</a:t>
            </a:r>
            <a:endParaRPr lang="en-us" sz="1500" cap="none"/>
          </a:p>
        </p:txBody>
      </p:sp>
      <p:sp>
        <p:nvSpPr>
          <p:cNvPr id="12" name="Text 1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MCoAACATAAAALQAAXRQAABAAAAAmAAAACAAAAP//////////"/>
              </a:ext>
            </a:extLst>
          </p:cNvSpPr>
          <p:nvPr/>
        </p:nvSpPr>
        <p:spPr>
          <a:xfrm>
            <a:off x="6858000" y="3108960"/>
            <a:ext cx="457200" cy="2012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cap="none">
                <a:solidFill>
                  <a:srgbClr val="028090"/>
                </a:solidFill>
              </a:rPr>
              <a:t>v</a:t>
            </a:r>
            <a:endParaRPr lang="en-us" sz="1400" cap="none"/>
          </a:p>
        </p:txBody>
      </p:sp>
      <p:sp>
        <p:nvSpPr>
          <p:cNvPr id="13" name="Shape 11"/>
          <p:cNvSpPr>
            <a:extLst>
              <a:ext uri="smNativeData">
                <pr:smNativeData xmlns:pr="smNativeData" xmlns="smNativeData" val="SMDATA_15_uDK0ahMAAAAlAAAAZQAAAA0AAAAAkAAAAEgAAACQAAAASAAAAAAAAAAAAAAAAAAAAAEAAABQAAAAXW3F/rJ7yj8AAAAAAADwv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CCIAANAUAAAoNQAAExgAABAAAAAmAAAACAAAAP//////////"/>
              </a:ext>
            </a:extLst>
          </p:cNvSpPr>
          <p:nvPr/>
        </p:nvSpPr>
        <p:spPr>
          <a:xfrm>
            <a:off x="5532120" y="3383280"/>
            <a:ext cx="3108960" cy="530225"/>
          </a:xfrm>
          <a:prstGeom prst="roundRect">
            <a:avLst>
              <a:gd name="adj" fmla="val 10345"/>
            </a:avLst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14" name="Text 1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CIAADUVAAAoNQAArhcAABAAAAAmAAAACAAAAP//////////"/>
              </a:ext>
            </a:extLst>
          </p:cNvSpPr>
          <p:nvPr/>
        </p:nvSpPr>
        <p:spPr>
          <a:xfrm>
            <a:off x="5532120" y="3447415"/>
            <a:ext cx="3108960" cy="4019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500" b="1" cap="none">
                <a:solidFill>
                  <a:srgbClr val="FFFFFF"/>
                </a:solidFill>
              </a:rPr>
              <a:t>Tasks activas</a:t>
            </a:r>
            <a:endParaRPr lang="en-us" sz="15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0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Ejemplo: dos LEDs (Proyecto 1)</a:t>
            </a:r>
            <a:endParaRPr lang="en-us" sz="30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huY6jbRUnj8AAAAAAADwvwAAAAAAAOA/AAAAAAAA4D8AAAAAAADgPwAAAAAAAOA/AAAAAAAA4D8AAAAAAADgPwAAAAAAAOA/AAAAAAAA4D8CAAAAjAAAAAEAAAAAAAAAHh4u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Hh4uAP///wEAAAAAAAAAAAAAAAAAAAAAAAAAAAAAAAAAAAAAAAAAAAAAAAB/f38A5+bmA8zMzADAwP8Af39/AAAAAAAAAAAAAAAAAAAAAAAAAAAAIQAAABgAAAAUAAAAQAIAAKAFAADYGwAAaBwAABAAAAAmAAAACAAAAP//////////"/>
              </a:ext>
            </a:extLst>
          </p:cNvSpPr>
          <p:nvPr/>
        </p:nvSpPr>
        <p:spPr>
          <a:xfrm>
            <a:off x="365760" y="914400"/>
            <a:ext cx="4160520" cy="3703320"/>
          </a:xfrm>
          <a:prstGeom prst="roundRect">
            <a:avLst>
              <a:gd name="adj" fmla="val 1481"/>
            </a:avLst>
          </a:prstGeom>
          <a:solidFill>
            <a:srgbClr val="1E1E2E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JgMAADAGAADyGgAA2BsAABAAAAAmAAAACAAAAP//////////"/>
              </a:ext>
            </a:extLst>
          </p:cNvSpPr>
          <p:nvPr/>
        </p:nvSpPr>
        <p:spPr>
          <a:xfrm>
            <a:off x="511810" y="1005840"/>
            <a:ext cx="3868420" cy="35204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void taskLedRapido(void *param) {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pinMode(2, OUTPUT);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for (;;) {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digitalWrite(2, !digitalRead(2));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vTaskDelay(pdMS_TO_TICKS(500));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}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}</a:t>
            </a:r>
            <a:endParaRPr lang="en-us" sz="1100" cap="none"/>
          </a:p>
          <a:p>
            <a:pPr marL="0" indent="0">
              <a:buNone/>
            </a:pP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void taskLedLento(void *param) {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pinMode(4, OUTPUT);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for (;;) {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digitalWrite(4, !digitalRead(4));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vTaskDelay(pdMS_TO_TICKS(1000));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}</a:t>
            </a:r>
            <a:endParaRPr lang="en-us" sz="1100" cap="none"/>
          </a:p>
          <a:p>
            <a:pPr marL="0" indent="0">
              <a:buNone/>
            </a:pPr>
            <a:r>
              <a:rPr lang="en-us" sz="11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}</a:t>
            </a:r>
            <a:endParaRPr lang="en-us" sz="1100" cap="none"/>
          </a:p>
        </p:txBody>
      </p:sp>
      <p:sp>
        <p:nvSpPr>
          <p:cNvPr id="5" name="Shape 3"/>
          <p:cNvSpPr>
            <a:extLst>
              <a:ext uri="smNativeData">
                <pr:smNativeData xmlns:pr="smNativeData" xmlns="smNativeData" val="SMDATA_15_uDK0ahMAAAAlAAAAZQAAAA0AAAAAkAAAAEgAAACQAAAASAAAAAAAAAAAAAAAAAAAAAEAAABQAAAAhuY6jbRUnj8AAAAAAADwvwAAAAAAAOA/AAAAAAAA4D8AAAAAAADgPwAAAAAAAOA/AAAAAAAA4D8AAAAAAADgPwAAAAAAAOA/AAAAAAAA4D8CAAAAjAAAAAEAAAAAAAAAHh4u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Hh4uAP///wEAAAAAAAAAAAAAAAAAAAAAAAAAAAAAAAAAAAAAAAAAAAAAAAB/f38A5+bmA8zMzADAwP8Af39/AAAAAAAAAAAAAAAAAAAAAAAAAAAAIQAAABgAAAAUAAAAsBwAAKAFAAAANgAAaBwAABAAAAAmAAAACAAAAP//////////"/>
              </a:ext>
            </a:extLst>
          </p:cNvSpPr>
          <p:nvPr/>
        </p:nvSpPr>
        <p:spPr>
          <a:xfrm>
            <a:off x="4663440" y="914400"/>
            <a:ext cx="4114800" cy="3703320"/>
          </a:xfrm>
          <a:prstGeom prst="roundRect">
            <a:avLst>
              <a:gd name="adj" fmla="val 1481"/>
            </a:avLst>
          </a:prstGeom>
          <a:solidFill>
            <a:srgbClr val="1E1E2E"/>
          </a:solidFill>
          <a:ln>
            <a:noFill/>
          </a:ln>
          <a:effectLst/>
        </p:spPr>
      </p:sp>
      <p:sp>
        <p:nvSpPr>
          <p:cNvPr id="6" name="Text 4"/>
          <p:cNvSpPr>
            <a:extLst>
              <a:ext uri="smNativeData">
                <pr:smNativeData xmlns:pr="smNativeData" xmlns="smNativeData" val="SMDATA_15_uDK0ahMAAAAlAAAAZAAAAA0AAAAAAAAAAAAAAAAAAAAAAAAAAAAAAAAA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lh0AADAGAAAaNQAA2BsAABAAAAAmAAAACAAAAP//////////"/>
              </a:ext>
            </a:extLst>
          </p:cNvSpPr>
          <p:nvPr/>
        </p:nvSpPr>
        <p:spPr>
          <a:xfrm>
            <a:off x="4809490" y="1005840"/>
            <a:ext cx="3822700" cy="35204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t"/>
          <a:lstStyle/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void setup() {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xTaskCreate(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taskLedRapido, "LedRapido",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2048, NULL, 1, NULL);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xTaskCreate(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taskLedLento, "LedLento",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  2048, NULL, 1, NULL);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}</a:t>
            </a:r>
            <a:endParaRPr lang="en-us" sz="1200" cap="none"/>
          </a:p>
          <a:p>
            <a:pPr marL="0" indent="0">
              <a:buNone/>
            </a:pP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void loop() {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  // vacío: corren las tasks</a:t>
            </a:r>
            <a:endParaRPr lang="en-us" sz="1200" cap="none"/>
          </a:p>
          <a:p>
            <a:pPr marL="0" indent="0">
              <a:buNone/>
            </a:pPr>
            <a:r>
              <a:rPr lang="en-us" sz="1200" cap="none">
                <a:solidFill>
                  <a:srgbClr val="E0E0E0"/>
                </a:solidFill>
                <a:latin typeface="Courier New" pitchFamily="3" charset="0"/>
                <a:ea typeface="Courier New" pitchFamily="3" charset="0"/>
                <a:cs typeface="Courier New" pitchFamily="3" charset="0"/>
              </a:rPr>
              <a:t>}</a:t>
            </a:r>
            <a:endParaRPr lang="en-us" sz="1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JMBAABwNQAAEAUAABAAAAAmAAAACAAAAP//////////"/>
              </a:ext>
            </a:extLst>
          </p:cNvSpPr>
          <p:nvPr/>
        </p:nvSpPr>
        <p:spPr>
          <a:xfrm>
            <a:off x="457200" y="255905"/>
            <a:ext cx="8229600" cy="5670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200" b="1" cap="none">
                <a:solidFill>
                  <a:srgbClr val="028090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Cómo se arma un sistema</a:t>
            </a:r>
            <a:endParaRPr lang="en-us" sz="32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QAAAA0AAAAAkAAAAEgAAACQAAAASAAAAAAAAAAAAAAAAAAAAAEAAABQAAAAb9Of/UgRwT8AAAAAAADwvwAAAAAAAOA/AAAAAAAA4D8AAAAAAADgPwAAAAAAAOA/AAAAAAAA4D8AAAAAAADgPwAAAAAAAOA/AAAAAAAA4D8CAAAAjAAAAAEAAAAAAAAAAoCQ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oCQAP///wEAAAAAAAAAAAAAAAAAAAAAAAAAAAAAAAAAAAAAAAAAAAAAAAB/f38A5+bmA8zMzADAwP8Af39/AAAAAAAAAAAAAAAAAAAAAAAAAAAAIQAAABgAAAAUAAAA0AIAAOgFAAAwDwAA0AsAABAAAAAmAAAACAAAAP//////////"/>
              </a:ext>
            </a:extLst>
          </p:cNvSpPr>
          <p:nvPr/>
        </p:nvSpPr>
        <p:spPr>
          <a:xfrm>
            <a:off x="457200" y="96012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E0GAAAwDwAA1QgAABAAAAAmAAAACAAAAP//////////"/>
              </a:ext>
            </a:extLst>
          </p:cNvSpPr>
          <p:nvPr/>
        </p:nvSpPr>
        <p:spPr>
          <a:xfrm>
            <a:off x="457200" y="1024255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Scheduler</a:t>
            </a:r>
            <a:endParaRPr lang="en-us" sz="14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0AIAALgIAAAwDwAA+AoAABAAAAAmAAAACAAAAP//////////"/>
              </a:ext>
            </a:extLst>
          </p:cNvSpPr>
          <p:nvPr/>
        </p:nvSpPr>
        <p:spPr>
          <a:xfrm>
            <a:off x="457200" y="141732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FFFFFF"/>
                </a:solidFill>
              </a:rPr>
              <a:t>elige quién corre</a:t>
            </a:r>
            <a:endParaRPr lang="en-us" sz="1200" cap="none"/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uDK0ahMAAAAlAAAAZQAAAA0AAAAAkAAAAEgAAACQAAAASAAAAAAAAAAAAAAAAAAAAAEAAABQAAAAb9Of/UgRwT8AAAAAAADwvwAAAAAAAOA/AAAAAAAA4D8AAAAAAADgPwAAAAAAAOA/AAAAAAAA4D8AAAAAAADgPwAAAAAAAOA/AAAAAAAA4D8CAAAAjAAAAAEAAAAAAAAAAKiW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KiWAP///wEAAAAAAAAAAAAAAAAAAAAAAAAAAAAAAAAAAAAAAAAAAAAAAAB/f38A5+bmA8zMzADAwP8Af39/AAAAAAAAAAAAAAAAAAAAAAAAAAAAIQAAABgAAAAUAAAACBAAAOgFAABoHAAA0AsAABAAAAAmAAAACAAAAP//////////"/>
              </a:ext>
            </a:extLst>
          </p:cNvSpPr>
          <p:nvPr/>
        </p:nvSpPr>
        <p:spPr>
          <a:xfrm>
            <a:off x="2606040" y="96012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00A896"/>
          </a:solidFill>
          <a:ln>
            <a:noFill/>
          </a:ln>
          <a:effectLst/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BAAAE0GAABoHAAA1QgAABAAAAAmAAAACAAAAP//////////"/>
              </a:ext>
            </a:extLst>
          </p:cNvSpPr>
          <p:nvPr/>
        </p:nvSpPr>
        <p:spPr>
          <a:xfrm>
            <a:off x="2606040" y="1024255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Tasks</a:t>
            </a:r>
            <a:endParaRPr lang="en-us" sz="1400" cap="none"/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BAAALgIAABoHAAA+AoAABAAAAAmAAAACAAAAP//////////"/>
              </a:ext>
            </a:extLst>
          </p:cNvSpPr>
          <p:nvPr/>
        </p:nvSpPr>
        <p:spPr>
          <a:xfrm>
            <a:off x="2606040" y="141732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FFFFFF"/>
                </a:solidFill>
              </a:rPr>
              <a:t>cada servicio</a:t>
            </a:r>
            <a:endParaRPr lang="en-us" sz="1200" cap="none"/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uDK0ahMAAAAlAAAAZQAAAA0AAAAAkAAAAEgAAACQAAAASAAAAAAAAAAAAAAAAAAAAAEAAABQAAAAb9Of/UgRwT8AAAAAAADwv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QB0AAOgFAACgKQAA0AsAABAAAAAmAAAACAAAAP//////////"/>
              </a:ext>
            </a:extLst>
          </p:cNvSpPr>
          <p:nvPr/>
        </p:nvSpPr>
        <p:spPr>
          <a:xfrm>
            <a:off x="4754880" y="96012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QB0AAE0GAACgKQAA1QgAABAAAAAmAAAACAAAAP//////////"/>
              </a:ext>
            </a:extLst>
          </p:cNvSpPr>
          <p:nvPr/>
        </p:nvSpPr>
        <p:spPr>
          <a:xfrm>
            <a:off x="4754880" y="1024255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Queue / ISR</a:t>
            </a:r>
            <a:endParaRPr lang="en-us" sz="1400" cap="none"/>
          </a:p>
        </p:txBody>
      </p:sp>
      <p:sp>
        <p:nvSpPr>
          <p:cNvPr id="11" name="Text 9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QB0AALgIAACgKQAA+AoAABAAAAAmAAAACAAAAP//////////"/>
              </a:ext>
            </a:extLst>
          </p:cNvSpPr>
          <p:nvPr/>
        </p:nvSpPr>
        <p:spPr>
          <a:xfrm>
            <a:off x="4754880" y="141732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FFFFFF"/>
                </a:solidFill>
              </a:rPr>
              <a:t>eventos y datos</a:t>
            </a:r>
            <a:endParaRPr lang="en-us" sz="1200" cap="none"/>
          </a:p>
        </p:txBody>
      </p:sp>
      <p:sp>
        <p:nvSpPr>
          <p:cNvPr id="12" name="Shape 10"/>
          <p:cNvSpPr>
            <a:extLst>
              <a:ext uri="smNativeData">
                <pr:smNativeData xmlns:pr="smNativeData" xmlns="smNativeData" val="SMDATA_15_uDK0ahMAAAAlAAAAZQAAAA0AAAAAkAAAAEgAAACQAAAASAAAAAAAAAAAAAAAAAAAAAEAAABQAAAAb9Of/UgRwT8AAAAAAADwvwAAAAAAAOA/AAAAAAAA4D8AAAAAAADgPwAAAAAAAOA/AAAAAAAA4D8AAAAAAADgPwAAAAAAAOA/AAAAAAAA4D8CAAAAjAAAAAEAAAAAAAAAISlc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SlcAP///wEAAAAAAAAAAAAAAAAAAAAAAAAAAAAAAAAAAAAAAAAAAAAAAAB/f38A5+bmA8zMzADAwP8Af39/AAAAAAAAAAAAAAAAAAAAAAAAAAAAIQAAABgAAAAUAAAAeCoAAOgFAADYNgAA0AsAABAAAAAmAAAACAAAAP//////////"/>
              </a:ext>
            </a:extLst>
          </p:cNvSpPr>
          <p:nvPr/>
        </p:nvSpPr>
        <p:spPr>
          <a:xfrm>
            <a:off x="6903720" y="96012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21295C"/>
          </a:solidFill>
          <a:ln>
            <a:noFill/>
          </a:ln>
          <a:effectLst/>
        </p:spPr>
      </p:sp>
      <p:sp>
        <p:nvSpPr>
          <p:cNvPr id="13" name="Text 11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CoAAE0GAADYNgAA1QgAABAAAAAmAAAACAAAAP//////////"/>
              </a:ext>
            </a:extLst>
          </p:cNvSpPr>
          <p:nvPr/>
        </p:nvSpPr>
        <p:spPr>
          <a:xfrm>
            <a:off x="6903720" y="1024255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Core 0 / 1</a:t>
            </a:r>
            <a:endParaRPr lang="en-us" sz="1400" cap="none"/>
          </a:p>
        </p:txBody>
      </p:sp>
      <p:sp>
        <p:nvSpPr>
          <p:cNvPr id="14" name="Text 1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eCoAALgIAADYNgAA+AoAABAAAAAmAAAACAAAAP//////////"/>
              </a:ext>
            </a:extLst>
          </p:cNvSpPr>
          <p:nvPr/>
        </p:nvSpPr>
        <p:spPr>
          <a:xfrm>
            <a:off x="6903720" y="1417320"/>
            <a:ext cx="20116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1200" cap="none">
                <a:solidFill>
                  <a:srgbClr val="FFFFFF"/>
                </a:solidFill>
              </a:rPr>
              <a:t>dónde corre cada una</a:t>
            </a:r>
            <a:endParaRPr lang="en-us" sz="1200" cap="none"/>
          </a:p>
        </p:txBody>
      </p:sp>
      <p:sp>
        <p:nvSpPr>
          <p:cNvPr id="15" name="Text 13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JwMAAOMPAAA3NQAAlhIAABAAAAAmAAAACAAAAP//////////"/>
              </a:ext>
            </a:extLst>
          </p:cNvSpPr>
          <p:nvPr/>
        </p:nvSpPr>
        <p:spPr>
          <a:xfrm>
            <a:off x="512445" y="2582545"/>
            <a:ext cx="8138160" cy="4387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1A1A2E"/>
                </a:solidFill>
              </a:rPr>
              <a:t>P1  Blink de 2 LEDs  - dos tasks y vTaskDelay</a:t>
            </a:r>
            <a:endParaRPr lang="en-us" sz="1400" cap="none"/>
          </a:p>
        </p:txBody>
      </p:sp>
      <p:sp>
        <p:nvSpPr>
          <p:cNvPr id="16" name="Text 15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MoSAAAoNQAAfRUAAAAAAAAmAAAACAAAAP//////////"/>
              </a:ext>
            </a:extLst>
          </p:cNvSpPr>
          <p:nvPr/>
        </p:nvSpPr>
        <p:spPr>
          <a:xfrm>
            <a:off x="502920" y="3054350"/>
            <a:ext cx="8138160" cy="4387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1A1A2E"/>
                </a:solidFill>
              </a:rPr>
              <a:t>P2  Profiling  - prioridades, ISR, stack, jitter y dual-core</a:t>
            </a:r>
            <a:endParaRPr lang="en-us" sz="1400" cap="none"/>
          </a:p>
        </p:txBody>
      </p:sp>
      <p:sp>
        <p:nvSpPr>
          <p:cNvPr id="17" name="Text 16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LYVAAAoNQAAahgAAAAAAAAmAAAACAAAAP//////////"/>
              </a:ext>
            </a:extLst>
          </p:cNvSpPr>
          <p:nvPr/>
        </p:nvSpPr>
        <p:spPr>
          <a:xfrm>
            <a:off x="502920" y="3529330"/>
            <a:ext cx="8138160" cy="4394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1A1A2E"/>
                </a:solidFill>
              </a:rPr>
              <a:t>P3  Mini sistema operativo  - consola, heap/stack y control de tasks</a:t>
            </a:r>
            <a:endParaRPr lang="en-us" sz="1400" cap="none"/>
          </a:p>
        </p:txBody>
      </p:sp>
      <p:sp>
        <p:nvSpPr>
          <p:cNvPr id="18" name="Text 17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GAMAAKMYAAAoNQAAVhsAAAAAAAAmAAAACAAAAP//////////"/>
              </a:ext>
            </a:extLst>
          </p:cNvSpPr>
          <p:nvPr/>
        </p:nvSpPr>
        <p:spPr>
          <a:xfrm>
            <a:off x="502920" y="4004945"/>
            <a:ext cx="8138160" cy="4387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1A1A2E"/>
                </a:solidFill>
              </a:rPr>
              <a:t>P4  Panel web  - Wi-Fi en Core 0, medición a tiempo en Core 1</a:t>
            </a:r>
            <a:endParaRPr lang="en-us" sz="1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8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8AMAANACAABQNAAAeAYAABAAAAAmAAAACAAAAP//////////"/>
              </a:ext>
            </a:extLst>
          </p:cNvSpPr>
          <p:nvPr/>
        </p:nvSpPr>
        <p:spPr>
          <a:xfrm>
            <a:off x="640080" y="457200"/>
            <a:ext cx="7863840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34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Para llevarse</a:t>
            </a:r>
            <a:endParaRPr lang="en-us" sz="34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uDK0ahMAAAAlAAAAZgAAAA0AAAAAkAAAAEgAAACQAAAASAAAAAAAAAAAAAAAAAAAAAEAAABQAAAAAAAAAAAA8D8AAAAAAADw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OAQAACgIAAAFBgAA9QkAABAAAAAmAAAACAAAAP//////////"/>
              </a:ext>
            </a:extLst>
          </p:cNvSpPr>
          <p:nvPr/>
        </p:nvSpPr>
        <p:spPr>
          <a:xfrm>
            <a:off x="685800" y="1325880"/>
            <a:ext cx="292735" cy="292735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4" name="Text 2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AcAAMMHAAAINAAA2woAABAAAAAmAAAACAAAAP//////////"/>
              </a:ext>
            </a:extLst>
          </p:cNvSpPr>
          <p:nvPr/>
        </p:nvSpPr>
        <p:spPr>
          <a:xfrm>
            <a:off x="1143000" y="1261745"/>
            <a:ext cx="7315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E0E0E0"/>
                </a:solidFill>
              </a:rPr>
              <a:t>FreeRTOS reparte el CPU entre tasks según prioridad y núcleo</a:t>
            </a:r>
            <a:endParaRPr lang="en-us" sz="1600" cap="none"/>
          </a:p>
        </p:txBody>
      </p:sp>
      <p:sp>
        <p:nvSpPr>
          <p:cNvPr id="5" name="Shape 3"/>
          <p:cNvSpPr>
            <a:extLst>
              <a:ext uri="smNativeData">
                <pr:smNativeData xmlns:pr="smNativeData" xmlns="smNativeData" val="SMDATA_15_uDK0ahMAAAAlAAAAZgAAAA0AAAAAkAAAAEgAAACQAAAASAAAAAAAAAAAAAAAAAAAAAEAAABQAAAAAAAAAAAA8D8AAAAAAADw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OAQAAPAMAAAFBgAAvQ4AABAAAAAmAAAACAAAAP//////////"/>
              </a:ext>
            </a:extLst>
          </p:cNvSpPr>
          <p:nvPr/>
        </p:nvSpPr>
        <p:spPr>
          <a:xfrm>
            <a:off x="685800" y="2103120"/>
            <a:ext cx="292735" cy="292735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6" name="Text 4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AcAAIsMAAAINAAAow8AABAAAAAmAAAACAAAAP//////////"/>
              </a:ext>
            </a:extLst>
          </p:cNvSpPr>
          <p:nvPr/>
        </p:nvSpPr>
        <p:spPr>
          <a:xfrm>
            <a:off x="1143000" y="2038985"/>
            <a:ext cx="7315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E0E0E0"/>
                </a:solidFill>
              </a:rPr>
              <a:t>Colas, ISR cortas y stack/heap son el vocabulario de los proyectos</a:t>
            </a:r>
            <a:endParaRPr lang="en-us" sz="1600" cap="none"/>
          </a:p>
        </p:txBody>
      </p:sp>
      <p:sp>
        <p:nvSpPr>
          <p:cNvPr id="7" name="Shape 5"/>
          <p:cNvSpPr>
            <a:extLst>
              <a:ext uri="smNativeData">
                <pr:smNativeData xmlns:pr="smNativeData" xmlns="smNativeData" val="SMDATA_15_uDK0ahMAAAAlAAAAZgAAAA0AAAAAkAAAAEgAAACQAAAASAAAAAAAAAAAAAAAAAAAAAEAAABQAAAAAAAAAAAA8D8AAAAAAADwPwAAAAAAAOA/AAAAAAAA4D8AAAAAAADgPwAAAAAAAOA/AAAAAAAA4D8AAAAAAADgPwAAAAAAAOA/AAAAAAAA4D8CAAAAjAAAAAEAAAAAAAAAAsOa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sOaAP///wEAAAAAAAAAAAAAAAAAAAAAAAAAAAAAAAAAAAAAAAAAAAAAAAB/f38A5+bmA8zMzADAwP8Af39/AAAAAAAAAAAAAAAAAAAAAAAAAAAAIQAAABgAAAAUAAAAOAQAALgRAAAFBgAAhRMAABAAAAAmAAAACAAAAP//////////"/>
              </a:ext>
            </a:extLst>
          </p:cNvSpPr>
          <p:nvPr/>
        </p:nvSpPr>
        <p:spPr>
          <a:xfrm>
            <a:off x="685800" y="2880360"/>
            <a:ext cx="292735" cy="292735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</p:sp>
      <p:sp>
        <p:nvSpPr>
          <p:cNvPr id="8" name="Text 6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CAcAAFMRAAAINAAAaxQAABAAAAAmAAAACAAAAP//////////"/>
              </a:ext>
            </a:extLst>
          </p:cNvSpPr>
          <p:nvPr/>
        </p:nvSpPr>
        <p:spPr>
          <a:xfrm>
            <a:off x="1143000" y="2816225"/>
            <a:ext cx="7315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600" cap="none">
                <a:solidFill>
                  <a:srgbClr val="E0E0E0"/>
                </a:solidFill>
              </a:rPr>
              <a:t>El ESP32 trae todo esto incluido: se trabaja en la práctica, no en instalar un RTOS</a:t>
            </a:r>
            <a:endParaRPr lang="en-us" sz="1600" cap="none"/>
          </a:p>
        </p:txBody>
      </p:sp>
      <p:sp>
        <p:nvSpPr>
          <p:cNvPr id="9" name="Text 7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8AMAAFgXAABQNAAAUBkAABAAAAAmAAAACAAAAP//////////"/>
              </a:ext>
            </a:extLst>
          </p:cNvSpPr>
          <p:nvPr/>
        </p:nvSpPr>
        <p:spPr>
          <a:xfrm>
            <a:off x="640080" y="3794760"/>
            <a:ext cx="786384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>
              <a:buNone/>
            </a:pPr>
            <a:r>
              <a:rPr lang="en-us" sz="1400" cap="none">
                <a:solidFill>
                  <a:srgbClr val="02C39A"/>
                </a:solidFill>
              </a:rPr>
              <a:t>Recursos:  freertos.org  ·  docs.espressif.com</a:t>
            </a:r>
            <a:endParaRPr lang="en-us" sz="1400" cap="none"/>
          </a:p>
        </p:txBody>
      </p:sp>
      <p:sp>
        <p:nvSpPr>
          <p:cNvPr id="10" name="Text 8"/>
          <p:cNvSpPr>
            <a:extLst>
              <a:ext uri="smNativeData">
                <pr:smNativeData xmlns:pr="smNativeData" xmlns="smNativeData" val="SMDATA_15_uDK0ahMAAAAlAAAAZAAAAA0AAAAAAAAAAAAAAAAAAAAAA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8AMAAHAaAABQNAAAQB0AABAAAAAmAAAACAAAAP//////////"/>
              </a:ext>
            </a:extLst>
          </p:cNvSpPr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spcCol="215900" anchor="ctr"/>
          <a:lstStyle/>
          <a:p>
            <a:pPr marL="0" indent="0" algn="ctr">
              <a:buNone/>
            </a:pPr>
            <a:r>
              <a:rPr lang="en-us" sz="2600" b="1" cap="none">
                <a:solidFill>
                  <a:srgbClr val="FFFFFF"/>
                </a:solidFill>
                <a:latin typeface="Cambria" pitchFamily="1" charset="0"/>
                <a:ea typeface="Cambria" pitchFamily="1" charset="0"/>
                <a:cs typeface="Cambria" pitchFamily="1" charset="0"/>
              </a:rPr>
              <a:t>¿Preguntas?</a:t>
            </a:r>
            <a:endParaRPr lang="en-us" sz="26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FreeRTOS + ESP32 - Introducción</dc:title>
  <dc:subject>Técnicas Digitales 2</dc:subject>
  <dc:creator>UTN Paraná - TD2</dc:creator>
  <cp:keywords/>
  <dc:description/>
  <cp:lastModifiedBy>adriano</cp:lastModifiedBy>
  <cp:revision>0</cp:revision>
  <dcterms:created xsi:type="dcterms:W3CDTF">2026-09-23T20:07:31Z</dcterms:created>
  <dcterms:modified xsi:type="dcterms:W3CDTF">2026-09-23T20:12:40Z</dcterms:modified>
</cp:coreProperties>
</file>