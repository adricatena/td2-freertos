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fntdata" ContentType="application/x-fontdata"/>
  <Default Extension="bmp" ContentType="image/bmp"/>
  <Default Extension="jpeg" ContentType="image/jpeg"/>
  <Default Extension="png" ContentType="image/png"/>
  <Default Extension="gif" ContentType="image/gif"/>
  <Default Extension="tif" ContentType="image/tif"/>
  <Default Extension="emf" ContentType="image/x-emf"/>
  <Default Extension="wmf" ContentType="image/x-wmf"/>
  <Default Extension="pct" ContentType="image/pct"/>
  <Default Extension="pcx" ContentType="image/pcx"/>
  <Default Extension="tga" ContentType="image/tga"/>
  <Default Extension="svg" ContentType="image/svg+xml"/>
  <Default Extension="webp" ContentType="image/webp"/>
  <Default Extension="avi" ContentType="video/avi"/>
  <Default Extension="wmv" ContentType="video/wmv"/>
  <Default Extension="mpg" ContentType="video/mpeg"/>
  <Default Extension="mpeg" ContentType="video/mpeg"/>
  <Default Extension="mp2" ContentType="video/mpeg"/>
  <Default Extension="mp4" ContentType="video/mpeg"/>
  <Default Extension="wma" ContentType="audio/x-ms-wma"/>
  <Default Extension="mid" ContentType="audio/unknown"/>
  <Default Extension="midi" ContentType="audio/unknown"/>
  <Default Extension="rmi" ContentType="audio/unknown"/>
  <Default Extension="mp3" ContentType="audio/unknown"/>
  <Default Extension="wav" ContentType="audio/wav"/>
  <Default Extension="bin" ContentType="application/vnd.openxmlformats-officedocument.oleObjec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ppt/theme/themeOverride9.xml" ContentType="application/vnd.openxmlformats-officedocument.themeOverride+xml"/>
  <Override PartName="/ppt/theme/themeOverride10.xml" ContentType="application/vnd.openxmlformats-officedocument.themeOverride+xml"/>
  <Override PartName="/ppt/theme/themeOverride11.xml" ContentType="application/vnd.openxmlformats-officedocument.themeOverride+xml"/>
  <Override PartName="/ppt/theme/themeOverride12.xml" ContentType="application/vnd.openxmlformats-officedocument.themeOverride+xml"/>
  <Override PartName="/ppt/theme/themeOverride13.xml" ContentType="application/vnd.openxmlformats-officedocument.themeOverride+xml"/>
  <Override PartName="/ppt/theme/themeOverride14.xml" ContentType="application/vnd.openxmlformats-officedocument.themeOverride+xml"/>
  <Override PartName="/ppt/theme/themeOverride15.xml" ContentType="application/vnd.openxmlformats-officedocument.themeOverride+xml"/>
  <Override PartName="/ppt/theme/themeOverride16.xml" ContentType="application/vnd.openxmlformats-officedocument.themeOverride+xml"/>
  <Override PartName="/ppt/theme/themeOverride17.xml" ContentType="application/vnd.openxmlformats-officedocument.themeOverride+xml"/>
  <Override PartName="/ppt/theme/themeOverride18.xml" ContentType="application/vnd.openxmlformats-officedocument.themeOverride+xml"/>
</Types>
</file>

<file path=_rels/.rels><?xml version="1.0" encoding="UTF-8" standalone="yes" 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5143500"/>
  <p:notesSz cx="5143500" cy="9144000"/>
  <p:defaultTextStyle>
    <a:lvl1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1pPr>
    <a:lvl2pPr marL="4572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2pPr>
    <a:lvl3pPr marL="9144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3pPr>
    <a:lvl4pPr marL="13716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4pPr>
    <a:lvl5pPr marL="18288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5pPr>
    <a:lvl6pPr marL="22860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6pPr>
    <a:lvl7pPr marL="27432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7pPr>
    <a:lvl8pPr marL="32004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8pPr>
    <a:lvl9pPr marL="36576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9pPr>
  </p:defaultTextStyle>
</p:presentation>
</file>

<file path=ppt/presProps.xml><?xml version="1.0" encoding="utf-8"?>
<p:presentationP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howPr showNarration="1">
    <p:penClr>
      <a:srgbClr val="0000FF"/>
    </p:penClr>
  </p:showPr>
  <p:extLst>
    <p:ext uri="smNativeData">
      <pr:smAppRevision xmlns:pr="smNativeData" xmlns="smNativeData" dt="1790188853" val="1234" revOS="4"/>
      <pr:smFileRevision xmlns:pr="smNativeData" xmlns="smNativeData" dt="1790188853" val="101"/>
      <pr:guideOptions xmlns:pr="smNativeData" xmlns="smNativeData" dt="1790188853" snapToBorders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lideViewPr>
    <p:cSldViewPr snapToGrid="0" snapToObjects="1">
      <p:cViewPr varScale="1">
        <p:scale>
          <a:sx n="99" d="100"/>
          <a:sy n="99" d="100"/>
        </p:scale>
        <p:origin x="284" y="344"/>
      </p:cViewPr>
    </p:cSldViewPr>
  </p:slideViewPr>
  <p:outlineViewPr>
    <p:cViewPr>
      <p:scale>
        <a:sx n="33" d="100"/>
        <a:sy n="33" d="100"/>
      </p:scale>
      <p:origin x="0" y="0"/>
    </p:cViewPr>
  </p:outlineViewPr>
  <p:sorterViewPr>
    <p:cViewPr>
      <p:scale>
        <a:sx n="21" d="100"/>
        <a:sy n="21" d="100"/>
      </p:scale>
      <p:origin x="0" y="0"/>
    </p:cViewPr>
  </p:sorterViewPr>
  <p:notesViewPr>
    <p:cSldViewPr snapToGrid="0" snapToObjects="1">
      <p:cViewPr>
        <p:scale>
          <a:sx n="99" d="100"/>
          <a:sy n="99" d="100"/>
        </p:scale>
        <p:origin x="284" y="344"/>
      </p:cViewPr>
    </p:cSldViewPr>
  </p:notesViewPr>
  <p:gridSpacing cx="78028800" cy="78028800"/>
</p:viewPr>
</file>

<file path=ppt/_rels/presentation.xml.rels><?xml version="1.0" encoding="UTF-8" standalone="yes" 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tableStyles" Target="tableStyles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"1.0" encoding="UTF-8" standalone="yes" 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 noChangeArrowheads="1"/>
            <a:extLst>
              <a:ext uri="smNativeData">
                <pr:smNativeData xmlns:pr="smNativeData" xmlns="smNativeData" val="SMDATA_15_NR20ah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AAAAAAAAAABIEgAA0wIAABAAAAAmAAAACAAAAD+PAAAAAAAA"/>
              </a:ext>
            </a:extLst>
          </p:cNvSpPr>
          <p:nvPr>
            <p:ph type="hdr" sz="quarter"/>
          </p:nvPr>
        </p:nvSpPr>
        <p:spPr>
          <a:xfrm>
            <a:off x="0" y="0"/>
            <a:ext cx="2971800" cy="459105"/>
          </a:xfrm>
          <a:prstGeom prst="rect">
            <a:avLst/>
          </a:prstGeom>
        </p:spPr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>
            <a:lvl1pPr algn="l">
              <a:defRPr sz="1200" cap="none"/>
            </a:lvl1pPr>
          </a:lstStyle>
          <a:p>
            <a:pPr/>
          </a:p>
        </p:txBody>
      </p:sp>
      <p:sp>
        <p:nvSpPr>
          <p:cNvPr id="3" name="Date Placeholder 2"/>
          <p:cNvSpPr>
            <a:spLocks noGrp="1" noChangeArrowheads="1"/>
            <a:extLst>
              <a:ext uri="smNativeData">
                <pr:smNativeData xmlns:pr="smNativeData" xmlns="smNativeData" val="SMDATA_15_NR20ah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5hcAAAAAAAAuKgAA0wIAABAAAAAmAAAACAAAAD+PAAAAAAAA"/>
              </a:ext>
            </a:extLst>
          </p:cNvSpPr>
          <p:nvPr>
            <p:ph type="dt" idx="10"/>
          </p:nvPr>
        </p:nvSpPr>
        <p:spPr>
          <a:xfrm>
            <a:off x="3884930" y="0"/>
            <a:ext cx="2971800" cy="459105"/>
          </a:xfrm>
          <a:prstGeom prst="rect">
            <a:avLst/>
          </a:prstGeom>
        </p:spPr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>
            <a:lvl1pPr algn="r">
              <a:defRPr sz="1200" cap="none"/>
            </a:lvl1pPr>
          </a:lstStyle>
          <a:p>
            <a:pPr/>
            <a:fld id="{2C10FC42-0CC1-450A-8FA8-FA5FB2E679AF}" type="datetime1">
              <a:t>7/23/19</a:t>
            </a:fld>
          </a:p>
        </p:txBody>
      </p:sp>
      <p:sp>
        <p:nvSpPr>
          <p:cNvPr id="4" name="Slide Image Placeholder 3"/>
          <p:cNvSpPr>
            <a:spLocks noGrp="1" noChangeArrowheads="1"/>
            <a:extLst>
              <a:ext uri="smNativeData">
                <pr:smNativeData xmlns:pr="smNativeData" xmlns="smNativeData" val="SMDATA_15_NR20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L8PAAD/HwAA"/>
              </a:ext>
            </a:extLst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 cap="flat" cmpd="sng" algn="ctr">
            <a:solidFill>
              <a:srgbClr val="000000"/>
            </a:solidFill>
            <a:prstDash val="solid"/>
            <a:headEnd type="none"/>
            <a:tailEnd type="none"/>
          </a:ln>
        </p:spPr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/>
          <a:p>
            <a:pPr/>
            <a:endParaRPr lang="en-us" cap="none"/>
          </a:p>
        </p:txBody>
      </p:sp>
      <p:sp>
        <p:nvSpPr>
          <p:cNvPr id="5" name="Notes Placeholder 4"/>
          <p:cNvSpPr>
            <a:spLocks noGrp="1" noChangeArrowheads="1"/>
            <a:extLst>
              <a:ext uri="smNativeData">
                <pr:smNativeData xmlns:pr="smNativeData" xmlns="smNativeData" val="SMDATA_15_NR20ah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OAQAABIbAAD4JQAAODEAABAAAAAmAAAACAAAAD8PAAD/HwAA"/>
              </a:ext>
            </a:extLst>
          </p:cNvSpPr>
          <p:nvPr>
            <p:ph type="body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pPr/>
            <a:r>
              <a:rPr lang="en-us" cap="none"/>
              <a:t>Click to edit Master text styles</a:t>
            </a:r>
            <a:endParaRPr lang="en-us" cap="none"/>
          </a:p>
          <a:p>
            <a:pPr lvl="1"/>
            <a:r>
              <a:rPr lang="en-us" cap="none"/>
              <a:t>Second level</a:t>
            </a:r>
            <a:endParaRPr lang="en-us" cap="none"/>
          </a:p>
          <a:p>
            <a:pPr lvl="2"/>
            <a:r>
              <a:rPr lang="en-us" cap="none"/>
              <a:t>Third level</a:t>
            </a:r>
            <a:endParaRPr lang="en-us" cap="none"/>
          </a:p>
          <a:p>
            <a:pPr lvl="3"/>
            <a:r>
              <a:rPr lang="en-us" cap="none"/>
              <a:t>Fourth level</a:t>
            </a:r>
            <a:endParaRPr lang="en-us" cap="none"/>
          </a:p>
          <a:p>
            <a:pPr lvl="4"/>
            <a:r>
              <a:rPr lang="en-us" cap="none"/>
              <a:t>Fifth level</a:t>
            </a:r>
            <a:endParaRPr lang="en-us" cap="none"/>
          </a:p>
        </p:txBody>
      </p:sp>
      <p:sp>
        <p:nvSpPr>
          <p:cNvPr id="6" name="Footer Placeholder 5"/>
          <p:cNvSpPr>
            <a:spLocks noGrp="1" noChangeArrowheads="1"/>
            <a:extLst>
              <a:ext uri="smNativeData">
                <pr:smNativeData xmlns:pr="smNativeData" xmlns="smNativeData" val="SMDATA_15_NR20ah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AAAAAG41AABIEgAAQDgAABAAAAAmAAAACAAAAL+PAAD/HwAA"/>
              </a:ext>
            </a:extLst>
          </p:cNvSpPr>
          <p:nvPr>
            <p:ph type="ftr" sz="quarter" idx="11"/>
          </p:nvPr>
        </p:nvSpPr>
        <p:spPr>
          <a:xfrm>
            <a:off x="0" y="8685530"/>
            <a:ext cx="2971800" cy="45847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algn="l">
              <a:defRPr sz="1200" cap="none"/>
            </a:lvl1pPr>
          </a:lstStyle>
          <a:p>
            <a:pPr/>
          </a:p>
        </p:txBody>
      </p:sp>
      <p:sp>
        <p:nvSpPr>
          <p:cNvPr id="7" name="Slide Number Placeholder 6"/>
          <p:cNvSpPr>
            <a:spLocks noGrp="1" noChangeArrowheads="1"/>
            <a:extLst>
              <a:ext uri="smNativeData">
                <pr:smNativeData xmlns:pr="smNativeData" xmlns="smNativeData" val="SMDATA_15_NR20ah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5hcAAG41AAAuKgAAQDgAABAAAAAmAAAACAAAAL+PAAD/Hw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algn="r">
              <a:defRPr sz="1200" cap="none"/>
            </a:lvl1pPr>
          </a:lstStyle>
          <a:p>
            <a:pPr/>
            <a:fld id="{2C10CB85-CBC1-453D-8FA8-3D6885E67968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/>
  <p:notesStyle>
    <a:lvl1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2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1pPr>
    <a:lvl2pPr marL="4572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2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2pPr>
    <a:lvl3pPr marL="9144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2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3pPr>
    <a:lvl4pPr marL="13716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2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4pPr>
    <a:lvl5pPr marL="18288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2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5pPr>
    <a:lvl6pPr marL="22860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2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6pPr>
    <a:lvl7pPr marL="27432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2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7pPr>
    <a:lvl8pPr marL="32004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2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8pPr>
    <a:lvl9pPr marL="36576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2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9pPr>
  </p:notesStyle>
</p:notesMaster>
</file>

<file path=ppt/notesSlides/_rels/notesSlide1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Relationship Id="rId3" Type="http://schemas.openxmlformats.org/officeDocument/2006/relationships/themeOverride" Target="../theme/themeOverride1.xml"/></Relationships>
</file>

<file path=ppt/notesSlides/_rels/notesSlide2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Relationship Id="rId3" Type="http://schemas.openxmlformats.org/officeDocument/2006/relationships/themeOverride" Target="../theme/themeOverride2.xml"/></Relationships>
</file>

<file path=ppt/notesSlides/_rels/notesSlide3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Relationship Id="rId3" Type="http://schemas.openxmlformats.org/officeDocument/2006/relationships/themeOverride" Target="../theme/themeOverride3.xml"/></Relationships>
</file>

<file path=ppt/notesSlides/_rels/notesSlide4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Relationship Id="rId3" Type="http://schemas.openxmlformats.org/officeDocument/2006/relationships/themeOverride" Target="../theme/themeOverride4.xml"/></Relationships>
</file>

<file path=ppt/notesSlides/_rels/notesSlide5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Relationship Id="rId3" Type="http://schemas.openxmlformats.org/officeDocument/2006/relationships/themeOverride" Target="../theme/themeOverride5.xml"/></Relationships>
</file>

<file path=ppt/notesSlides/_rels/notesSlide6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Relationship Id="rId3" Type="http://schemas.openxmlformats.org/officeDocument/2006/relationships/themeOverride" Target="../theme/themeOverride6.xml"/></Relationships>
</file>

<file path=ppt/notesSlides/_rels/notesSlide7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Relationship Id="rId3" Type="http://schemas.openxmlformats.org/officeDocument/2006/relationships/themeOverride" Target="../theme/themeOverride7.xml"/></Relationships>
</file>

<file path=ppt/notesSlides/_rels/notesSlide8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Relationship Id="rId3" Type="http://schemas.openxmlformats.org/officeDocument/2006/relationships/themeOverride" Target="../theme/themeOverride8.xml"/></Relationships>
</file>

<file path=ppt/notesSlides/_rels/notesSlide9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Relationship Id="rId3" Type="http://schemas.openxmlformats.org/officeDocument/2006/relationships/themeOverride" Target="../theme/themeOverride9.xml"/></Relationships>
</file>

<file path=ppt/notesSlides/_rels/notesSlide10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Relationship Id="rId3" Type="http://schemas.openxmlformats.org/officeDocument/2006/relationships/themeOverride" Target="../theme/themeOverride10.xml"/></Relationships>
</file>

<file path=ppt/notesSlides/_rels/notesSlide11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Relationship Id="rId3" Type="http://schemas.openxmlformats.org/officeDocument/2006/relationships/themeOverride" Target="../theme/themeOverride11.xml"/></Relationships>
</file>

<file path=ppt/notesSlides/_rels/notesSlide12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Relationship Id="rId3" Type="http://schemas.openxmlformats.org/officeDocument/2006/relationships/themeOverride" Target="../theme/themeOverride12.xml"/></Relationships>
</file>

<file path=ppt/notesSlides/_rels/notesSlide13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Relationship Id="rId3" Type="http://schemas.openxmlformats.org/officeDocument/2006/relationships/themeOverride" Target="../theme/themeOverride13.xml"/></Relationships>
</file>

<file path=ppt/notesSlides/_rels/notesSlide14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Relationship Id="rId3" Type="http://schemas.openxmlformats.org/officeDocument/2006/relationships/themeOverride" Target="../theme/themeOverride14.xml"/></Relationships>
</file>

<file path=ppt/notesSlides/_rels/notesSlide15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Relationship Id="rId3" Type="http://schemas.openxmlformats.org/officeDocument/2006/relationships/themeOverride" Target="../theme/themeOverride15.xml"/></Relationships>
</file>

<file path=ppt/notesSlides/_rels/notesSlide16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Relationship Id="rId3" Type="http://schemas.openxmlformats.org/officeDocument/2006/relationships/themeOverride" Target="../theme/themeOverride16.xml"/></Relationships>
</file>

<file path=ppt/notesSlides/_rels/notesSlide17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Relationship Id="rId3" Type="http://schemas.openxmlformats.org/officeDocument/2006/relationships/themeOverride" Target="../theme/themeOverride17.xml"/></Relationships>
</file>

<file path=ppt/notesSlides/_rels/notesSlide18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Relationship Id="rId3" Type="http://schemas.openxmlformats.org/officeDocument/2006/relationships/themeOverride" Target="../theme/themeOverride18.xml"/></Relationships>
</file>

<file path=ppt/notesSlides/notesSlide1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NR20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NR20ah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NR20ah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2C10B290-DEC1-4544-8FA8-2811FCE6797D}" type="slidenum">
              <a:t>1</a:t>
            </a:fld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2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NR20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BA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NR20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JrDA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NR20ahMAAAAlAAAAZAAAAA0AAAAAkAAAAEgAAACQAAAASAAAAAAAAAAC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JCAAtc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2C109648-06C1-4560-8FA8-F035D8E679A5}" type="slidenum">
              <a:rPr lang="en-us" cap="none"/>
              <a:t>2</a:t>
            </a:fld>
            <a:endParaRPr lang="en-us"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3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NR20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BA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NR20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BA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NR20ahMAAAAlAAAAZAAAAA0AAAAAkAAAAEgAAACQAAAASAAAAAAAAAAC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BA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2C10AC37-79C1-455A-8FA8-8F0FE2E679DA}" type="slidenum">
              <a:rPr lang="en-us" cap="none"/>
              <a:t>3</a:t>
            </a:fld>
            <a:endParaRPr lang="en-us"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4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NR20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NR20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MjEVM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NR20ahMAAAAlAAAAZAAAAA0AAAAAkAAAAEgAAACQAAAASAAAAAAAAAAC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HBlbk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2C10C424-6AC1-4532-8FA8-9C678AE679C9}" type="slidenum">
              <a:rPr lang="en-us" cap="none"/>
              <a:t>4</a:t>
            </a:fld>
            <a:endParaRPr lang="en-us"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5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NR20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NR20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NR20ahMAAAAlAAAAZAAAAA0AAAAAkAAAAEgAAACQAAAASAAAAAAAAAAC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ChDb2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2C10A8FA-B4C1-455E-8FA8-420BE6E67917}" type="slidenum">
              <a:rPr lang="en-us" cap="none"/>
              <a:t>5</a:t>
            </a:fld>
            <a:endParaRPr lang="en-us"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6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NR20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NR20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NR20ahMAAAAlAAAAZAAAAA0AAAAAkAAAAEgAAACQAAAASAAAAAAAAAAC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2C10C1C6-88C1-4537-8FA8-7E628FE6792B}" type="slidenum">
              <a:rPr lang="en-us" cap="none"/>
              <a:t>6</a:t>
            </a:fld>
            <a:endParaRPr lang="en-us"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7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NR20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NR20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NR20ahMAAAAlAAAAZAAAAA0AAAAAkAAAAEgAAACQAAAASAAAAAAAAAAC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2C10B376-38C1-4545-8FA8-CE10FDE6799B}" type="slidenum">
              <a:rPr lang="en-us" cap="none"/>
              <a:t>7</a:t>
            </a:fld>
            <a:endParaRPr lang="en-us"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8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NR20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EY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NR20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7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NR20ahMAAAAlAAAAZAAAAA0AAAAAkAAAAEgAAACQAAAASAAAAAAAAAAC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0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2C109044-0AC1-4566-8FA8-FC33DEE679A9}" type="slidenum">
              <a:rPr lang="en-us" cap="none"/>
              <a:t>8</a:t>
            </a:fld>
            <a:endParaRPr lang="en-us"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9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NR20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NR20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I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NR20ahMAAAAlAAAAZAAAAA0AAAAAkAAAAEgAAACQAAAASAAAAAAAAAAC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2C109ECE-80C1-4568-8FA8-763DD0E67923}" type="slidenum">
              <a:rPr lang="en-us" cap="none"/>
              <a:t>9</a:t>
            </a:fld>
            <a:endParaRPr lang="en-us"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10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NR20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NR20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NR20ahMAAAAlAAAAZAAAAA0AAAAAkAAAAEgAAACQAAAASAAAAAAAAAAC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2C10A68B-C5C1-4550-8FA8-3305E8E67966}" type="slidenum">
              <a:rPr lang="en-us" cap="none"/>
              <a:t>10</a:t>
            </a:fld>
            <a:endParaRPr lang="en-us"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11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NR20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B4AHg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NR20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NR20ahMAAAAlAAAAZAAAAA0AAAAAkAAAAEgAAACQAAAASAAAAAAAAAAC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B4AHg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2C10E9CF-81C1-451F-8FA8-774AA7E67922}" type="slidenum">
              <a:rPr lang="en-us" cap="none"/>
              <a:t>11</a:t>
            </a:fld>
            <a:endParaRPr lang="en-us"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12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NR20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B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NR20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B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NR20ahMAAAAlAAAAZAAAAA0AAAAAkAAAAEgAAACQAAAASAAAAAAAAAAC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B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2C1090D7-99C1-4566-8FA8-6F33DEE6793A}" type="slidenum">
              <a:rPr lang="en-us" cap="none"/>
              <a:t>12</a:t>
            </a:fld>
            <a:endParaRPr lang="en-us"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13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NR20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B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NR20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B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NR20ahMAAAAlAAAAZAAAAA0AAAAAkAAAAEgAAACQAAAASAAAAAAAAAAC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B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2C10DDD7-99C1-452B-8FA8-6F7E93E6793A}" type="slidenum">
              <a:rPr lang="en-us" cap="none"/>
              <a:t>13</a:t>
            </a:fld>
            <a:endParaRPr lang="en-us"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14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NR20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BwAH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NR20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NR20ahMAAAAlAAAAZAAAAA0AAAAAkAAAAEgAAACQAAAASAAAAAAAAAAC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/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2C10B6FA-B4C1-4540-8FA8-4215F8E67917}" type="slidenum">
              <a:rPr lang="en-us" cap="none"/>
              <a:t>14</a:t>
            </a:fld>
            <a:endParaRPr lang="en-us"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15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NR20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r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NR20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NR20ahMAAAAlAAAAZAAAAA0AAAAAkAAAAEgAAACQAAAASAAAAAAAAAAC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2C10D8E8-A6C1-452E-8FA8-507B96E67905}" type="slidenum">
              <a:rPr lang="en-us" cap="none"/>
              <a:t>15</a:t>
            </a:fld>
            <a:endParaRPr lang="en-us"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16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NR20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NR20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NR20ahMAAAAlAAAAZAAAAA0AAAAAkAAAAEgAAACQAAAASAAAAAAAAAAC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2C10F1E6-A8C1-4507-8FA8-5E52BFE6790B}" type="slidenum">
              <a:rPr lang="en-us" cap="none"/>
              <a:t>16</a:t>
            </a:fld>
            <a:endParaRPr lang="en-us"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17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NR20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NR20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NR20ahMAAAAlAAAAZAAAAA0AAAAAkAAAAEgAAACQAAAASAAAAAAAAAAC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2C10DC2A-64C1-452A-8FA8-927F92E679C7}" type="slidenum">
              <a:rPr lang="en-us" cap="none"/>
              <a:t>17</a:t>
            </a:fld>
            <a:endParaRPr lang="en-us"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18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NR20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r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NR20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z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NR20ahMAAAAlAAAAZAAAAA0AAAAAkAAAAEgAAACQAAAASAAAAAAAAAAC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Nv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2C10B235-7BC1-4544-8FA8-8D11FCE679D8}" type="slidenum">
              <a:rPr lang="en-us" cap="none"/>
              <a:t>18</a:t>
            </a:fld>
            <a:endParaRPr lang="en-us"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slideLayouts/_rels/slideLayout1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 preserve="1">
  <p:cSld name="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4400" b="0" i="0" u="none" strike="noStrike" kern="1" cap="none" spc="0" baseline="0">
          <a:solidFill>
            <a:schemeClr val="tx1"/>
          </a:solidFill>
          <a:effectLst/>
          <a:latin typeface="Calibri Light" pitchFamily="2" charset="0"/>
          <a:ea typeface="Calibri Light" pitchFamily="2" charset="0"/>
          <a:cs typeface="Calibri Light" pitchFamily="2" charset="0"/>
        </a:defRPr>
      </a:lvl1pPr>
      <a:lvl2pPr marL="4572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2pPr>
      <a:lvl3pPr marL="9144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3pPr>
      <a:lvl4pPr marL="13716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4pPr>
      <a:lvl5pPr marL="18288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5pPr>
      <a:lvl6pPr marL="22860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6pPr>
      <a:lvl7pPr marL="27432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7pPr>
      <a:lvl8pPr marL="32004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8pPr>
      <a:lvl9pPr marL="36576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9pPr>
    </p:titleStyle>
    <p:bodyStyle>
      <a:lvl1pPr marL="342900" marR="0" indent="-342900" algn="l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 typeface="Arial" pitchFamily="2" charset="0"/>
        <a:buChar char="•"/>
        <a:tabLst/>
        <a:defRPr sz="32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1pPr>
      <a:lvl2pPr marL="742950" marR="0" indent="-285750" algn="l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 typeface="Arial" pitchFamily="2" charset="0"/>
        <a:buChar char="–"/>
        <a:tabLst/>
        <a:defRPr sz="2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2pPr>
      <a:lvl3pPr marL="1143000" marR="0" indent="-228600" algn="l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 typeface="Arial" pitchFamily="2" charset="0"/>
        <a:buChar char="•"/>
        <a:tabLst/>
        <a:defRPr sz="24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3pPr>
      <a:lvl4pPr marL="1600200" marR="0" indent="-228600" algn="l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 typeface="Arial" pitchFamily="2" charset="0"/>
        <a:buChar char="–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4pPr>
      <a:lvl5pPr marL="2057400" marR="0" indent="-228600" algn="l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 typeface="Arial" pitchFamily="2" charset="0"/>
        <a:buChar char="»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5pPr>
      <a:lvl6pPr marL="2514600" marR="0" indent="-228600" algn="l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 typeface="Arial" pitchFamily="2" charset="0"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6pPr>
      <a:lvl7pPr marL="2971800" marR="0" indent="-228600" algn="l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 typeface="Arial" pitchFamily="2" charset="0"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7pPr>
      <a:lvl8pPr marL="3429000" marR="0" indent="-228600" algn="l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 typeface="Arial" pitchFamily="2" charset="0"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8pPr>
      <a:lvl9pPr marL="3886200" marR="0" indent="-228600" algn="l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 typeface="Arial" pitchFamily="2" charset="0"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9pPr>
    </p:bodyStyle>
    <p:otherStyle>
      <a:lvl1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1pPr>
      <a:lvl2pPr marL="4572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2pPr>
      <a:lvl3pPr marL="9144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3pPr>
      <a:lvl4pPr marL="13716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4pPr>
      <a:lvl5pPr marL="18288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5pPr>
      <a:lvl6pPr marL="22860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6pPr>
      <a:lvl7pPr marL="27432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7pPr>
      <a:lvl8pPr marL="32004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8pPr>
      <a:lvl9pPr marL="36576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9pPr>
    </p:otherStyle>
  </p:txStyles>
</p:sldMaster>
</file>

<file path=ppt/slides/_rels/slide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>
            <a:extLst>
              <a:ext uri="smNativeData">
                <pr:smNativeData xmlns:pr="smNativeData" xmlns="smNativeData" val="SMDATA_15_NR20ahMAAAAlAAAAZQAAAA0AAAAAkAAAAEgAAACQAAAASAAAAAAAAAAAAAAAAAAAAAEAAABQAAAA07zjFB3JtT8AAAAAAADwvwAAAAAAAOA/AAAAAAAA4D8AAAAAAADgPwAAAAAAAOA/AAAAAAAA4D8AAAAAAADgPwAAAAAAAOA/AAAAAAAA4D8CAAAAjAAAAAEAAAAAAAAAAoCQAP///wgQAAAAAAAAAAAAAAAAAAAAAAAAAAAAAAAAAAAAeAAAAAEAAABAAAAAAAAAAAAAAABaAAAAAAAAAAAAAAAAAAAAAAAAAAAAAAAAAAAAAAAAAAAAAAAAAAAAAAAAAAAAAAAAAAAAAAAAAAAAAAAAAAAAAAAAAAAAAAAAAAAAFAAAADwAAAABAAAAAAAAAALDmg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oCQAP///wEAAAAAAAAAAAAAAAAAAAAAAAAAAAAAAAAAAAAAAAAAAALDmgB/f38A5+bmA8zMzADAwP8Af39/AAAAAAAAAAAAAAAAAAAAAAAAAAAAIQAAABgAAAAUAAAA0AIAACgIAABwNQAAYBUAABAAAAAmAAAACAAAAP//////////"/>
              </a:ext>
            </a:extLst>
          </p:cNvSpPr>
          <p:nvPr/>
        </p:nvSpPr>
        <p:spPr>
          <a:xfrm>
            <a:off x="457200" y="1325880"/>
            <a:ext cx="8229600" cy="2148840"/>
          </a:xfrm>
          <a:prstGeom prst="roundRect">
            <a:avLst>
              <a:gd name="adj" fmla="val 4255"/>
            </a:avLst>
          </a:prstGeom>
          <a:solidFill>
            <a:srgbClr val="028090">
              <a:alpha val="84000"/>
            </a:srgbClr>
          </a:solidFill>
          <a:ln w="12700" cap="flat" cmpd="sng" algn="ctr">
            <a:solidFill>
              <a:srgbClr val="02C39A"/>
            </a:solidFill>
            <a:prstDash val="solid"/>
            <a:headEnd type="none"/>
            <a:tailEnd type="none"/>
          </a:ln>
          <a:effectLst/>
        </p:spPr>
      </p:sp>
      <p:sp>
        <p:nvSpPr>
          <p:cNvPr id="3" name="Text 1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gAQAAEgJAADAMwAAEA4AABAAAAAmAAAACAAAAP//////////"/>
              </a:ext>
            </a:extLst>
          </p:cNvSpPr>
          <p:nvPr/>
        </p:nvSpPr>
        <p:spPr>
          <a:xfrm>
            <a:off x="731520" y="1508760"/>
            <a:ext cx="7680960" cy="77724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4200" b="1" cap="none">
                <a:solidFill>
                  <a:srgbClr val="FFFFFF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FreeRTOS + ESP32</a:t>
            </a:r>
            <a:endParaRPr lang="en-us" sz="4200" cap="none"/>
          </a:p>
        </p:txBody>
      </p:sp>
      <p:sp>
        <p:nvSpPr>
          <p:cNvPr id="4" name="Text 2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gAQAAFgOAADAMwAA4BAAABAAAAAmAAAACAAAAP//////////"/>
              </a:ext>
            </a:extLst>
          </p:cNvSpPr>
          <p:nvPr/>
        </p:nvSpPr>
        <p:spPr>
          <a:xfrm>
            <a:off x="731520" y="2331720"/>
            <a:ext cx="7680960" cy="4114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cap="none">
                <a:solidFill>
                  <a:srgbClr val="02C39A"/>
                </a:solidFill>
              </a:rPr>
              <a:t>Marco teórico mínimo para los proyectos de la materia</a:t>
            </a:r>
            <a:endParaRPr lang="en-us" cap="none"/>
          </a:p>
        </p:txBody>
      </p:sp>
      <p:sp>
        <p:nvSpPr>
          <p:cNvPr id="5" name="Text 3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gAQAAHgYAADAMwAAuBoAABAAAAAmAAAACAAAAP//////////"/>
              </a:ext>
            </a:extLst>
          </p:cNvSpPr>
          <p:nvPr/>
        </p:nvSpPr>
        <p:spPr>
          <a:xfrm>
            <a:off x="731520" y="3977640"/>
            <a:ext cx="768096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600" cap="none">
                <a:solidFill>
                  <a:srgbClr val="CADCFC"/>
                </a:solidFill>
              </a:rPr>
              <a:t>Técnicas Digitales 2  ·  UTN Paraná  ·  Ingeniería Electrónica</a:t>
            </a:r>
            <a:endParaRPr lang="en-us" sz="16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0AIAAJMBAABwNQAAEAUAABAAAAAmAAAACAAAAP//////////"/>
              </a:ext>
            </a:extLst>
          </p:cNvSpPr>
          <p:nvPr/>
        </p:nvSpPr>
        <p:spPr>
          <a:xfrm>
            <a:off x="457200" y="255905"/>
            <a:ext cx="8229600" cy="5670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32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Objetivos de la clase</a:t>
            </a:r>
            <a:endParaRPr lang="en-us" sz="3200" cap="none"/>
          </a:p>
        </p:txBody>
      </p:sp>
      <p:sp>
        <p:nvSpPr>
          <p:cNvPr id="3" name="Shape 1"/>
          <p:cNvSpPr>
            <a:extLst>
              <a:ext uri="smNativeData">
                <pr:smNativeData xmlns:pr="smNativeData" xmlns="smNativeData" val="SMDATA_15_NR20ahMAAAAlAAAAZgAAAA0AAAAAkAAAAEgAAACQAAAASAAAAAAAAAAAAAAAAAAAAAEAAABQAAAAAAAAAAAA8D8AAAAAAADwPwAAAAAAAOA/AAAAAAAA4D8AAAAAAADgPwAAAAAAAOA/AAAAAAAA4D8AAAAAAADgPwAAAAAAAOA/AAAAAAAA4D8CAAAAjAAAAAEAAAAAAAAAAoCQ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oCQAP///wEAAAAAAAAAAAAAAAAAAAAAAAAAAAAAAAAAAAAAAAAAAAAAAAB/f38A5+bmA8zMzADAwP8Af39/AAAAAAAAAAAAAAAAAAAAAAAAAAAAIQAAABgAAAAUAAAAGAMAAMAGAABYBQAAAAkAABAAAAAmAAAACAAAAP//////////"/>
              </a:ext>
            </a:extLst>
          </p:cNvSpPr>
          <p:nvPr/>
        </p:nvSpPr>
        <p:spPr>
          <a:xfrm>
            <a:off x="502920" y="1097280"/>
            <a:ext cx="365760" cy="36576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</p:sp>
      <p:sp>
        <p:nvSpPr>
          <p:cNvPr id="4" name="Text 2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GAMAAPoGAABYBQAAxggAABAAAAAmAAAACAAAAP//////////"/>
              </a:ext>
            </a:extLst>
          </p:cNvSpPr>
          <p:nvPr/>
        </p:nvSpPr>
        <p:spPr>
          <a:xfrm>
            <a:off x="502920" y="1134110"/>
            <a:ext cx="365760" cy="2921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300" b="1" cap="none">
                <a:solidFill>
                  <a:srgbClr val="FFFFFF"/>
                </a:solidFill>
              </a:rPr>
              <a:t>1</a:t>
            </a:r>
            <a:endParaRPr lang="en-us" sz="1300" cap="none"/>
          </a:p>
        </p:txBody>
      </p:sp>
      <p:sp>
        <p:nvSpPr>
          <p:cNvPr id="5" name="Text 3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eAYAAHgGAACYNAAAIAoAABAAAAAmAAAACAAAAP//////////"/>
              </a:ext>
            </a:extLst>
          </p:cNvSpPr>
          <p:nvPr/>
        </p:nvSpPr>
        <p:spPr>
          <a:xfrm>
            <a:off x="1051560" y="1051560"/>
            <a:ext cx="7498080" cy="5943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600" cap="none">
                <a:solidFill>
                  <a:srgbClr val="1A1A2E"/>
                </a:solidFill>
              </a:rPr>
              <a:t>Explicar qué es un RTOS y por qué un solo loop() no alcanza cuando hay varias tareas</a:t>
            </a:r>
            <a:endParaRPr lang="en-us" sz="1600" cap="none"/>
          </a:p>
        </p:txBody>
      </p:sp>
      <p:sp>
        <p:nvSpPr>
          <p:cNvPr id="6" name="Shape 4"/>
          <p:cNvSpPr>
            <a:extLst>
              <a:ext uri="smNativeData">
                <pr:smNativeData xmlns:pr="smNativeData" xmlns="smNativeData" val="SMDATA_15_NR20ahMAAAAlAAAAZgAAAA0AAAAAkAAAAEgAAACQAAAASAAAAAAAAAAAAAAAAAAAAAEAAABQAAAAAAAAAAAA8D8AAAAAAADwPwAAAAAAAOA/AAAAAAAA4D8AAAAAAADgPwAAAAAAAOA/AAAAAAAA4D8AAAAAAADgPwAAAAAAAOA/AAAAAAAA4D8CAAAAjAAAAAEAAAAAAAAAAoCQ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oCQAP///wEAAAAAAAAAAAAAAAAAAAAAAAAAAAAAAAAAAAAAAAAAAAAAAAB/f38A5+bmA8zMzADAwP8Af39/AAAAAAAAAAAAAAAAAAAAAAAAAAAAIQAAABgAAAAUAAAAGAMAANALAABYBQAAEA4AABAAAAAmAAAACAAAAP//////////"/>
              </a:ext>
            </a:extLst>
          </p:cNvSpPr>
          <p:nvPr/>
        </p:nvSpPr>
        <p:spPr>
          <a:xfrm>
            <a:off x="502920" y="1920240"/>
            <a:ext cx="365760" cy="36576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</p:sp>
      <p:sp>
        <p:nvSpPr>
          <p:cNvPr id="7" name="Text 5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JrDAgQ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GAMAAAoMAABYBQAA1g0AABAAAAAmAAAACAAAAP//////////"/>
              </a:ext>
            </a:extLst>
          </p:cNvSpPr>
          <p:nvPr/>
        </p:nvSpPr>
        <p:spPr>
          <a:xfrm>
            <a:off x="502920" y="1957070"/>
            <a:ext cx="365760" cy="2921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300" b="1" cap="none">
                <a:solidFill>
                  <a:srgbClr val="FFFFFF"/>
                </a:solidFill>
              </a:rPr>
              <a:t>2</a:t>
            </a:r>
            <a:endParaRPr lang="en-us" sz="1300" cap="none"/>
          </a:p>
        </p:txBody>
      </p:sp>
      <p:sp>
        <p:nvSpPr>
          <p:cNvPr id="8" name="Text 6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JCAAtc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eAYAAIgLAACYNAAAMA8AABAAAAAmAAAACAAAAP//////////"/>
              </a:ext>
            </a:extLst>
          </p:cNvSpPr>
          <p:nvPr/>
        </p:nvSpPr>
        <p:spPr>
          <a:xfrm>
            <a:off x="1051560" y="1874520"/>
            <a:ext cx="7498080" cy="5943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600" cap="none">
                <a:solidFill>
                  <a:srgbClr val="1A1A2E"/>
                </a:solidFill>
              </a:rPr>
              <a:t>Reconocer tasks, scheduler, prioridades y los dos núcleos del ESP32</a:t>
            </a:r>
            <a:endParaRPr lang="en-us" sz="1600" cap="none"/>
          </a:p>
        </p:txBody>
      </p:sp>
      <p:sp>
        <p:nvSpPr>
          <p:cNvPr id="9" name="Shape 7"/>
          <p:cNvSpPr>
            <a:extLst>
              <a:ext uri="smNativeData">
                <pr:smNativeData xmlns:pr="smNativeData" xmlns="smNativeData" val="SMDATA_15_NR20ahMAAAAlAAAAZgAAAA0AAAAAkAAAAEgAAACQAAAASAAAAAAAAAAAAAAAAAAAAAEAAABQAAAAAAAAAAAA8D8AAAAAAADwPwAAAAAAAOA/AAAAAAAA4D8AAAAAAADgPwAAAAAAAOA/AAAAAAAA4D8AAAAAAADgPwAAAAAAAOA/AAAAAAAA4D8CAAAAjAAAAAEAAAAAAAAAAoCQ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JCAAtc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oCQAP///wEAAAAAAAAAAAAAAAAAAAAAAAAAAAAAAAAAAAAAAAAAAAAAAAB/f38A5+bmA8zMzADAwP8Af39/AAAAAAAAAAAAAAAAAAAAAAAAAAAAIQAAABgAAAAUAAAAGAMAAOAQAABYBQAAIBMAABAAAAAmAAAACAAAAP//////////"/>
              </a:ext>
            </a:extLst>
          </p:cNvSpPr>
          <p:nvPr/>
        </p:nvSpPr>
        <p:spPr>
          <a:xfrm>
            <a:off x="502920" y="2743200"/>
            <a:ext cx="365760" cy="36576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</p:sp>
      <p:sp>
        <p:nvSpPr>
          <p:cNvPr id="10" name="Text 8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BA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GAMAABoRAABYBQAA5hIAABAAAAAmAAAACAAAAP//////////"/>
              </a:ext>
            </a:extLst>
          </p:cNvSpPr>
          <p:nvPr/>
        </p:nvSpPr>
        <p:spPr>
          <a:xfrm>
            <a:off x="502920" y="2780030"/>
            <a:ext cx="365760" cy="2921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300" b="1" cap="none">
                <a:solidFill>
                  <a:srgbClr val="FFFFFF"/>
                </a:solidFill>
              </a:rPr>
              <a:t>3</a:t>
            </a:r>
            <a:endParaRPr lang="en-us" sz="1300" cap="none"/>
          </a:p>
        </p:txBody>
      </p:sp>
      <p:sp>
        <p:nvSpPr>
          <p:cNvPr id="11" name="Text 9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IABg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eAYAAJgQAACYNAAAQBQAABAAAAAmAAAACAAAAP//////////"/>
              </a:ext>
            </a:extLst>
          </p:cNvSpPr>
          <p:nvPr/>
        </p:nvSpPr>
        <p:spPr>
          <a:xfrm>
            <a:off x="1051560" y="2697480"/>
            <a:ext cx="7498080" cy="5943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600" cap="none">
                <a:solidFill>
                  <a:srgbClr val="1A1A2E"/>
                </a:solidFill>
              </a:rPr>
              <a:t>Entender colas, ISR, stack/heap y cómo se controla una task</a:t>
            </a:r>
            <a:endParaRPr lang="en-us" sz="1600" cap="none"/>
          </a:p>
        </p:txBody>
      </p:sp>
      <p:sp>
        <p:nvSpPr>
          <p:cNvPr id="12" name="Shape 10"/>
          <p:cNvSpPr>
            <a:extLst>
              <a:ext uri="smNativeData">
                <pr:smNativeData xmlns:pr="smNativeData" xmlns="smNativeData" val="SMDATA_15_NR20ahMAAAAlAAAAZgAAAA0AAAAAkAAAAEgAAACQAAAASAAAAAAAAAAAAAAAAAAAAAEAAABQAAAAAAAAAAAA8D8AAAAAAADwPwAAAAAAAOA/AAAAAAAA4D8AAAAAAADgPwAAAAAAAOA/AAAAAAAA4D8AAAAAAADgPwAAAAAAAOA/AAAAAAAA4D8CAAAAjAAAAAEAAAAAAAAAAoCQ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JCAAtc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oCQAP///wEAAAAAAAAAAAAAAAAAAAAAAAAAAAAAAAAAAAAAAAAAAAAAAAB/f38A5+bmA8zMzADAwP8Af39/AAAAAAAAAAAAAAAAAAAAAAAAAAAAIQAAABgAAAAUAAAAGAMAAPAVAABYBQAAMBgAABAAAAAmAAAACAAAAP//////////"/>
              </a:ext>
            </a:extLst>
          </p:cNvSpPr>
          <p:nvPr/>
        </p:nvSpPr>
        <p:spPr>
          <a:xfrm>
            <a:off x="502920" y="3566160"/>
            <a:ext cx="365760" cy="36576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</p:sp>
      <p:sp>
        <p:nvSpPr>
          <p:cNvPr id="13" name="Text 11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BA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GAMAACoWAABYBQAA9hcAABAAAAAmAAAACAAAAP//////////"/>
              </a:ext>
            </a:extLst>
          </p:cNvSpPr>
          <p:nvPr/>
        </p:nvSpPr>
        <p:spPr>
          <a:xfrm>
            <a:off x="502920" y="3602990"/>
            <a:ext cx="365760" cy="2921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300" b="1" cap="none">
                <a:solidFill>
                  <a:srgbClr val="FFFFFF"/>
                </a:solidFill>
              </a:rPr>
              <a:t>4</a:t>
            </a:r>
            <a:endParaRPr lang="en-us" sz="1300" cap="none"/>
          </a:p>
        </p:txBody>
      </p:sp>
      <p:sp>
        <p:nvSpPr>
          <p:cNvPr id="14" name="Text 12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JCAAtc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eAYAAKgVAACYNAAAUBkAABAAAAAmAAAACAAAAP//////////"/>
              </a:ext>
            </a:extLst>
          </p:cNvSpPr>
          <p:nvPr/>
        </p:nvSpPr>
        <p:spPr>
          <a:xfrm>
            <a:off x="1051560" y="3520440"/>
            <a:ext cx="7498080" cy="5943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600" cap="none">
                <a:solidFill>
                  <a:srgbClr val="1A1A2E"/>
                </a:solidFill>
              </a:rPr>
              <a:t>Leer el código de los proyectos de la materia, empezando por el blink de dos LEDs</a:t>
            </a:r>
            <a:endParaRPr lang="en-us" sz="16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BA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0AIAAJMBAABwNQAAEAUAABAAAAAmAAAACAAAAP//////////"/>
              </a:ext>
            </a:extLst>
          </p:cNvSpPr>
          <p:nvPr/>
        </p:nvSpPr>
        <p:spPr>
          <a:xfrm>
            <a:off x="457200" y="255905"/>
            <a:ext cx="8229600" cy="5670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32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Del loop() al problema</a:t>
            </a:r>
            <a:endParaRPr lang="en-us" sz="3200" cap="none"/>
          </a:p>
        </p:txBody>
      </p:sp>
      <p:sp>
        <p:nvSpPr>
          <p:cNvPr id="3" name="Shape 1"/>
          <p:cNvSpPr>
            <a:extLst>
              <a:ext uri="smNativeData">
                <pr:smNativeData xmlns:pr="smNativeData" xmlns="smNativeData" val="SMDATA_15_NR20ahMAAAAlAAAAZQAAAA0AAAAAkAAAAEgAAACQAAAASAAAAAAAAAAAAAAAAAAAAAEAAABQAAAAur2kMVpHpT8AAAAAAADwvwAAAAAAAOA/AAAAAAAA4D8AAAAAAADgPwAAAAAAAOA/AAAAAAAA4D8AAAAAAADgPwAAAAAAAOA/AAAAAAAA4D8CAAAAjAAAAAEAAAAAAAAA6Pb1AP///wgAAAAAAAAAAAAAAAAAAAAAAAAAAAAAAAAAAAAAeAAAAAEAAABAAAAAAAAAAAAAAABaAAAAAAAAAAAAAAAAAAAAAAAAAAAAAAAAAAAAAAAAAAAAAAAAAAAAAAAAAAAAAAAAAAAAAAAAAAAAAAAAAAAAAAAAAAAAAAAAAAAAFAAAADwAAAABAAAAAAAAAAKAkAAKAAAAAQAAACMAAAAjAAAAIwAAAB4AAAAAAAAAZAAAAGQAAAAAAAAAZAAAAGQAAAAVAAAAYAAAAAAAAAAAAAAADwAAACADAAAAAAAAAAAAAAEAAACgMgAAVgcAAKr4//8BAAAAf39/AAEAAABkAAAAAAAAABQAAABAHwAAAAAAACYAAAAAAAAAwOD//wAAAAAmAAAAZAAAABYAAABMAAAAAQAAAAAAAAAGAAAAAAAAAAEAAAAAAAAAWAAAABwAAAAcAAAAZAAAAGQAAAAAAAAAy8vLAFgAAAAcAAAAHAAAAGQAAABkAAAAAAAAABcAAAAUAAAAAAAAAAAAAAD/fwAA/38AAAAAAAAJAAAABAAAAAABAAEeAAAAaAAAAAAAAAAAAAAAAAAAAAAAAAAAAAAAECcAABAnAAAAAAAAAAAAAAAAAAAAAAAAAAAAAAAAAAAAAAAAAAAAAFA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6Pb1AP///wEAAAAAAAAAAAAAAAAAAAAAAAAAAAAAAAAAAAAAAAAAAAKAkAB/f38AAAAAAMvLywDAwP8Af39/AAAAAAAAAAAAAAAAAAAAAAAAAAAAIQAAABgAAAAUAAAA0AIAADAGAABIGwAA2BsAABAAAAAmAAAACAAAAP//////////"/>
              </a:ext>
            </a:extLst>
          </p:cNvSpPr>
          <p:nvPr/>
        </p:nvSpPr>
        <p:spPr>
          <a:xfrm>
            <a:off x="457200" y="1005840"/>
            <a:ext cx="3977640" cy="3520440"/>
          </a:xfrm>
          <a:prstGeom prst="roundRect">
            <a:avLst>
              <a:gd name="adj" fmla="val 2078"/>
            </a:avLst>
          </a:prstGeom>
          <a:solidFill>
            <a:srgbClr val="E8F6F5"/>
          </a:solidFill>
          <a:ln w="6350" cap="flat" cmpd="sng" algn="ctr">
            <a:solidFill>
              <a:srgbClr val="028090"/>
            </a:solidFill>
            <a:prstDash val="solid"/>
            <a:headEnd type="none"/>
            <a:tailEnd type="none"/>
          </a:ln>
          <a:effectLst>
            <a:outerShdw blurRad="50800" dist="25145" dir="2700000" algn="bl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mgMAAMAGAAB+GgAAjQgAABAAAAAmAAAACAAAAP//////////"/>
              </a:ext>
            </a:extLst>
          </p:cNvSpPr>
          <p:nvPr/>
        </p:nvSpPr>
        <p:spPr>
          <a:xfrm>
            <a:off x="585470" y="1097280"/>
            <a:ext cx="372110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Modelo clásico</a:t>
            </a:r>
            <a:endParaRPr lang="en-us" sz="1400" cap="none"/>
          </a:p>
        </p:txBody>
      </p:sp>
      <p:sp>
        <p:nvSpPr>
          <p:cNvPr id="5" name="Text 3"/>
          <p:cNvSpPr>
            <a:extLst>
              <a:ext uri="smNativeData">
                <pr:smNativeData xmlns:pr="smNativeData" xmlns="smNativeData" val="SMDATA_15_NR2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mgMAAKoIAAB+GgAASBsAABAAAAAmAAAACAAAAP//////////"/>
              </a:ext>
            </a:extLst>
          </p:cNvSpPr>
          <p:nvPr/>
        </p:nvSpPr>
        <p:spPr>
          <a:xfrm>
            <a:off x="585470" y="1408430"/>
            <a:ext cx="3721100" cy="302641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El MCU ejecuta instrucciones una tras otra.</a:t>
            </a:r>
            <a:endParaRPr lang="en-us" sz="1300" cap="none"/>
          </a:p>
          <a:p>
            <a:pPr marL="0" indent="0">
              <a:buNone/>
            </a:pP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En Arduino: setup() una vez y loop() para siempre.</a:t>
            </a:r>
            <a:endParaRPr lang="en-us" sz="1300" cap="none"/>
          </a:p>
          <a:p>
            <a:pPr marL="0" indent="0">
              <a:buNone/>
            </a:pP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Sirve para un LED, un sensor o un ensayo corto. El programa es una sola cola de trabajo.</a:t>
            </a:r>
            <a:endParaRPr lang="en-us" sz="1300" cap="none"/>
          </a:p>
        </p:txBody>
      </p:sp>
      <p:sp>
        <p:nvSpPr>
          <p:cNvPr id="6" name="Shape 4"/>
          <p:cNvSpPr>
            <a:extLst>
              <a:ext uri="smNativeData">
                <pr:smNativeData xmlns:pr="smNativeData" xmlns="smNativeData" val="SMDATA_15_NR20ahMAAAAlAAAAZQAAAA0AAAAAkAAAAEgAAACQAAAASAAAAAAAAAAAAAAAAAAAAAEAAABQAAAAur2kMVpHpT8AAAAAAADwvwAAAAAAAOA/AAAAAAAA4D8AAAAAAADgPwAAAAAAAOA/AAAAAAAA4D8AAAAAAADgPwAAAAAAAOA/AAAAAAAA4D8CAAAAjAAAAAEAAAAAAAAA6Pb1AP///wgAAAAAAAAAAAAAAAAAAAAAAAAAAAAAAAAAAAAAeAAAAAEAAABAAAAAAAAAAAAAAABaAAAAAAAAAAAAAAAAAAAAAAAAAAAAAAAAAAAAAAAAAAAAAAAAAAAAAAAAAAAAAAAAAAAAAAAAAAAAAAAAAAAAAAAAAAAAAAAAAAAAFAAAADwAAAABAAAAAAAAAAColgAKAAAAAQAAACMAAAAjAAAAIwAAAB4AAAAAAAAAZAAAAGQAAAAAAAAAZAAAAGQAAAAVAAAAYAAAAAAAAAAAAAAADwAAACADAAAAAAAAAAAAAAEAAACgMgAAVgcAAKr4//8BAAAAf39/AAEAAABkAAAAAAAAABQAAABAHwAAAAAAACYAAAAAAAAAwOD//wAAAAAmAAAAZAAAABYAAABMAAAAAQAAAAAAAAAGAAAAAAAAAAEAAAAAAAAAWAAAABwAAAAcAAAAZAAAAGQAAAAAAAAAy8vLAFgAAAAcAAAAHAAAAGQAAABkAAAAAAAAABcAAAAUAAAAAAAAAAAAAAD/fwAA/38AAAAAAAAJAAAABAAAAAABAAEeAAAAaAAAAAAAAAAAAAAAAAAAAAAAAAAAAAAAECcAABAnAAAAAAAAAAAAAAAAAAAAAAAAAAAAAAAAAAAAAAAAAAAAAFA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6Pb1AP///wEAAAAAAAAAAAAAAAAAAAAAAAAAAAAAAAAAAAAAAAAAAAColgB/f38AAAAAAMvLywDAwP8Af39/AAAAAAAAAAAAAAAAAAAAAAAAAAAAIQAAABgAAAAUAAAA+BwAADAGAABwNQAA2BsAABAAAAAmAAAACAAAAP//////////"/>
              </a:ext>
            </a:extLst>
          </p:cNvSpPr>
          <p:nvPr/>
        </p:nvSpPr>
        <p:spPr>
          <a:xfrm>
            <a:off x="4709160" y="1005840"/>
            <a:ext cx="3977640" cy="3520440"/>
          </a:xfrm>
          <a:prstGeom prst="roundRect">
            <a:avLst>
              <a:gd name="adj" fmla="val 2078"/>
            </a:avLst>
          </a:prstGeom>
          <a:solidFill>
            <a:srgbClr val="E8F6F5"/>
          </a:solidFill>
          <a:ln w="6350" cap="flat" cmpd="sng" algn="ctr">
            <a:solidFill>
              <a:srgbClr val="00A896"/>
            </a:solidFill>
            <a:prstDash val="solid"/>
            <a:headEnd type="none"/>
            <a:tailEnd type="none"/>
          </a:ln>
          <a:effectLst>
            <a:outerShdw blurRad="50800" dist="25145" dir="2700000" algn="bl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wh0AAMAGAACmNAAAjQgAABAAAAAmAAAACAAAAP//////////"/>
              </a:ext>
            </a:extLst>
          </p:cNvSpPr>
          <p:nvPr/>
        </p:nvSpPr>
        <p:spPr>
          <a:xfrm>
            <a:off x="4837430" y="1097280"/>
            <a:ext cx="372110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b="1" cap="none">
                <a:solidFill>
                  <a:srgbClr val="00A896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Cuando se queda corto</a:t>
            </a:r>
            <a:endParaRPr lang="en-us" sz="1400" cap="none"/>
          </a:p>
        </p:txBody>
      </p:sp>
      <p:sp>
        <p:nvSpPr>
          <p:cNvPr id="8" name="Text 6"/>
          <p:cNvSpPr>
            <a:extLst>
              <a:ext uri="smNativeData">
                <pr:smNativeData xmlns:pr="smNativeData" xmlns="smNativeData" val="SMDATA_15_NR2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BA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wh0AAKoIAACmNAAASBsAABAAAAAmAAAACAAAAP//////////"/>
              </a:ext>
            </a:extLst>
          </p:cNvSpPr>
          <p:nvPr/>
        </p:nvSpPr>
        <p:spPr>
          <a:xfrm>
            <a:off x="4837430" y="1408430"/>
            <a:ext cx="3721100" cy="302641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Sensor + Wi-Fi + pantalla + botón al mismo tiempo.</a:t>
            </a:r>
            <a:endParaRPr lang="en-us" sz="1300" cap="none"/>
          </a:p>
          <a:p>
            <a:pPr marL="0" indent="0">
              <a:buNone/>
            </a:pP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Un delay() frena todo el programa.</a:t>
            </a: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Tiempos distintos se mezclan.</a:t>
            </a: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El código se vuelve difícil de mantener.</a:t>
            </a: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Se pueden perder eventos.</a:t>
            </a:r>
            <a:endParaRPr lang="en-us" sz="13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0AIAAJMBAABwNQAAEAUAABAAAAAmAAAACAAAAP//////////"/>
              </a:ext>
            </a:extLst>
          </p:cNvSpPr>
          <p:nvPr/>
        </p:nvSpPr>
        <p:spPr>
          <a:xfrm>
            <a:off x="457200" y="255905"/>
            <a:ext cx="8229600" cy="5670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32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RTOS y FreeRTOS</a:t>
            </a:r>
            <a:endParaRPr lang="en-us" sz="3200" cap="none"/>
          </a:p>
        </p:txBody>
      </p:sp>
      <p:sp>
        <p:nvSpPr>
          <p:cNvPr id="3" name="Text 1"/>
          <p:cNvSpPr>
            <a:extLst>
              <a:ext uri="smNativeData">
                <pr:smNativeData xmlns:pr="smNativeData" xmlns="smNativeData" val="SMDATA_15_NR2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z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0AIAAOgFAADgIgAA2BsAABAAAAAmAAAACAAAAP//////////"/>
              </a:ext>
            </a:extLst>
          </p:cNvSpPr>
          <p:nvPr/>
        </p:nvSpPr>
        <p:spPr>
          <a:xfrm>
            <a:off x="457200" y="960120"/>
            <a:ext cx="5212080" cy="35661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RTOS = Real-Time Operating System: sistema pequeño y eficiente para micros</a:t>
            </a:r>
            <a:endParaRPr lang="en-us" sz="1500" cap="none"/>
          </a:p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Multitarea: varias tasks parecen correr en paralelo</a:t>
            </a:r>
            <a:endParaRPr lang="en-us" sz="1500" cap="none"/>
          </a:p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El scheduler es el director de orquesta: decide quién usa el CPU</a:t>
            </a:r>
            <a:endParaRPr lang="en-us" sz="1500" cap="none"/>
          </a:p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FreeRTOS es open source, liviano y muy usado en industria</a:t>
            </a:r>
            <a:endParaRPr lang="en-us" sz="1500" cap="none"/>
          </a:p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En ESP32 ya viene incluido (Arduino y ESP-IDF)</a:t>
            </a:r>
            <a:endParaRPr lang="en-us" sz="1500" cap="none"/>
          </a:p>
        </p:txBody>
      </p:sp>
      <p:sp>
        <p:nvSpPr>
          <p:cNvPr id="4" name="Shape 2"/>
          <p:cNvSpPr>
            <a:extLst>
              <a:ext uri="smNativeData">
                <pr:smNativeData xmlns:pr="smNativeData" xmlns="smNativeData" val="SMDATA_15_NR20ahMAAAAlAAAAZgAAAA0AAAAAkAAAAEgAAACQAAAASAAAAAAAAAAAAAAAAAAAAAEAAABQAAAAAAAAAAAA8D8AAAAAAADwPwAAAAAAAOA/AAAAAAAA4D8AAAAAAADgPwAAAAAAAOA/AAAAAAAA4D8AAAAAAADgPwAAAAAAAOA/AAAAAAAA4D8CAAAAjAAAAAEAAAAAAAAAAoCQ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w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oCQAP///wEAAAAAAAAAAAAAAAAAAAAAAAAAAAAAAAAAAAAAAAAAAAAAAAB/f38A5+bmA8zMzADAwP8Af39/AAAAAAAAAAAAAAAAAAAAAAAAAAAAIQAAABgAAAAUAAAAiCYAACgIAAB4MwAAGBUAABAAAAAmAAAACAAAAP//////////"/>
              </a:ext>
            </a:extLst>
          </p:cNvSpPr>
          <p:nvPr/>
        </p:nvSpPr>
        <p:spPr>
          <a:xfrm>
            <a:off x="6263640" y="1325880"/>
            <a:ext cx="2103120" cy="21031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</p:sp>
      <p:sp>
        <p:nvSpPr>
          <p:cNvPr id="5" name="Text 3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Jf4Ahg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iCYAAEALAAB4MwAAuBEAABAAAAAmAAAACAAAAP//////////"/>
              </a:ext>
            </a:extLst>
          </p:cNvSpPr>
          <p:nvPr/>
        </p:nvSpPr>
        <p:spPr>
          <a:xfrm>
            <a:off x="6263640" y="1828800"/>
            <a:ext cx="2103120" cy="10515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2600" b="1" cap="none">
                <a:solidFill>
                  <a:srgbClr val="FFFFFF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Free</a:t>
            </a:r>
            <a:endParaRPr lang="en-us" sz="2600" cap="none"/>
          </a:p>
          <a:p>
            <a:pPr marL="0" indent="0" algn="ctr">
              <a:buNone/>
            </a:pPr>
            <a:r>
              <a:rPr lang="en-us" sz="2600" b="1" cap="none">
                <a:solidFill>
                  <a:srgbClr val="FFFFFF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RTOS</a:t>
            </a:r>
            <a:endParaRPr lang="en-us" sz="2600" cap="none"/>
          </a:p>
        </p:txBody>
      </p:sp>
      <p:sp>
        <p:nvSpPr>
          <p:cNvPr id="6" name="Text 4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Nat0Uo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sCUAADgWAABQNAAA6BcAABAAAAAmAAAACAAAAP//////////"/>
              </a:ext>
            </a:extLst>
          </p:cNvSpPr>
          <p:nvPr/>
        </p:nvSpPr>
        <p:spPr>
          <a:xfrm>
            <a:off x="6126480" y="3611880"/>
            <a:ext cx="237744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200" cap="none">
                <a:solidFill>
                  <a:srgbClr val="5A6A7A"/>
                </a:solidFill>
              </a:rPr>
              <a:t>freertos.org</a:t>
            </a:r>
            <a:endParaRPr lang="en-us" sz="12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0AIAAJMBAABwNQAAEAUAABAAAAAmAAAACAAAAP//////////"/>
              </a:ext>
            </a:extLst>
          </p:cNvSpPr>
          <p:nvPr/>
        </p:nvSpPr>
        <p:spPr>
          <a:xfrm>
            <a:off x="457200" y="255905"/>
            <a:ext cx="8229600" cy="5670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32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Ventajas principales</a:t>
            </a:r>
            <a:endParaRPr lang="en-us" sz="3200" cap="none"/>
          </a:p>
        </p:txBody>
      </p:sp>
      <p:sp>
        <p:nvSpPr>
          <p:cNvPr id="3" name="Shape 1"/>
          <p:cNvSpPr>
            <a:extLst>
              <a:ext uri="smNativeData">
                <pr:smNativeData xmlns:pr="smNativeData" xmlns="smNativeData" val="SMDATA_15_NR20ahMAAAAlAAAAZQAAAA0AAAAAkAAAAEgAAACQAAAASAAAAAAAAAAAAAAAAAAAAAEAAABQAAAA8UbmkT8YuD8AAAAAAADwvwAAAAAAAOA/AAAAAAAA4D8AAAAAAADgPwAAAAAAAOA/AAAAAAAA4D8AAAAAAADgPwAAAAAAAOA/AAAAAAAA4D8CAAAAjAAAAAEAAAAAAAAA6Pb1AP///wgAAAAAAAAAAAAAAAAAAAAAAAAAAAAAAAAAAAAAeAAAAAEAAABAAAAAAAAAAAAAAABaAAAAAAAAAAAAAAAAAAAAAAAAAAAAAAAAAAAAAAAAAAAAAAAAAAAAAAAAAAAAAAAAAAAAAAAAAAAAAAAAAAAAAAAAAAAAAAAAAAAAFAAAADwAAAABAAAAAAAAAAKAkAAKAAAAAQAAACMAAAAjAAAAIwAAAB4AAAAAAAAAZAAAAGQAAAAAAAAAZAAAAGQAAAAVAAAAYAAAAAAAAAAAAAAADwAAACADAAAAAAAAAAAAAAEAAACgMgAAVgcAAKr4//8BAAAAf39/AAEAAABkAAAAAAAAABQAAABAHwAAAAAAACYAAAAAAAAAwOD//wAAAAAmAAAAZAAAABYAAABMAAAAAQAAAAAAAAAGAAAAAAAAAAEAAAAAAAAAWAAAABwAAAAcAAAAZAAAAGQAAAAAAAAAy8vLAFgAAAAcAAAAHAAAAGQAAABkAAAAAAAAABcAAAAUAAAAAAAAAAAAAAD/fwAA/38AAAAAAAAJAAAABAAAAO33HB0eAAAAaAAAAAAAAAAAAAAAAAAAAAAAAAAAAAAAECcAABAnAAAAAAAAAAAAAAAAAAAAAAAAAAAAAAAAAAAAAAAAAAAAAFA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6Pb1AP///wEAAAAAAAAAAAAAAAAAAAAAAAAAAAAAAAAAAAAAAAAAAAKAkAB/f38AAAAAAMvLywDAwP8Af39/AAAAAAAAAAAAAAAAAAAAAAAAAAAAIQAAABgAAAAUAAAA0AIAADAGAABIGwAAwA8AABAAAAAmAAAACAAAAP//////////"/>
              </a:ext>
            </a:extLst>
          </p:cNvSpPr>
          <p:nvPr/>
        </p:nvSpPr>
        <p:spPr>
          <a:xfrm>
            <a:off x="457200" y="100584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E8F6F5"/>
          </a:solidFill>
          <a:ln w="6350" cap="flat" cmpd="sng" algn="ctr">
            <a:solidFill>
              <a:srgbClr val="028090"/>
            </a:solidFill>
            <a:prstDash val="solid"/>
            <a:headEnd type="none"/>
            <a:tailEnd type="none"/>
          </a:ln>
          <a:effectLst>
            <a:outerShdw blurRad="50800" dist="25145" dir="2700000" algn="bl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mgMAAMAGAAB+GgAAjQgAABAAAAAmAAAACAAAAP//////////"/>
              </a:ext>
            </a:extLst>
          </p:cNvSpPr>
          <p:nvPr/>
        </p:nvSpPr>
        <p:spPr>
          <a:xfrm>
            <a:off x="585470" y="1097280"/>
            <a:ext cx="372110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Organización</a:t>
            </a:r>
            <a:endParaRPr lang="en-us" sz="1400" cap="none"/>
          </a:p>
        </p:txBody>
      </p:sp>
      <p:sp>
        <p:nvSpPr>
          <p:cNvPr id="5" name="Text 3"/>
          <p:cNvSpPr>
            <a:extLst>
              <a:ext uri="smNativeData">
                <pr:smNativeData xmlns:pr="smNativeData" xmlns="smNativeData" val="SMDATA_15_NR2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mgMAAKoIAAB+GgAAMA8AABAAAAAmAAAACAAAAP//////////"/>
              </a:ext>
            </a:extLst>
          </p:cNvSpPr>
          <p:nvPr/>
        </p:nvSpPr>
        <p:spPr>
          <a:xfrm>
            <a:off x="585470" y="1408430"/>
            <a:ext cx="3721100" cy="10604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Cada task tiene un rol claro: sensor, comunicación, display, consola.</a:t>
            </a:r>
            <a:endParaRPr lang="en-us" sz="1300" cap="none"/>
          </a:p>
        </p:txBody>
      </p:sp>
      <p:sp>
        <p:nvSpPr>
          <p:cNvPr id="6" name="Shape 4"/>
          <p:cNvSpPr>
            <a:extLst>
              <a:ext uri="smNativeData">
                <pr:smNativeData xmlns:pr="smNativeData" xmlns="smNativeData" val="SMDATA_15_NR20ahMAAAAlAAAAZQAAAA0AAAAAkAAAAEgAAACQAAAASAAAAAAAAAAAAAAAAAAAAAEAAABQAAAA8UbmkT8YuD8AAAAAAADwvwAAAAAAAOA/AAAAAAAA4D8AAAAAAADgPwAAAAAAAOA/AAAAAAAA4D8AAAAAAADgPwAAAAAAAOA/AAAAAAAA4D8CAAAAjAAAAAEAAAAAAAAA6Pb1AP///wgAAAAAAAAAAAAAAAAAAAAAAAAAAAAAAAAAAAAAeAAAAAEAAABAAAAAAAAAAAAAAABaAAAAAAAAAAAAAAAAAAAAAAAAAAAAAAAAAAAAAAAAAAAAAAAAAAAAAAAAAAAAAAAAAAAAAAAAAAAAAAAAAAAAAAAAAAAAAAAAAAAAFAAAADwAAAABAAAAAAAAAAKAkAAKAAAAAQAAACMAAAAjAAAAIwAAAB4AAAAAAAAAZAAAAGQAAAAAAAAAZAAAAGQAAAAVAAAAYAAAAAAAAAAAAAAADwAAACADAAAAAAAAAAAAAAEAAACgMgAAVgcAAKr4//8BAAAAf39/AAEAAABkAAAAAAAAABQAAABAHwAAAAAAACYAAAAAAAAAwOD//wAAAAAmAAAAZAAAABYAAABMAAAAAQAAAAAAAAAGAAAAAAAAAAEAAAAAAAAAWAAAABwAAAAcAAAAZAAAAGQAAAAAAAAAy8vLAFgAAAAcAAAAHAAAAGQAAABkAAAAAAAAABcAAAAUAAAAAAAAAAAAAAD/fwAA/38AAAAAAAAJAAAABAAAAAAAAAAeAAAAaAAAAAAAAAAAAAAAAAAAAAAAAAAAAAAAECcAABAnAAAAAAAAAAAAAAAAAAAAAAAAAAAAAAAAAAAAAAAAAAAAAFA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6Pb1AP///wEAAAAAAAAAAAAAAAAAAAAAAAAAAAAAAAAAAAAAAAAAAAKAkAB/f38AAAAAAMvLywDAwP8Af39/AAAAAAAAAAAAAAAAAAAAAAAAAAAAIQAAABgAAAAUAAAAsBwAADAGAAAoNQAAwA8AABAAAAAmAAAACAAAAP//////////"/>
              </a:ext>
            </a:extLst>
          </p:cNvSpPr>
          <p:nvPr/>
        </p:nvSpPr>
        <p:spPr>
          <a:xfrm>
            <a:off x="4663440" y="100584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E8F6F5"/>
          </a:solidFill>
          <a:ln w="6350" cap="flat" cmpd="sng" algn="ctr">
            <a:solidFill>
              <a:srgbClr val="028090"/>
            </a:solidFill>
            <a:prstDash val="solid"/>
            <a:headEnd type="none"/>
            <a:tailEnd type="none"/>
          </a:ln>
          <a:effectLst>
            <a:outerShdw blurRad="50800" dist="25145" dir="2700000" algn="bl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eh0AAMAGAABeNAAAjQgAABAAAAAmAAAACAAAAP//////////"/>
              </a:ext>
            </a:extLst>
          </p:cNvSpPr>
          <p:nvPr/>
        </p:nvSpPr>
        <p:spPr>
          <a:xfrm>
            <a:off x="4791710" y="1097280"/>
            <a:ext cx="372110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Mejor uso del CPU</a:t>
            </a:r>
            <a:endParaRPr lang="en-us" sz="1400" cap="none"/>
          </a:p>
        </p:txBody>
      </p:sp>
      <p:sp>
        <p:nvSpPr>
          <p:cNvPr id="8" name="Text 6"/>
          <p:cNvSpPr>
            <a:extLst>
              <a:ext uri="smNativeData">
                <pr:smNativeData xmlns:pr="smNativeData" xmlns="smNativeData" val="SMDATA_15_NR2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Mt82Q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eh0AAKoIAABeNAAAMA8AABAAAAAmAAAACAAAAP//////////"/>
              </a:ext>
            </a:extLst>
          </p:cNvSpPr>
          <p:nvPr/>
        </p:nvSpPr>
        <p:spPr>
          <a:xfrm>
            <a:off x="4791710" y="1408430"/>
            <a:ext cx="3721100" cy="10604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Mientras una task espera, otra puede ejecutarse.</a:t>
            </a:r>
            <a:endParaRPr lang="en-us" sz="1300" cap="none"/>
          </a:p>
        </p:txBody>
      </p:sp>
      <p:sp>
        <p:nvSpPr>
          <p:cNvPr id="9" name="Shape 7"/>
          <p:cNvSpPr>
            <a:extLst>
              <a:ext uri="smNativeData">
                <pr:smNativeData xmlns:pr="smNativeData" xmlns="smNativeData" val="SMDATA_15_NR20ahMAAAAlAAAAZQAAAA0AAAAAkAAAAEgAAACQAAAASAAAAAAAAAAAAAAAAAAAAAEAAABQAAAA8UbmkT8YuD8AAAAAAADwvwAAAAAAAOA/AAAAAAAA4D8AAAAAAADgPwAAAAAAAOA/AAAAAAAA4D8AAAAAAADgPwAAAAAAAOA/AAAAAAAA4D8CAAAAjAAAAAEAAAAAAAAA6Pb1AP///wgAAAAAAAAAAAAAAAAAAAAAAAAAAAAAAAAAAAAAeAAAAAEAAABAAAAAAAAAAAAAAABaAAAAAAAAAAAAAAAAAAAAAAAAAAAAAAAAAAAAAAAAAAAAAAAAAAAAAAAAAAAAAAAAAAAAAAAAAAAAAAAAAAAAAAAAAAAAAAAAAAAAFAAAADwAAAABAAAAAAAAAAKAkAAKAAAAAQAAACMAAAAjAAAAIwAAAB4AAAAAAAAAZAAAAGQAAAAAAAAAZAAAAGQAAAAVAAAAYAAAAAAAAAAAAAAADwAAACADAAAAAAAAAAAAAAEAAACgMgAAVgcAAKr4//8BAAAAf39/AAEAAABkAAAAAAAAABQAAABAHwAAAAAAACYAAAAAAAAAwOD//wAAAAAmAAAAZAAAABYAAABMAAAAAQAAAAAAAAAGAAAAAAAAAAEAAAAAAAAAWAAAABwAAAAcAAAAZAAAAGQAAAAAAAAAy8vLAFgAAAAcAAAAHAAAAGQAAABkAAAAAAAAABcAAAAUAAAAAAAAAAAAAAD/fwAA/38AAAAAAAAJAAAABAAAAAAAAAAeAAAAaAAAAAAAAAAAAAAAAAAAAAAAAAAAAAAAECcAABAnAAAAAAAAAAAAAAAAAAAAAAAAAAAAAAAAAAAAAAAAAAAAAFA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6Pb1AP///wEAAAAAAAAAAAAAAAAAAAAAAAAAAAAAAAAAAAAAAAAAAAKAkAB/f38AAAAAAMvLywDAwP8Af39/AAAAAAAAAAAAAAAAAAAAAAAAAAAAIQAAABgAAAAUAAAA0AIAAOAQAABIGwAAcBoAABAAAAAmAAAACAAAAP//////////"/>
              </a:ext>
            </a:extLst>
          </p:cNvSpPr>
          <p:nvPr/>
        </p:nvSpPr>
        <p:spPr>
          <a:xfrm>
            <a:off x="457200" y="274320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E8F6F5"/>
          </a:solidFill>
          <a:ln w="6350" cap="flat" cmpd="sng" algn="ctr">
            <a:solidFill>
              <a:srgbClr val="028090"/>
            </a:solidFill>
            <a:prstDash val="solid"/>
            <a:headEnd type="none"/>
            <a:tailEnd type="none"/>
          </a:ln>
          <a:effectLst>
            <a:outerShdw blurRad="50800" dist="25145" dir="2700000" algn="bl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mgMAAHARAAB+GgAAPRMAABAAAAAmAAAACAAAAP//////////"/>
              </a:ext>
            </a:extLst>
          </p:cNvSpPr>
          <p:nvPr/>
        </p:nvSpPr>
        <p:spPr>
          <a:xfrm>
            <a:off x="585470" y="2834640"/>
            <a:ext cx="372110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Respuesta predecible</a:t>
            </a:r>
            <a:endParaRPr lang="en-us" sz="1400" cap="none"/>
          </a:p>
        </p:txBody>
      </p:sp>
      <p:sp>
        <p:nvSpPr>
          <p:cNvPr id="11" name="Text 9"/>
          <p:cNvSpPr>
            <a:extLst>
              <a:ext uri="smNativeData">
                <pr:smNativeData xmlns:pr="smNativeData" xmlns="smNativeData" val="SMDATA_15_NR2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mgMAAFoTAAB+GgAA4BkAABAAAAAmAAAACAAAAP//////////"/>
              </a:ext>
            </a:extLst>
          </p:cNvSpPr>
          <p:nvPr/>
        </p:nvSpPr>
        <p:spPr>
          <a:xfrm>
            <a:off x="585470" y="3145790"/>
            <a:ext cx="3721100" cy="10604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Las prioridades atienden primero lo urgente.</a:t>
            </a:r>
            <a:endParaRPr lang="en-us" sz="1300" cap="none"/>
          </a:p>
        </p:txBody>
      </p:sp>
      <p:sp>
        <p:nvSpPr>
          <p:cNvPr id="12" name="Shape 10"/>
          <p:cNvSpPr>
            <a:extLst>
              <a:ext uri="smNativeData">
                <pr:smNativeData xmlns:pr="smNativeData" xmlns="smNativeData" val="SMDATA_15_NR20ahMAAAAlAAAAZQAAAA0AAAAAkAAAAEgAAACQAAAASAAAAAAAAAAAAAAAAAAAAAEAAABQAAAA8UbmkT8YuD8AAAAAAADwvwAAAAAAAOA/AAAAAAAA4D8AAAAAAADgPwAAAAAAAOA/AAAAAAAA4D8AAAAAAADgPwAAAAAAAOA/AAAAAAAA4D8CAAAAjAAAAAEAAAAAAAAA6Pb1AP///wgAAAAAAAAAAAAAAAAAAAAAAAAAAAAAAAAAAAAAeAAAAAEAAABAAAAAAAAAAAAAAABaAAAAAAAAAAAAAAAAAAAAAAAAAAAAAAAAAAAAAAAAAAAAAAAAAAAAAAAAAAAAAAAAAAAAAAAAAAAAAAAAAAAAAAAAAAAAAAAAAAAAFAAAADwAAAABAAAAAAAAAAKAkAAKAAAAAQAAACMAAAAjAAAAIwAAAB4AAAAAAAAAZAAAAGQAAAAAAAAAZAAAAGQAAAAVAAAAYAAAAAAAAAAAAAAADwAAACADAAAAAAAAAAAAAAEAAACgMgAAVgcAAKr4//8BAAAAf39/AAEAAABkAAAAAAAAABQAAABAHwAAAAAAACYAAAAAAAAAwOD//wAAAAAmAAAAZAAAABYAAABMAAAAAQAAAAAAAAAGAAAAAAAAAAEAAAAAAAAAWAAAABwAAAAcAAAAZAAAAGQAAAAAAAAAy8vLAFgAAAAcAAAAHAAAAGQAAABkAAAAAAAAABcAAAAUAAAAAAAAAAAAAAD/fwAA/38AAAAAAAAJAAAABAAAAAAAAAAeAAAAaAAAAAAAAAAAAAAAAAAAAAAAAAAAAAAAECcAABAnAAAAAAAAAAAAAAAAAAAAAAAAAAAAAAAAAAAAAAAAAAAAAFA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6Pb1AP///wEAAAAAAAAAAAAAAAAAAAAAAAAAAAAAAAAAAAAAAAAAAAKAkAB/f38AAAAAAMvLywDAwP8Af39/AAAAAAAAAAAAAAAAAAAAAAAAAAAAIQAAABgAAAAUAAAAsBwAAOAQAAAoNQAAcBoAABAAAAAmAAAACAAAAP//////////"/>
              </a:ext>
            </a:extLst>
          </p:cNvSpPr>
          <p:nvPr/>
        </p:nvSpPr>
        <p:spPr>
          <a:xfrm>
            <a:off x="4663440" y="274320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E8F6F5"/>
          </a:solidFill>
          <a:ln w="6350" cap="flat" cmpd="sng" algn="ctr">
            <a:solidFill>
              <a:srgbClr val="028090"/>
            </a:solidFill>
            <a:prstDash val="solid"/>
            <a:headEnd type="none"/>
            <a:tailEnd type="none"/>
          </a:ln>
          <a:effectLst>
            <a:outerShdw blurRad="50800" dist="25145" dir="2700000" algn="bl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KoAOJs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eh0AAHARAABeNAAAPRMAABAAAAAmAAAACAAAAP//////////"/>
              </a:ext>
            </a:extLst>
          </p:cNvSpPr>
          <p:nvPr/>
        </p:nvSpPr>
        <p:spPr>
          <a:xfrm>
            <a:off x="4791710" y="2834640"/>
            <a:ext cx="372110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Escalabilidad</a:t>
            </a:r>
            <a:endParaRPr lang="en-us" sz="1400" cap="none"/>
          </a:p>
        </p:txBody>
      </p:sp>
      <p:sp>
        <p:nvSpPr>
          <p:cNvPr id="14" name="Text 12"/>
          <p:cNvSpPr>
            <a:extLst>
              <a:ext uri="smNativeData">
                <pr:smNativeData xmlns:pr="smNativeData" xmlns="smNativeData" val="SMDATA_15_NR2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GQtOW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eh0AAFoTAABeNAAA4BkAABAAAAAmAAAACAAAAP//////////"/>
              </a:ext>
            </a:extLst>
          </p:cNvSpPr>
          <p:nvPr/>
        </p:nvSpPr>
        <p:spPr>
          <a:xfrm>
            <a:off x="4791710" y="3145790"/>
            <a:ext cx="3721100" cy="10604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Se agregan funciones sin reescribir todo el loop().</a:t>
            </a:r>
            <a:endParaRPr lang="en-us" sz="13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0AIAAJMBAABwNQAAEAUAABAAAAAmAAAACAAAAP//////////"/>
              </a:ext>
            </a:extLst>
          </p:cNvSpPr>
          <p:nvPr/>
        </p:nvSpPr>
        <p:spPr>
          <a:xfrm>
            <a:off x="457200" y="255905"/>
            <a:ext cx="8229600" cy="5670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32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Concepto central: Tasks</a:t>
            </a:r>
            <a:endParaRPr lang="en-us" sz="3200" cap="none"/>
          </a:p>
        </p:txBody>
      </p:sp>
      <p:sp>
        <p:nvSpPr>
          <p:cNvPr id="3" name="Text 1"/>
          <p:cNvSpPr>
            <a:extLst>
              <a:ext uri="smNativeData">
                <pr:smNativeData xmlns:pr="smNativeData" xmlns="smNativeData" val="SMDATA_15_NR2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0AIAAOgFAACgIAAAuBoAABAAAAAmAAAACAAAAP//////////"/>
              </a:ext>
            </a:extLst>
          </p:cNvSpPr>
          <p:nvPr/>
        </p:nvSpPr>
        <p:spPr>
          <a:xfrm>
            <a:off x="457200" y="960120"/>
            <a:ext cx="4846320" cy="33832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Una task es un mini-programa dentro del programa</a:t>
            </a:r>
            <a:endParaRPr lang="en-us" sz="1500" cap="none"/>
          </a:p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Se escribe como una función con bucle infinito: for(;;) { ... }</a:t>
            </a:r>
            <a:endParaRPr lang="en-us" sz="1500" cap="none"/>
          </a:p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Tiene nombre, prioridad y stack (memoria propia)</a:t>
            </a:r>
            <a:endParaRPr lang="en-us" sz="1500" cap="none"/>
          </a:p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El scheduler alterna entre tasks según prioridad y estado</a:t>
            </a:r>
            <a:endParaRPr lang="en-us" sz="1500" cap="none"/>
          </a:p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En un núcleo, solo una task corre a la vez</a:t>
            </a:r>
            <a:endParaRPr lang="en-us" sz="1500" cap="none"/>
          </a:p>
        </p:txBody>
      </p:sp>
      <p:sp>
        <p:nvSpPr>
          <p:cNvPr id="4" name="Text 2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wCEAAHgGAABwNQAACwgAABAAAAAmAAAACAAAAP//////////"/>
              </a:ext>
            </a:extLst>
          </p:cNvSpPr>
          <p:nvPr/>
        </p:nvSpPr>
        <p:spPr>
          <a:xfrm>
            <a:off x="5486400" y="1051560"/>
            <a:ext cx="3200400" cy="25590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200" cap="none">
                <a:solidFill>
                  <a:srgbClr val="5A6A7A"/>
                </a:solidFill>
              </a:rPr>
              <a:t>Tiempo -&gt;</a:t>
            </a:r>
            <a:endParaRPr lang="en-us" sz="1200" cap="none"/>
          </a:p>
        </p:txBody>
      </p:sp>
      <p:sp>
        <p:nvSpPr>
          <p:cNvPr id="5" name="Text 3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eCEAALgIAACgKQAAhQoAABAAAAAmAAAACAAAAP//////////"/>
              </a:ext>
            </a:extLst>
          </p:cNvSpPr>
          <p:nvPr/>
        </p:nvSpPr>
        <p:spPr>
          <a:xfrm>
            <a:off x="5440680" y="1417320"/>
            <a:ext cx="132588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200" cap="none">
                <a:solidFill>
                  <a:srgbClr val="1A1A2E"/>
                </a:solidFill>
              </a:rPr>
              <a:t>Task LED 1</a:t>
            </a:r>
            <a:endParaRPr lang="en-us" sz="1200" cap="none"/>
          </a:p>
        </p:txBody>
      </p:sp>
      <p:sp>
        <p:nvSpPr>
          <p:cNvPr id="6" name="Shape 4"/>
          <p:cNvSpPr>
            <a:extLst>
              <a:ext uri="smNativeData">
                <pr:smNativeData xmlns:pr="smNativeData" xmlns="smNativeData" val="SMDATA_15_NR20ahMAAAAlAAAAZAAAAA0AAAAAkAAAAEgAAACQAAAASAAAAAAAAAAAAAAAAAAAAAEAAABQAAAAAAAAAAAA4D8AAAAAAADgPwAAAAAAAOA/AAAAAAAA4D8AAAAAAADgPwAAAAAAAOA/AAAAAAAA4D8AAAAAAADgPwAAAAAAAOA/AAAAAAAA4D8CAAAAjAAAAAEAAAAAAAAAAoCQ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oCQAAAAAAEAAAAAAAAAAAAAAAAAAAAAAAAAAAAAAAAAAAAAAAAAAAAAAAB/f38AAAAAA8zMzADAwP8Af39/AAAAAAAAAAAAAAAAAAAAAAAAAAAAIQAAABgAAAAUAAAAMCoAAOMIAABTLAAAdgoAABAAAAAmAAAACAAAAP//////////"/>
              </a:ext>
            </a:extLst>
          </p:cNvSpPr>
          <p:nvPr/>
        </p:nvSpPr>
        <p:spPr>
          <a:xfrm>
            <a:off x="6858000" y="1444625"/>
            <a:ext cx="347345" cy="2559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</p:sp>
      <p:sp>
        <p:nvSpPr>
          <p:cNvPr id="7" name="Shape 5"/>
          <p:cNvSpPr>
            <a:extLst>
              <a:ext uri="smNativeData">
                <pr:smNativeData xmlns:pr="smNativeData" xmlns="smNativeData" val="SMDATA_15_NR20ahMAAAAlAAAAZAAAAA0AAAAAkAAAAEgAAACQAAAASAAAAAAAAAAAAAAAAAAAAAEAAABQAAAAAAAAAAAA4D8AAAAAAADgPwAAAAAAAOA/AAAAAAAA4D8AAAAAAADgPwAAAAAAAOA/AAAAAAAA4D8AAAAAAADgPwAAAAAAAOA/AAAAAAAA4D8CAAAAjAAAAAEAAAAAAAAAAoCQ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oCQAAAAAAEAAAAAAAAAAAAAAAAAAAAAAAAAAAAAAAAAAAAAAAAAAAAAAAB/f38AAAAAA8zMzADAwP8Af39/AAAAAAAAAAAAAAAAAAAAAAAAAAAAIQAAABgAAAAUAAAASC0AAOMIAABrLwAAdgoAABAAAAAmAAAACAAAAP//////////"/>
              </a:ext>
            </a:extLst>
          </p:cNvSpPr>
          <p:nvPr/>
        </p:nvSpPr>
        <p:spPr>
          <a:xfrm>
            <a:off x="7360920" y="1444625"/>
            <a:ext cx="347345" cy="2559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</p:sp>
      <p:sp>
        <p:nvSpPr>
          <p:cNvPr id="8" name="Shape 6"/>
          <p:cNvSpPr>
            <a:extLst>
              <a:ext uri="smNativeData">
                <pr:smNativeData xmlns:pr="smNativeData" xmlns="smNativeData" val="SMDATA_15_NR20ahMAAAAlAAAAZAAAAA0AAAAAkAAAAEgAAACQAAAASAAAAAAAAAAAAAAAAAAAAAEAAABQAAAAAAAAAAAA4D8AAAAAAADgPwAAAAAAAOA/AAAAAAAA4D8AAAAAAADgPwAAAAAAAOA/AAAAAAAA4D8AAAAAAADgPwAAAAAAAOA/AAAAAAAA4D8CAAAAjAAAAAEAAAAAAAAAAoCQ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oCQAAAAAAEAAAAAAAAAAAAAAAAAAAAAAAAAAAAAAAAAAAAAAAAAAAAAAAB/f38AAAAAA8zMzADAwP8Af39/AAAAAAAAAAAAAAAAAAAAAAAAAAAAIQAAABgAAAAUAAAAYDAAAOMIAACDMgAAdgoAABAAAAAmAAAACAAAAP//////////"/>
              </a:ext>
            </a:extLst>
          </p:cNvSpPr>
          <p:nvPr/>
        </p:nvSpPr>
        <p:spPr>
          <a:xfrm>
            <a:off x="7863840" y="1444625"/>
            <a:ext cx="347345" cy="2559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</p:sp>
      <p:sp>
        <p:nvSpPr>
          <p:cNvPr id="9" name="Shape 7"/>
          <p:cNvSpPr>
            <a:extLst>
              <a:ext uri="smNativeData">
                <pr:smNativeData xmlns:pr="smNativeData" xmlns="smNativeData" val="SMDATA_15_NR20ahMAAAAlAAAAZAAAAA0AAAAAkAAAAEgAAACQAAAASAAAAAAAAAAAAAAAAAAAAAEAAABQAAAAAAAAAAAA4D8AAAAAAADgPwAAAAAAAOA/AAAAAAAA4D8AAAAAAADgPwAAAAAAAOA/AAAAAAAA4D8AAAAAAADgPwAAAAAAAOA/AAAAAAAA4D8CAAAAjAAAAAEAAAAAAAAAAoCQ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oCQAAAAAAEAAAAAAAAAAAAAAAAAAAAAAAAAAAAAAAAAAAAAAAAAAAAAAAB/f38AAAAAA8zMzADAwP8Af39/AAAAAAAAAAAAAAAAAAAAAAAAAAAAIQAAABgAAAAUAAAAeDMAAOMIAACbNQAAdgoAABAAAAAmAAAACAAAAP//////////"/>
              </a:ext>
            </a:extLst>
          </p:cNvSpPr>
          <p:nvPr/>
        </p:nvSpPr>
        <p:spPr>
          <a:xfrm>
            <a:off x="8366760" y="1444625"/>
            <a:ext cx="347345" cy="2559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</p:sp>
      <p:sp>
        <p:nvSpPr>
          <p:cNvPr id="10" name="Text 8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eCEAAMgNAACgKQAAlQ8AABAAAAAmAAAACAAAAP//////////"/>
              </a:ext>
            </a:extLst>
          </p:cNvSpPr>
          <p:nvPr/>
        </p:nvSpPr>
        <p:spPr>
          <a:xfrm>
            <a:off x="5440680" y="2240280"/>
            <a:ext cx="132588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200" cap="none">
                <a:solidFill>
                  <a:srgbClr val="1A1A2E"/>
                </a:solidFill>
              </a:rPr>
              <a:t>Task LED 2</a:t>
            </a:r>
            <a:endParaRPr lang="en-us" sz="1200" cap="none"/>
          </a:p>
        </p:txBody>
      </p:sp>
      <p:sp>
        <p:nvSpPr>
          <p:cNvPr id="11" name="Shape 9"/>
          <p:cNvSpPr>
            <a:extLst>
              <a:ext uri="smNativeData">
                <pr:smNativeData xmlns:pr="smNativeData" xmlns="smNativeData" val="SMDATA_15_NR20ahMAAAAlAAAAZAAAAA0AAAAAkAAAAEgAAACQAAAASAAAAAAAAAAAAAAAAAAAAAEAAABQAAAAAAAAAAAA4D8AAAAAAADgPwAAAAAAAOA/AAAAAAAA4D8AAAAAAADgPwAAAAAAAOA/AAAAAAAA4D8AAAAAAADgPwAAAAAAAOA/AAAAAAAA4D8CAAAAjAAAAAEAAAAAAAAAAKiW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KiWAAAAAAEAAAAAAAAAAAAAAAAAAAAAAAAAAAAAAAAAAAAAAAAAAAAAAAB/f38AAAAAA8zMzADAwP8Af39/AAAAAAAAAAAAAAAAAAAAAAAAAAAAIQAAABgAAAAUAAAA3SoAAPMNAAAALQAAhg8AABAAAAAmAAAACAAAAP//////////"/>
              </a:ext>
            </a:extLst>
          </p:cNvSpPr>
          <p:nvPr/>
        </p:nvSpPr>
        <p:spPr>
          <a:xfrm>
            <a:off x="6967855" y="2267585"/>
            <a:ext cx="347345" cy="255905"/>
          </a:xfrm>
          <a:prstGeom prst="rect">
            <a:avLst/>
          </a:prstGeom>
          <a:solidFill>
            <a:srgbClr val="00A896"/>
          </a:solidFill>
          <a:ln>
            <a:noFill/>
          </a:ln>
          <a:effectLst/>
        </p:spPr>
      </p:sp>
      <p:sp>
        <p:nvSpPr>
          <p:cNvPr id="12" name="Shape 10"/>
          <p:cNvSpPr>
            <a:extLst>
              <a:ext uri="smNativeData">
                <pr:smNativeData xmlns:pr="smNativeData" xmlns="smNativeData" val="SMDATA_15_NR20ahMAAAAlAAAAZAAAAA0AAAAAkAAAAEgAAACQAAAASAAAAAAAAAAAAAAAAAAAAAEAAABQAAAAAAAAAAAA4D8AAAAAAADgPwAAAAAAAOA/AAAAAAAA4D8AAAAAAADgPwAAAAAAAOA/AAAAAAAA4D8AAAAAAADgPwAAAAAAAOA/AAAAAAAA4D8CAAAAjAAAAAEAAAAAAAAAAKiW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KiWAAAAAAEAAAAAAAAAAAAAAAAAAAAAAAAAAAAAAAAAAAAAAAAAAAAAAAB/f38AAAAAA8zMzADAwP8Af39/AAAAAAAAAAAAAAAAAAAAAAAAAAAAIQAAABgAAAAUAAAA9S0AAPMNAAAYMAAAhg8AABAAAAAmAAAACAAAAP//////////"/>
              </a:ext>
            </a:extLst>
          </p:cNvSpPr>
          <p:nvPr/>
        </p:nvSpPr>
        <p:spPr>
          <a:xfrm>
            <a:off x="7470775" y="2267585"/>
            <a:ext cx="347345" cy="255905"/>
          </a:xfrm>
          <a:prstGeom prst="rect">
            <a:avLst/>
          </a:prstGeom>
          <a:solidFill>
            <a:srgbClr val="00A896"/>
          </a:solidFill>
          <a:ln>
            <a:noFill/>
          </a:ln>
          <a:effectLst/>
        </p:spPr>
      </p:sp>
      <p:sp>
        <p:nvSpPr>
          <p:cNvPr id="13" name="Shape 11"/>
          <p:cNvSpPr>
            <a:extLst>
              <a:ext uri="smNativeData">
                <pr:smNativeData xmlns:pr="smNativeData" xmlns="smNativeData" val="SMDATA_15_NR20ahMAAAAlAAAAZAAAAA0AAAAAkAAAAEgAAACQAAAASAAAAAAAAAAAAAAAAAAAAAEAAABQAAAAAAAAAAAA4D8AAAAAAADgPwAAAAAAAOA/AAAAAAAA4D8AAAAAAADgPwAAAAAAAOA/AAAAAAAA4D8AAAAAAADgPwAAAAAAAOA/AAAAAAAA4D8CAAAAjAAAAAEAAAAAAAAAAKiW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KiWAAAAAAEAAAAAAAAAAAAAAAAAAAAAAAAAAAAAAAAAAAAAAAAAAAAAAAB/f38AAAAAA8zMzADAwP8Af39/AAAAAAAAAAAAAAAAAAAAAAAAAAAAIQAAABgAAAAUAAAADTEAAPMNAAAwMwAAhg8AABAAAAAmAAAACAAAAP//////////"/>
              </a:ext>
            </a:extLst>
          </p:cNvSpPr>
          <p:nvPr/>
        </p:nvSpPr>
        <p:spPr>
          <a:xfrm>
            <a:off x="7973695" y="2267585"/>
            <a:ext cx="347345" cy="255905"/>
          </a:xfrm>
          <a:prstGeom prst="rect">
            <a:avLst/>
          </a:prstGeom>
          <a:solidFill>
            <a:srgbClr val="00A896"/>
          </a:solidFill>
          <a:ln>
            <a:noFill/>
          </a:ln>
          <a:effectLst/>
        </p:spPr>
      </p:sp>
      <p:sp>
        <p:nvSpPr>
          <p:cNvPr id="14" name="Shape 12"/>
          <p:cNvSpPr>
            <a:extLst>
              <a:ext uri="smNativeData">
                <pr:smNativeData xmlns:pr="smNativeData" xmlns="smNativeData" val="SMDATA_15_NR20ahMAAAAlAAAAZAAAAA0AAAAAkAAAAEgAAACQAAAASAAAAAAAAAAAAAAAAAAAAAEAAABQAAAAAAAAAAAA4D8AAAAAAADgPwAAAAAAAOA/AAAAAAAA4D8AAAAAAADgPwAAAAAAAOA/AAAAAAAA4D8AAAAAAADgPwAAAAAAAOA/AAAAAAAA4D8CAAAAjAAAAAEAAAAAAAAAAKiW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KiWAAAAAAEAAAAAAAAAAAAAAAAAAAAAAAAAAAAAAAAAAAAAAAAAAAAAAAB/f38AAAAAA8zMzADAwP8Af39/AAAAAAAAAAAAAAAAAAAAAAAAAAAAIQAAABgAAAAUAAAAJTQAAPMNAABINgAAhg8AABAAAAAmAAAACAAAAP//////////"/>
              </a:ext>
            </a:extLst>
          </p:cNvSpPr>
          <p:nvPr/>
        </p:nvSpPr>
        <p:spPr>
          <a:xfrm>
            <a:off x="8476615" y="2267585"/>
            <a:ext cx="347345" cy="255905"/>
          </a:xfrm>
          <a:prstGeom prst="rect">
            <a:avLst/>
          </a:prstGeom>
          <a:solidFill>
            <a:srgbClr val="00A896"/>
          </a:solidFill>
          <a:ln>
            <a:noFill/>
          </a:ln>
          <a:effectLst/>
        </p:spPr>
      </p:sp>
      <p:sp>
        <p:nvSpPr>
          <p:cNvPr id="15" name="Text 13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eCEAANgSAACgKQAApRQAABAAAAAmAAAACAAAAP//////////"/>
              </a:ext>
            </a:extLst>
          </p:cNvSpPr>
          <p:nvPr/>
        </p:nvSpPr>
        <p:spPr>
          <a:xfrm>
            <a:off x="5440680" y="3063240"/>
            <a:ext cx="132588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200" cap="none">
                <a:solidFill>
                  <a:srgbClr val="1A1A2E"/>
                </a:solidFill>
              </a:rPr>
              <a:t>Task otras</a:t>
            </a:r>
            <a:endParaRPr lang="en-us" sz="1200" cap="none"/>
          </a:p>
        </p:txBody>
      </p:sp>
      <p:sp>
        <p:nvSpPr>
          <p:cNvPr id="16" name="Shape 14"/>
          <p:cNvSpPr>
            <a:extLst>
              <a:ext uri="smNativeData">
                <pr:smNativeData xmlns:pr="smNativeData" xmlns="smNativeData" val="SMDATA_15_NR20ahMAAAAlAAAAZAAAAA0AAAAAkAAAAEgAAACQAAAASAAAAAAAAAAAAAAAAAAAAAEAAABQAAAAAAAAAAAA4D8AAAAAAADgPwAAAAAAAOA/AAAAAAAA4D8AAAAAAADgPwAAAAAAAOA/AAAAAAAA4D8AAAAAAADgPwAAAAAAAOA/AAAAAAAA4D8CAAAAjAAAAAEAAAAAAAAAAsOa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sOaAAAAAAEAAAAAAAAAAAAAAAAAAAAAAAAAAAAAAAAAAAAAAAAAAAAAAAB/f38AAAAAA8zMzADAwP8Af39/AAAAAAAAAAAAAAAAAAAAAAAAAAAAIQAAABgAAAAUAAAAiisAAAMTAACtLQAAlhQAABAAAAAmAAAACAAAAP//////////"/>
              </a:ext>
            </a:extLst>
          </p:cNvSpPr>
          <p:nvPr/>
        </p:nvSpPr>
        <p:spPr>
          <a:xfrm>
            <a:off x="7077710" y="3090545"/>
            <a:ext cx="347345" cy="255905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</p:sp>
      <p:sp>
        <p:nvSpPr>
          <p:cNvPr id="17" name="Shape 15"/>
          <p:cNvSpPr>
            <a:extLst>
              <a:ext uri="smNativeData">
                <pr:smNativeData xmlns:pr="smNativeData" xmlns="smNativeData" val="SMDATA_15_NR20ahMAAAAlAAAAZAAAAA0AAAAAkAAAAEgAAACQAAAASAAAAAAAAAAAAAAAAAAAAAEAAABQAAAAAAAAAAAA4D8AAAAAAADgPwAAAAAAAOA/AAAAAAAA4D8AAAAAAADgPwAAAAAAAOA/AAAAAAAA4D8AAAAAAADgPwAAAAAAAOA/AAAAAAAA4D8CAAAAjAAAAAEAAAAAAAAAAsOa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sOaAAAAAAEAAAAAAAAAAAAAAAAAAAAAAAAAAAAAAAAAAAAAAAAAAAAAAAB/f38AAAAAA8zMzADAwP8Af39/AAAAAAAAAAAAAAAAAAAAAAAAAAAAIQAAABgAAAAUAAAAoi4AAAMTAADFMAAAlhQAABAAAAAmAAAACAAAAP//////////"/>
              </a:ext>
            </a:extLst>
          </p:cNvSpPr>
          <p:nvPr/>
        </p:nvSpPr>
        <p:spPr>
          <a:xfrm>
            <a:off x="7580630" y="3090545"/>
            <a:ext cx="347345" cy="255905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</p:sp>
      <p:sp>
        <p:nvSpPr>
          <p:cNvPr id="18" name="Shape 16"/>
          <p:cNvSpPr>
            <a:extLst>
              <a:ext uri="smNativeData">
                <pr:smNativeData xmlns:pr="smNativeData" xmlns="smNativeData" val="SMDATA_15_NR20ahMAAAAlAAAAZAAAAA0AAAAAkAAAAEgAAACQAAAASAAAAAAAAAAAAAAAAAAAAAEAAABQAAAAAAAAAAAA4D8AAAAAAADgPwAAAAAAAOA/AAAAAAAA4D8AAAAAAADgPwAAAAAAAOA/AAAAAAAA4D8AAAAAAADgPwAAAAAAAOA/AAAAAAAA4D8CAAAAjAAAAAEAAAAAAAAAAsOa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sOaAAAAAAEAAAAAAAAAAAAAAAAAAAAAAAAAAAAAAAAAAAAAAAAAAAAAAAB/f38AAAAAA8zMzADAwP8Af39/AAAAAAAAAAAAAAAAAAAAAAAAAAAAIQAAABgAAAAUAAAAujEAAAMTAADdMwAAlhQAABAAAAAmAAAACAAAAP//////////"/>
              </a:ext>
            </a:extLst>
          </p:cNvSpPr>
          <p:nvPr/>
        </p:nvSpPr>
        <p:spPr>
          <a:xfrm>
            <a:off x="8083550" y="3090545"/>
            <a:ext cx="347345" cy="255905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</p:sp>
      <p:sp>
        <p:nvSpPr>
          <p:cNvPr id="19" name="Shape 17"/>
          <p:cNvSpPr>
            <a:extLst>
              <a:ext uri="smNativeData">
                <pr:smNativeData xmlns:pr="smNativeData" xmlns="smNativeData" val="SMDATA_15_NR20ahMAAAAlAAAAZAAAAA0AAAAAkAAAAEgAAACQAAAASAAAAAAAAAAAAAAAAAAAAAEAAABQAAAAAAAAAAAA4D8AAAAAAADgPwAAAAAAAOA/AAAAAAAA4D8AAAAAAADgPwAAAAAAAOA/AAAAAAAA4D8AAAAAAADgPwAAAAAAAOA/AAAAAAAA4D8CAAAAjAAAAAEAAAAAAAAAAsOa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sOaAAAAAAEAAAAAAAAAAAAAAAAAAAAAAAAAAAAAAAAAAAAAAAAAAAAAAAB/f38AAAAAA8zMzADAwP8Af39/AAAAAAAAAAAAAAAAAAAAAAAAAAAAIQAAABgAAAAUAAAA0jQAAAMTAAD1NgAAlhQAABAAAAAmAAAACAAAAP//////////"/>
              </a:ext>
            </a:extLst>
          </p:cNvSpPr>
          <p:nvPr/>
        </p:nvSpPr>
        <p:spPr>
          <a:xfrm>
            <a:off x="8586470" y="3090545"/>
            <a:ext cx="347345" cy="255905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0AIAAJMBAABwNQAAEAUAABAAAAAmAAAACAAAAP//////////"/>
              </a:ext>
            </a:extLst>
          </p:cNvSpPr>
          <p:nvPr/>
        </p:nvSpPr>
        <p:spPr>
          <a:xfrm>
            <a:off x="457200" y="255905"/>
            <a:ext cx="8229600" cy="5670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32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Scheduler, prioridades y delay</a:t>
            </a:r>
            <a:endParaRPr lang="en-us" sz="3200" cap="none"/>
          </a:p>
        </p:txBody>
      </p:sp>
      <p:sp>
        <p:nvSpPr>
          <p:cNvPr id="3" name="Text 1"/>
          <p:cNvSpPr>
            <a:extLst>
              <a:ext uri="smNativeData">
                <pr:smNativeData xmlns:pr="smNativeData" xmlns="smNativeData" val="SMDATA_15_NR2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0AIAAOgFAADAIQAAmBkAABAAAAAmAAAACAAAAP//////////"/>
              </a:ext>
            </a:extLst>
          </p:cNvSpPr>
          <p:nvPr/>
        </p:nvSpPr>
        <p:spPr>
          <a:xfrm>
            <a:off x="457200" y="960120"/>
            <a:ext cx="5029200" cy="3200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Mayor número de prioridad = más importante</a:t>
            </a:r>
            <a:endParaRPr lang="en-us" sz="1500" cap="none"/>
          </a:p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El scheduler es expulsivo: si entra una task más urgente, le quita el CPU a la otra</a:t>
            </a:r>
            <a:endParaRPr lang="en-us" sz="1500" cap="none"/>
          </a:p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vTaskDelay() hace esperar sin bloquear el resto del sistema</a:t>
            </a:r>
            <a:endParaRPr lang="en-us" sz="1500" cap="none"/>
          </a:p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Dentro de una task, preferir vTaskDelay() (o pdMS_TO_TICKS) y no delay()</a:t>
            </a:r>
            <a:endParaRPr lang="en-us" sz="1500" cap="none"/>
          </a:p>
        </p:txBody>
      </p:sp>
      <p:sp>
        <p:nvSpPr>
          <p:cNvPr id="4" name="Shape 2"/>
          <p:cNvSpPr>
            <a:extLst>
              <a:ext uri="smNativeData">
                <pr:smNativeData xmlns:pr="smNativeData" xmlns="smNativeData" val="SMDATA_15_NR20ahMAAAAlAAAAZQAAAA0AAAAAkAAAAEgAAACQAAAASAAAAAAAAAAAAAAAAAAAAAEAAABQAAAANSkF3V7SqD8AAAAAAADwvwAAAAAAAOA/AAAAAAAA4D8AAAAAAADgPwAAAAAAAOA/AAAAAAAA4D8AAAAAAADgPwAAAAAAAOA/AAAAAAAA4D8CAAAAjAAAAAEAAAAAAAAA6Pb1AP///wgAAAAAAAAAAAAAAAAAAAAAAAAAAAAAAAAAAAAAeAAAAAEAAABAAAAAAAAAAAAAAABaAAAAAAAAAAAAAAAAAAAAAAAAAAAAAAAAAAAAAAAAAAAAAAAAAAAAAAAAAAAAAAAAAAAAAAAAAAAAAAAAAAAAAAAAAAAAAAAAAAAAFAAAADwAAAABAAAAAAAAAAColgAKAAAAAQAAACMAAAAjAAAAIwAAAB4AAAAAAAAAZAAAAGQAAAAAAAAAZAAAAGQAAAAVAAAAYAAAAAAAAAAAAAAADwAAACADAAAAAAAAAAAAAAEAAACgMgAAVgcAAKr4//8BAAAAf39/AAEAAABkAAAAAAAAABQAAABAHwAAAAAAACYAAAAAAAAAwOD//wAAAAAmAAAAZAAAABYAAABMAAAAAQAAAAAAAAAGAAAAAAAAAAEAAAAAAAAAWAAAABwAAAAcAAAAZAAAAGQAAAAAAAAAy8vLAFgAAAAcAAAAHAAAAGQAAABkAAAAAAAAABcAAAAUAAAAAAAAAAAAAAD/fwAA/38AAAAAAAAJAAAABAAAAAAAAAAeAAAAaAAAAAAAAAAAAAAAAAAAAAAAAAAAAAAAECcAABAnAAAAAAAAAAAAAAAAAAAAAAAAAAAAAAAAAAAAAAAAAAAAAFA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6Pb1AAAAAAEAAAAAAAAAAAAAAAAAAAAAAAAAAAAAAAAAAAAAAAAAAAColgB/f38AAAAAAMvLywDAwP8Af39/AAAAAAAAAAAAAAAAAAAAAAAAAAAAIQAAABgAAAAUAAAA4CIAAHgGAABwNQAAKBoAABAAAAAmAAAACAAAAP//////////"/>
              </a:ext>
            </a:extLst>
          </p:cNvSpPr>
          <p:nvPr/>
        </p:nvSpPr>
        <p:spPr>
          <a:xfrm>
            <a:off x="5669280" y="1051560"/>
            <a:ext cx="3017520" cy="3200400"/>
          </a:xfrm>
          <a:prstGeom prst="roundRect">
            <a:avLst>
              <a:gd name="adj" fmla="val 2424"/>
            </a:avLst>
          </a:prstGeom>
          <a:solidFill>
            <a:srgbClr val="E8F6F5"/>
          </a:solidFill>
          <a:ln w="6350" cap="flat" cmpd="sng" algn="ctr">
            <a:solidFill>
              <a:srgbClr val="00A896"/>
            </a:solidFill>
            <a:prstDash val="solid"/>
            <a:headEnd type="none"/>
            <a:tailEnd type="none"/>
          </a:ln>
          <a:effectLst>
            <a:outerShdw blurRad="50800" dist="25145" dir="2700000" algn="bl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qiMAAAgHAACmNAAA1QgAABAAAAAmAAAACAAAAP//////////"/>
              </a:ext>
            </a:extLst>
          </p:cNvSpPr>
          <p:nvPr/>
        </p:nvSpPr>
        <p:spPr>
          <a:xfrm>
            <a:off x="5797550" y="1143000"/>
            <a:ext cx="276098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b="1" cap="none">
                <a:solidFill>
                  <a:srgbClr val="00A896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Ejemplo</a:t>
            </a:r>
            <a:endParaRPr lang="en-us" sz="1400" cap="none"/>
          </a:p>
        </p:txBody>
      </p:sp>
      <p:sp>
        <p:nvSpPr>
          <p:cNvPr id="6" name="Text 4"/>
          <p:cNvSpPr>
            <a:extLst>
              <a:ext uri="smNativeData">
                <pr:smNativeData xmlns:pr="smNativeData" xmlns="smNativeData" val="SMDATA_15_NR2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qiMAAPIIAACmNAAAmBkAABAAAAAmAAAACAAAAP//////////"/>
              </a:ext>
            </a:extLst>
          </p:cNvSpPr>
          <p:nvPr/>
        </p:nvSpPr>
        <p:spPr>
          <a:xfrm>
            <a:off x="5797550" y="1454150"/>
            <a:ext cx="2760980" cy="270637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Alta prioridad: medir un período con precisión.</a:t>
            </a:r>
            <a:endParaRPr lang="en-us" sz="1300" cap="none"/>
          </a:p>
          <a:p>
            <a:pPr marL="0" indent="0">
              <a:buNone/>
            </a:pP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Baja prioridad: un cálculo pesado.</a:t>
            </a:r>
            <a:endParaRPr lang="en-us" sz="1300" cap="none"/>
          </a:p>
          <a:p>
            <a:pPr marL="0" indent="0">
              <a:buNone/>
            </a:pP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Si subimos la prioridad del cálculo, la medición pierde tiempos: eso es jitter.</a:t>
            </a:r>
            <a:endParaRPr lang="en-us" sz="13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0AIAAJMBAABwNQAAEAUAABAAAAAmAAAACAAAAP//////////"/>
              </a:ext>
            </a:extLst>
          </p:cNvSpPr>
          <p:nvPr/>
        </p:nvSpPr>
        <p:spPr>
          <a:xfrm>
            <a:off x="457200" y="255905"/>
            <a:ext cx="8229600" cy="5670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32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Dual-core en ESP32</a:t>
            </a:r>
            <a:endParaRPr lang="en-us" sz="3200" cap="none"/>
          </a:p>
        </p:txBody>
      </p:sp>
      <p:sp>
        <p:nvSpPr>
          <p:cNvPr id="3" name="Shape 1"/>
          <p:cNvSpPr>
            <a:extLst>
              <a:ext uri="smNativeData">
                <pr:smNativeData xmlns:pr="smNativeData" xmlns="smNativeData" val="SMDATA_15_NR20ahMAAAAlAAAAZQAAAA0AAAAAkAAAAEgAAACQAAAASAAAAAAAAAAAAAAAAAAAAAEAAABQAAAAYtaLoZxopz8AAAAAAADwvwAAAAAAAOA/AAAAAAAA4D8AAAAAAADgPwAAAAAAAOA/AAAAAAAA4D8AAAAAAADgPwAAAAAAAOA/AAAAAAAA4D8CAAAAjAAAAAEAAAAAAAAA6Pb1AP///wgAAAAAAAAAAAAAAAAAAAAAAAAAAAAAAAAAAAAAeAAAAAEAAABAAAAAAAAAAAAAAABaAAAAAAAAAAAAAAAAAAAAAAAAAAAAAAAAAAAAAAAAAAAAAAAAAAAAAAAAAAAAAAAAAAAAAAAAAAAAAAAAAAAAAAAAAAAAAAAAAAAAFAAAADwAAAABAAAAAAAAAAKAkAAKAAAAAQAAACMAAAAjAAAAIwAAAB4AAAAAAAAAZAAAAGQAAAAAAAAAZAAAAGQAAAAVAAAAYAAAAAAAAAAAAAAADwAAACADAAAAAAAAAAAAAAEAAACgMgAAVgcAAKr4//8BAAAAf39/AAEAAABkAAAAAAAAABQAAABAHwAAAAAAACYAAAAAAAAAwOD//wAAAAAmAAAAZAAAABYAAABMAAAAAQAAAAAAAAAGAAAAAAAAAAEAAAAAAAAAWAAAABwAAAAcAAAAZAAAAGQAAAAAAAAAy8vLAFgAAAAcAAAAHAAAAGQAAABkAAAAAAAAABcAAAAUAAAAAAAAAAAAAAD/fwAA/38AAAAAAAAJAAAABAAAAF8AYAAeAAAAaAAAAAAAAAAAAAAAAAAAAAAAAAAAAAAAECcAABAnAAAAAAAAAAAAAAAAAAAAAAAAAAAAAAAAAAAAAAAAAAAAAFA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6Pb1AAAAAAEAAAAAAAAAAAAAAAAAAAAAAAAAAAAAAAAAAAAAAAAAAAKAkAB/f38AAAAAAMvLywDAwP8Af39/AAAAAAAAAAAAAAAAAAAAAAAAAAAAIQAAABgAAAAUAAAA0AIAADAGAABIGwAA4BkAABAAAAAmAAAACAAAAP//////////"/>
              </a:ext>
            </a:extLst>
          </p:cNvSpPr>
          <p:nvPr/>
        </p:nvSpPr>
        <p:spPr>
          <a:xfrm>
            <a:off x="457200" y="1005840"/>
            <a:ext cx="3977640" cy="3200400"/>
          </a:xfrm>
          <a:prstGeom prst="roundRect">
            <a:avLst>
              <a:gd name="adj" fmla="val 2286"/>
            </a:avLst>
          </a:prstGeom>
          <a:solidFill>
            <a:srgbClr val="E8F6F5"/>
          </a:solidFill>
          <a:ln w="6350" cap="flat" cmpd="sng" algn="ctr">
            <a:solidFill>
              <a:srgbClr val="028090"/>
            </a:solidFill>
            <a:prstDash val="solid"/>
            <a:headEnd type="none"/>
            <a:tailEnd type="none"/>
          </a:ln>
          <a:effectLst>
            <a:outerShdw blurRad="50800" dist="25145" dir="2700000" algn="bl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mgMAAMAGAAB+GgAAjQgAABAAAAAmAAAACAAAAP//////////"/>
              </a:ext>
            </a:extLst>
          </p:cNvSpPr>
          <p:nvPr/>
        </p:nvSpPr>
        <p:spPr>
          <a:xfrm>
            <a:off x="585470" y="1097280"/>
            <a:ext cx="372110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Core 0</a:t>
            </a:r>
            <a:endParaRPr lang="en-us" sz="1400" cap="none"/>
          </a:p>
        </p:txBody>
      </p:sp>
      <p:sp>
        <p:nvSpPr>
          <p:cNvPr id="5" name="Text 3"/>
          <p:cNvSpPr>
            <a:extLst>
              <a:ext uri="smNativeData">
                <pr:smNativeData xmlns:pr="smNativeData" xmlns="smNativeData" val="SMDATA_15_NR2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mgMAAKoIAAB+GgAAUBkAABAAAAAmAAAACAAAAP//////////"/>
              </a:ext>
            </a:extLst>
          </p:cNvSpPr>
          <p:nvPr/>
        </p:nvSpPr>
        <p:spPr>
          <a:xfrm>
            <a:off x="585470" y="1408430"/>
            <a:ext cx="3721100" cy="270637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Suele llevar Wi-Fi, Bluetooth y el servidor web.</a:t>
            </a:r>
            <a:endParaRPr lang="en-us" sz="1300" cap="none"/>
          </a:p>
          <a:p>
            <a:pPr marL="0" indent="0">
              <a:buNone/>
            </a:pP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La red consume CPU y no es muy predecible.</a:t>
            </a:r>
            <a:endParaRPr lang="en-us" sz="1300" cap="none"/>
          </a:p>
          <a:p>
            <a:pPr marL="0" indent="0">
              <a:buNone/>
            </a:pP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Función típica: xTaskCreatePinnedToCore(..., 0)</a:t>
            </a:r>
            <a:endParaRPr lang="en-us" sz="1300" cap="none"/>
          </a:p>
        </p:txBody>
      </p:sp>
      <p:sp>
        <p:nvSpPr>
          <p:cNvPr id="6" name="Shape 4"/>
          <p:cNvSpPr>
            <a:extLst>
              <a:ext uri="smNativeData">
                <pr:smNativeData xmlns:pr="smNativeData" xmlns="smNativeData" val="SMDATA_15_NR20ahMAAAAlAAAAZQAAAA0AAAAAkAAAAEgAAACQAAAASAAAAAAAAAAAAAAAAAAAAAEAAABQAAAAYtaLoZxopz8AAAAAAADwvwAAAAAAAOA/AAAAAAAA4D8AAAAAAADgPwAAAAAAAOA/AAAAAAAA4D8AAAAAAADgPwAAAAAAAOA/AAAAAAAA4D8CAAAAjAAAAAEAAAAAAAAA6Pb1AP///wgAAAAAAAAAAAAAAAAAAAAAAAAAAAAAAAAAAAAAeAAAAAEAAABAAAAAAAAAAAAAAABaAAAAAAAAAAAAAAAAAAAAAAAAAAAAAAAAAAAAAAAAAAAAAAAAAAAAAAAAAAAAAAAAAAAAAAAAAAAAAAAAAAAAAAAAAAAAAAAAAAAAFAAAADwAAAABAAAAAAAAAAColgAKAAAAAQAAACMAAAAjAAAAIwAAAB4AAAAAAAAAZAAAAGQAAAAAAAAAZAAAAGQAAAAVAAAAYAAAAAAAAAAAAAAADwAAACADAAAAAAAAAAAAAAEAAACgMgAAVgcAAKr4//8BAAAAf39/AAEAAABkAAAAAAAAABQAAABAHwAAAAAAACYAAAAAAAAAwOD//wAAAAAmAAAAZAAAABYAAABMAAAAAQAAAAAAAAAGAAAAAAAAAAEAAAAAAAAAWAAAABwAAAAcAAAAZAAAAGQAAAAAAAAAy8vLAFgAAAAcAAAAHAAAAGQAAABkAAAAAAAAABcAAAAUAAAAAAAAAAAAAAD/fwAA/38AAAAAAAAJAAAABAAAAF8AYAAeAAAAaAAAAAAAAAAAAAAAAAAAAAAAAAAAAAAAECcAABAnAAAAAAAAAAAAAAAAAAAAAAAAAAAAAAAAAAAAAAAAAAAAAFA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6Pb1AAAAAAEAAAAAAAAAAAAAAAAAAAAAAAAAAAAAAAAAAAAAAAAAAAColgB/f38AAAAAAMvLywDAwP8Af39/AAAAAAAAAAAAAAAAAAAAAAAAAAAAIQAAABgAAAAUAAAA+BwAADAGAABwNQAA4BkAABAAAAAmAAAACAAAAP//////////"/>
              </a:ext>
            </a:extLst>
          </p:cNvSpPr>
          <p:nvPr/>
        </p:nvSpPr>
        <p:spPr>
          <a:xfrm>
            <a:off x="4709160" y="1005840"/>
            <a:ext cx="3977640" cy="3200400"/>
          </a:xfrm>
          <a:prstGeom prst="roundRect">
            <a:avLst>
              <a:gd name="adj" fmla="val 2286"/>
            </a:avLst>
          </a:prstGeom>
          <a:solidFill>
            <a:srgbClr val="E8F6F5"/>
          </a:solidFill>
          <a:ln w="6350" cap="flat" cmpd="sng" algn="ctr">
            <a:solidFill>
              <a:srgbClr val="00A896"/>
            </a:solidFill>
            <a:prstDash val="solid"/>
            <a:headEnd type="none"/>
            <a:tailEnd type="none"/>
          </a:ln>
          <a:effectLst>
            <a:outerShdw blurRad="50800" dist="25145" dir="2700000" algn="bl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wh0AAMAGAACmNAAAjQgAABAAAAAmAAAACAAAAP//////////"/>
              </a:ext>
            </a:extLst>
          </p:cNvSpPr>
          <p:nvPr/>
        </p:nvSpPr>
        <p:spPr>
          <a:xfrm>
            <a:off x="4837430" y="1097280"/>
            <a:ext cx="372110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b="1" cap="none">
                <a:solidFill>
                  <a:srgbClr val="00A896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Core 1</a:t>
            </a:r>
            <a:endParaRPr lang="en-us" sz="1400" cap="none"/>
          </a:p>
        </p:txBody>
      </p:sp>
      <p:sp>
        <p:nvSpPr>
          <p:cNvPr id="8" name="Text 6"/>
          <p:cNvSpPr>
            <a:extLst>
              <a:ext uri="smNativeData">
                <pr:smNativeData xmlns:pr="smNativeData" xmlns="smNativeData" val="SMDATA_15_NR2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wh0AAKoIAACmNAAAUBkAABAAAAAmAAAACAAAAP//////////"/>
              </a:ext>
            </a:extLst>
          </p:cNvSpPr>
          <p:nvPr/>
        </p:nvSpPr>
        <p:spPr>
          <a:xfrm>
            <a:off x="4837430" y="1408430"/>
            <a:ext cx="3721100" cy="270637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Conviene usarlo para lo que tiene que responder a tiempo: sensores, medición, control.</a:t>
            </a:r>
            <a:endParaRPr lang="en-us" sz="1300" cap="none"/>
          </a:p>
          <a:p>
            <a:pPr marL="0" indent="0">
              <a:buNone/>
            </a:pP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Así la red no le roba el CPU a lo urgente.</a:t>
            </a:r>
            <a:endParaRPr lang="en-us" sz="1300" cap="none"/>
          </a:p>
          <a:p>
            <a:pPr marL="0" indent="0">
              <a:buNone/>
            </a:pP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Función típica: xTaskCreatePinnedToCore(..., 1)</a:t>
            </a:r>
            <a:endParaRPr lang="en-us" sz="13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0AIAAJMBAABwNQAAEAUAABAAAAAmAAAACAAAAP//////////"/>
              </a:ext>
            </a:extLst>
          </p:cNvSpPr>
          <p:nvPr/>
        </p:nvSpPr>
        <p:spPr>
          <a:xfrm>
            <a:off x="457200" y="255905"/>
            <a:ext cx="8229600" cy="5670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32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Colas y productor-consumidor</a:t>
            </a:r>
            <a:endParaRPr lang="en-us" sz="3200" cap="none"/>
          </a:p>
        </p:txBody>
      </p:sp>
      <p:sp>
        <p:nvSpPr>
          <p:cNvPr id="3" name="Text 1"/>
          <p:cNvSpPr>
            <a:extLst>
              <a:ext uri="smNativeData">
                <pr:smNativeData xmlns:pr="smNativeData" xmlns="smNativeData" val="SMDATA_15_NR2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7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0AIAAOgFAAAwIQAAuBoAABAAAAAmAAAACAAAAP//////////"/>
              </a:ext>
            </a:extLst>
          </p:cNvSpPr>
          <p:nvPr/>
        </p:nvSpPr>
        <p:spPr>
          <a:xfrm>
            <a:off x="457200" y="960120"/>
            <a:ext cx="4937760" cy="33832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Una queue es un buzón: una task deja datos, otra los retira</a:t>
            </a:r>
            <a:endParaRPr lang="en-us" sz="1500" cap="none"/>
          </a:p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Productor: genera eventos o mediciones</a:t>
            </a:r>
            <a:endParaRPr lang="en-us" sz="1500" cap="none"/>
          </a:p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Consumidor: los procesa a su ritmo</a:t>
            </a:r>
            <a:endParaRPr lang="en-us" sz="1500" cap="none"/>
          </a:p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Si la cola está vacía, el consumidor espera sin gastar CPU</a:t>
            </a:r>
            <a:endParaRPr lang="en-us" sz="1500" cap="none"/>
          </a:p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Así dos tasks se hablan sin compartir variables a lo loco</a:t>
            </a:r>
            <a:endParaRPr lang="en-us" sz="1500" cap="none"/>
          </a:p>
        </p:txBody>
      </p:sp>
      <p:sp>
        <p:nvSpPr>
          <p:cNvPr id="4" name="Shape 2"/>
          <p:cNvSpPr>
            <a:extLst>
              <a:ext uri="smNativeData">
                <pr:smNativeData xmlns:pr="smNativeData" xmlns="smNativeData" val="SMDATA_15_NR20ahMAAAAlAAAAZQAAAA0AAAAAkAAAAEgAAACQAAAASAAAAAAAAAAAAAAAAAAAAAEAAABQAAAANbVsrS8Swj8AAAAAAADwvwAAAAAAAOA/AAAAAAAA4D8AAAAAAADgPwAAAAAAAOA/AAAAAAAA4D8AAAAAAADgPwAAAAAAAOA/AAAAAAAA4D8CAAAAjAAAAAEAAAAAAAAAAoCQ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j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oCQAAAAAAEAAAAAAAAAAAAAAAAAAAAAAAAAAAAAAAAAAAAAAAAAAAAAAAB/f38AAAAAA8zMzADAwP8Af39/AAAAAAAAAAAAAAAAAAAAAAAAAAAAIQAAABgAAAAUAAAA4CIAAAgHAABwNQAA0AsAABAAAAAmAAAACAAAAP//////////"/>
              </a:ext>
            </a:extLst>
          </p:cNvSpPr>
          <p:nvPr/>
        </p:nvSpPr>
        <p:spPr>
          <a:xfrm>
            <a:off x="5669280" y="1143000"/>
            <a:ext cx="3017520" cy="777240"/>
          </a:xfrm>
          <a:prstGeom prst="roundRect">
            <a:avLst>
              <a:gd name="adj" fmla="val 7059"/>
            </a:avLst>
          </a:prstGeom>
          <a:solidFill>
            <a:srgbClr val="028090"/>
          </a:solidFill>
          <a:ln>
            <a:noFill/>
          </a:ln>
          <a:effectLst/>
        </p:spPr>
      </p:sp>
      <p:sp>
        <p:nvSpPr>
          <p:cNvPr id="5" name="Text 3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4CIAALUHAABwNQAAMgsAABAAAAAmAAAACAAAAP//////////"/>
              </a:ext>
            </a:extLst>
          </p:cNvSpPr>
          <p:nvPr/>
        </p:nvSpPr>
        <p:spPr>
          <a:xfrm>
            <a:off x="5669280" y="1252855"/>
            <a:ext cx="3017520" cy="5670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300" b="1" cap="none">
                <a:solidFill>
                  <a:srgbClr val="FFFFFF"/>
                </a:solidFill>
              </a:rPr>
              <a:t>Productor</a:t>
            </a:r>
            <a:endParaRPr lang="en-us" sz="1300" cap="none"/>
          </a:p>
          <a:p>
            <a:pPr marL="0" indent="0" algn="ctr">
              <a:buNone/>
            </a:pPr>
            <a:r>
              <a:rPr lang="en-us" sz="1300" b="1" cap="none">
                <a:solidFill>
                  <a:srgbClr val="FFFFFF"/>
                </a:solidFill>
              </a:rPr>
              <a:t>(botón / sensor)</a:t>
            </a:r>
            <a:endParaRPr lang="en-us" sz="1300" cap="none"/>
          </a:p>
        </p:txBody>
      </p:sp>
      <p:sp>
        <p:nvSpPr>
          <p:cNvPr id="6" name="Text 4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/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wCoAAKULAACQLQAA4gwAABAAAAAmAAAACAAAAP//////////"/>
              </a:ext>
            </a:extLst>
          </p:cNvSpPr>
          <p:nvPr/>
        </p:nvSpPr>
        <p:spPr>
          <a:xfrm>
            <a:off x="6949440" y="1892935"/>
            <a:ext cx="457200" cy="20129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400" cap="none">
                <a:solidFill>
                  <a:srgbClr val="028090"/>
                </a:solidFill>
              </a:rPr>
              <a:t>v</a:t>
            </a:r>
            <a:endParaRPr lang="en-us" sz="1400" cap="none"/>
          </a:p>
        </p:txBody>
      </p:sp>
      <p:sp>
        <p:nvSpPr>
          <p:cNvPr id="7" name="Shape 5"/>
          <p:cNvSpPr>
            <a:extLst>
              <a:ext uri="smNativeData">
                <pr:smNativeData xmlns:pr="smNativeData" xmlns="smNativeData" val="SMDATA_15_NR20ahMAAAAlAAAAZQAAAA0AAAAAkAAAAEgAAACQAAAASAAAAAAAAAAAAAAAAAAAAAEAAABQAAAANbVsrS8Swj8AAAAAAADwvwAAAAAAAOA/AAAAAAAA4D8AAAAAAADgPwAAAAAAAOA/AAAAAAAA4D8AAAAAAADgPwAAAAAAAOA/AAAAAAAA4D8CAAAAjAAAAAEAAAAAAAAAAKiW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7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KiWAAAAAAEAAAAAAAAAAAAAAAAAAAAAAAAAAAAAAAAAAAAAAAAAAAAAAAB/f38AAAAAA8zMzADAwP8Af39/AAAAAAAAAAAAAAAAAAAAAAAAAAAAIQAAABgAAAAUAAAA4CIAAMgNAABwNQAAkBIAABAAAAAmAAAACAAAAP//////////"/>
              </a:ext>
            </a:extLst>
          </p:cNvSpPr>
          <p:nvPr/>
        </p:nvSpPr>
        <p:spPr>
          <a:xfrm>
            <a:off x="5669280" y="2240280"/>
            <a:ext cx="3017520" cy="777240"/>
          </a:xfrm>
          <a:prstGeom prst="roundRect">
            <a:avLst>
              <a:gd name="adj" fmla="val 7059"/>
            </a:avLst>
          </a:prstGeom>
          <a:solidFill>
            <a:srgbClr val="00A896"/>
          </a:solidFill>
          <a:ln>
            <a:noFill/>
          </a:ln>
          <a:effectLst/>
        </p:spPr>
      </p:sp>
      <p:sp>
        <p:nvSpPr>
          <p:cNvPr id="8" name="Text 6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r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4CIAAHUOAABwNQAA8hEAABAAAAAmAAAACAAAAP//////////"/>
              </a:ext>
            </a:extLst>
          </p:cNvSpPr>
          <p:nvPr/>
        </p:nvSpPr>
        <p:spPr>
          <a:xfrm>
            <a:off x="5669280" y="2350135"/>
            <a:ext cx="3017520" cy="5670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300" b="1" cap="none">
                <a:solidFill>
                  <a:srgbClr val="FFFFFF"/>
                </a:solidFill>
              </a:rPr>
              <a:t>Queue</a:t>
            </a:r>
            <a:endParaRPr lang="en-us" sz="1300" cap="none"/>
          </a:p>
          <a:p>
            <a:pPr marL="0" indent="0" algn="ctr">
              <a:buNone/>
            </a:pPr>
            <a:r>
              <a:rPr lang="en-us" sz="1300" b="1" cap="none">
                <a:solidFill>
                  <a:srgbClr val="FFFFFF"/>
                </a:solidFill>
              </a:rPr>
              <a:t>(buzón)</a:t>
            </a:r>
            <a:endParaRPr lang="en-us" sz="1300" cap="none"/>
          </a:p>
        </p:txBody>
      </p:sp>
      <p:sp>
        <p:nvSpPr>
          <p:cNvPr id="9" name="Text 7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z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wCoAAGUSAACQLQAAohMAABAAAAAmAAAACAAAAP//////////"/>
              </a:ext>
            </a:extLst>
          </p:cNvSpPr>
          <p:nvPr/>
        </p:nvSpPr>
        <p:spPr>
          <a:xfrm>
            <a:off x="6949440" y="2990215"/>
            <a:ext cx="457200" cy="20129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400" cap="none">
                <a:solidFill>
                  <a:srgbClr val="028090"/>
                </a:solidFill>
              </a:rPr>
              <a:t>v</a:t>
            </a:r>
            <a:endParaRPr lang="en-us" sz="1400" cap="none"/>
          </a:p>
        </p:txBody>
      </p:sp>
      <p:sp>
        <p:nvSpPr>
          <p:cNvPr id="10" name="Shape 8"/>
          <p:cNvSpPr>
            <a:extLst>
              <a:ext uri="smNativeData">
                <pr:smNativeData xmlns:pr="smNativeData" xmlns="smNativeData" val="SMDATA_15_NR20ahMAAAAlAAAAZQAAAA0AAAAAkAAAAEgAAACQAAAASAAAAAAAAAAAAAAAAAAAAAEAAABQAAAANbVsrS8Swj8AAAAAAADwvwAAAAAAAOA/AAAAAAAA4D8AAAAAAADgPwAAAAAAAOA/AAAAAAAA4D8AAAAAAADgPwAAAAAAAOA/AAAAAAAA4D8CAAAAjAAAAAEAAAAAAAAAAsOa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sOaAAAAAAEAAAAAAAAAAAAAAAAAAAAAAAAAAAAAAAAAAAAAAAAAAAAAAAB/f38AAAAAA8zMzADAwP8Af39/AAAAAAAAAAAAAAAAAAAAAAAAAAAAIQAAABgAAAAUAAAA4CIAAIgUAABwNQAAUBkAABAAAAAmAAAACAAAAP//////////"/>
              </a:ext>
            </a:extLst>
          </p:cNvSpPr>
          <p:nvPr/>
        </p:nvSpPr>
        <p:spPr>
          <a:xfrm>
            <a:off x="5669280" y="3337560"/>
            <a:ext cx="3017520" cy="777240"/>
          </a:xfrm>
          <a:prstGeom prst="roundRect">
            <a:avLst>
              <a:gd name="adj" fmla="val 7059"/>
            </a:avLst>
          </a:prstGeom>
          <a:solidFill>
            <a:srgbClr val="02C39A"/>
          </a:solidFill>
          <a:ln>
            <a:noFill/>
          </a:ln>
          <a:effectLst/>
        </p:spPr>
      </p:sp>
      <p:sp>
        <p:nvSpPr>
          <p:cNvPr id="11" name="Text 9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b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4CIAADUVAABwNQAAshgAABAAAAAmAAAACAAAAP//////////"/>
              </a:ext>
            </a:extLst>
          </p:cNvSpPr>
          <p:nvPr/>
        </p:nvSpPr>
        <p:spPr>
          <a:xfrm>
            <a:off x="5669280" y="3447415"/>
            <a:ext cx="3017520" cy="5670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300" b="1" cap="none">
                <a:solidFill>
                  <a:srgbClr val="FFFFFF"/>
                </a:solidFill>
              </a:rPr>
              <a:t>Consumidor</a:t>
            </a:r>
            <a:endParaRPr lang="en-us" sz="1300" cap="none"/>
          </a:p>
          <a:p>
            <a:pPr marL="0" indent="0" algn="ctr">
              <a:buNone/>
            </a:pPr>
            <a:r>
              <a:rPr lang="en-us" sz="1300" b="1" cap="none">
                <a:solidFill>
                  <a:srgbClr val="FFFFFF"/>
                </a:solidFill>
              </a:rPr>
              <a:t>(lógica / display)</a:t>
            </a:r>
            <a:endParaRPr lang="en-us" sz="13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B4AHg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0AIAAJMBAABwNQAAEAUAABAAAAAmAAAACAAAAP//////////"/>
              </a:ext>
            </a:extLst>
          </p:cNvSpPr>
          <p:nvPr/>
        </p:nvSpPr>
        <p:spPr>
          <a:xfrm>
            <a:off x="457200" y="255905"/>
            <a:ext cx="8229600" cy="5670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32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Semáforos, eventos y mutex</a:t>
            </a:r>
            <a:endParaRPr lang="en-us" sz="3200" cap="none"/>
          </a:p>
        </p:txBody>
      </p:sp>
      <p:sp>
        <p:nvSpPr>
          <p:cNvPr id="3" name="Shape 1"/>
          <p:cNvSpPr>
            <a:extLst>
              <a:ext uri="smNativeData">
                <pr:smNativeData xmlns:pr="smNativeData" xmlns="smNativeData" val="SMDATA_15_NR20ahMAAAAlAAAAZQAAAA0AAAAAkAAAAEgAAACQAAAASAAAAAAAAAAAAAAAAAAAAAEAAABQAAAA/1vJjo1ArD8AAAAAAADwvwAAAAAAAOA/AAAAAAAA4D8AAAAAAADgPwAAAAAAAOA/AAAAAAAA4D8AAAAAAADgPwAAAAAAAOA/AAAAAAAA4D8CAAAAjAAAAAEAAAAAAAAA6Pb1AP///wgAAAAAAAAAAAAAAAAAAAAAAAAAAAAAAAAAAAAAeAAAAAEAAABAAAAAAAAAAAAAAABaAAAAAAAAAAAAAAAAAAAAAAAAAAAAAAAAAAAAAAAAAAAAAAAAAAAAAAAAAAAAAAAAAAAAAAAAAAAAAAAAAAAAAAAAAAAAAAAAAAAAFAAAADwAAAABAAAAAAAAAAKAkAAKAAAAAQAAACMAAAAjAAAAIwAAAB4AAAAAAAAAZAAAAGQAAAAAAAAAZAAAAGQAAAAVAAAAYAAAAAAAAAAAAAAADwAAACADAAAAAAAAAAAAAAEAAACgMgAAVgcAAKr4//8BAAAAf39/AAEAAABkAAAAAAAAABQAAABAHwAAAAAAACYAAAAAAAAAwOD//wAAAAAmAAAAZAAAABYAAABMAAAAAQAAAAAAAAAGAAAAAAAAAAEAAAAAAAAAWAAAABwAAAAcAAAAZAAAAGQAAAAAAAAAy8vLAFgAAAAcAAAAHAAAAGQAAABkAAAAAAAAABcAAAAUAAAAAAAAAAAAAAD/fwAA/38AAAAAAAAJAAAABAAAAB4AHgAeAAAAaAAAAAAAAAAAAAAAAAAAAAAAAAAAAAAAECcAABAnAAAAAAAAAAAAAAAAAAAAAAAAAAAAAAAAAAAAAAAAAAAAAFA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6Pb1AAAAAAEAAAAAAAAAAAAAAAAAAAAAAAAAAAAAAAAAAAAAAAAAAAKAkAB/f38AAAAAAMvLywDAwP8Af39/AAAAAAAAAAAAAAAAAAAAAAAAAAAAIQAAABgAAAAUAAAA0AIAADAGAAAgEwAA4BkAABAAAAAmAAAACAAAAP//////////"/>
              </a:ext>
            </a:extLst>
          </p:cNvSpPr>
          <p:nvPr/>
        </p:nvSpPr>
        <p:spPr>
          <a:xfrm>
            <a:off x="457200" y="1005840"/>
            <a:ext cx="2651760" cy="3200400"/>
          </a:xfrm>
          <a:prstGeom prst="roundRect">
            <a:avLst>
              <a:gd name="adj" fmla="val 2759"/>
            </a:avLst>
          </a:prstGeom>
          <a:solidFill>
            <a:srgbClr val="E8F6F5"/>
          </a:solidFill>
          <a:ln w="6350" cap="flat" cmpd="sng" algn="ctr">
            <a:solidFill>
              <a:srgbClr val="028090"/>
            </a:solidFill>
            <a:prstDash val="solid"/>
            <a:headEnd type="none"/>
            <a:tailEnd type="none"/>
          </a:ln>
          <a:effectLst>
            <a:outerShdw blurRad="50800" dist="25145" dir="2700000" algn="bl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mgMAAMAGAABWEgAAjQgAABAAAAAmAAAACAAAAP//////////"/>
              </a:ext>
            </a:extLst>
          </p:cNvSpPr>
          <p:nvPr/>
        </p:nvSpPr>
        <p:spPr>
          <a:xfrm>
            <a:off x="585470" y="1097280"/>
            <a:ext cx="239522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Semáforo</a:t>
            </a:r>
            <a:endParaRPr lang="en-us" sz="1400" cap="none"/>
          </a:p>
        </p:txBody>
      </p:sp>
      <p:sp>
        <p:nvSpPr>
          <p:cNvPr id="5" name="Text 3"/>
          <p:cNvSpPr>
            <a:extLst>
              <a:ext uri="smNativeData">
                <pr:smNativeData xmlns:pr="smNativeData" xmlns="smNativeData" val="SMDATA_15_NR2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B4AHg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mgMAAKoIAABWEgAAUBkAABAAAAAmAAAACAAAAP//////////"/>
              </a:ext>
            </a:extLst>
          </p:cNvSpPr>
          <p:nvPr/>
        </p:nvSpPr>
        <p:spPr>
          <a:xfrm>
            <a:off x="585470" y="1408430"/>
            <a:ext cx="2395220" cy="270637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Una señal: avisa que pasó algo.</a:t>
            </a:r>
            <a:endParaRPr lang="en-us" sz="1300" cap="none"/>
          </a:p>
          <a:p>
            <a:pPr marL="0" indent="0">
              <a:buNone/>
            </a:pP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No lleva datos, solo avisa.</a:t>
            </a:r>
            <a:endParaRPr lang="en-us" sz="1300" cap="none"/>
          </a:p>
          <a:p>
            <a:pPr marL="0" indent="0">
              <a:buNone/>
            </a:pP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Sirve para despertar una task cuando hay un evento.</a:t>
            </a:r>
            <a:endParaRPr lang="en-us" sz="1300" cap="none"/>
          </a:p>
        </p:txBody>
      </p:sp>
      <p:sp>
        <p:nvSpPr>
          <p:cNvPr id="6" name="Shape 4"/>
          <p:cNvSpPr>
            <a:extLst>
              <a:ext uri="smNativeData">
                <pr:smNativeData xmlns:pr="smNativeData" xmlns="smNativeData" val="SMDATA_15_NR20ahMAAAAlAAAAZQAAAA0AAAAAkAAAAEgAAACQAAAASAAAAAAAAAAAAAAAAAAAAAEAAABQAAAA/1vJjo1ArD8AAAAAAADwvwAAAAAAAOA/AAAAAAAA4D8AAAAAAADgPwAAAAAAAOA/AAAAAAAA4D8AAAAAAADgPwAAAAAAAOA/AAAAAAAA4D8CAAAAjAAAAAEAAAAAAAAA6Pb1AP///wgAAAAAAAAAAAAAAAAAAAAAAAAAAAAAAAAAAAAAeAAAAAEAAABAAAAAAAAAAAAAAABaAAAAAAAAAAAAAAAAAAAAAAAAAAAAAAAAAAAAAAAAAAAAAAAAAAAAAAAAAAAAAAAAAAAAAAAAAAAAAAAAAAAAAAAAAAAAAAAAAAAAFAAAADwAAAABAAAAAAAAAAColgAKAAAAAQAAACMAAAAjAAAAIwAAAB4AAAAAAAAAZAAAAGQAAAAAAAAAZAAAAGQAAAAVAAAAYAAAAAAAAAAAAAAADwAAACADAAAAAAAAAAAAAAEAAACgMgAAVgcAAKr4//8BAAAAf39/AAEAAABkAAAAAAAAABQAAABAHwAAAAAAACYAAAAAAAAAwOD//wAAAAAmAAAAZAAAABYAAABMAAAAAQAAAAAAAAAGAAAAAAAAAAEAAAAAAAAAWAAAABwAAAAcAAAAZAAAAGQAAAAAAAAAy8vLAFgAAAAcAAAAHAAAAGQAAABkAAAAAAAAABcAAAAUAAAAAAAAAAAAAAD/fwAA/38AAAAAAAAJAAAABAAAAB4AHgAeAAAAaAAAAAAAAAAAAAAAAAAAAAAAAAAAAAAAECcAABAnAAAAAAAAAAAAAAAAAAAAAAAAAAAAAAAAAAAAAAAAAAAAAFA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6Pb1AAAAAAEAAAAAAAAAAAAAAAAAAAAAAAAAAAAAAAAAAAAAAAAAAAColgB/f38AAAAAAMvLywDAwP8Af39/AAAAAAAAAAAAAAAAAAAAAAAAAAAAIQAAABgAAAAUAAAA+BMAADAGAABIJAAA4BkAABAAAAAmAAAACAAAAP//////////"/>
              </a:ext>
            </a:extLst>
          </p:cNvSpPr>
          <p:nvPr/>
        </p:nvSpPr>
        <p:spPr>
          <a:xfrm>
            <a:off x="3246120" y="1005840"/>
            <a:ext cx="2651760" cy="3200400"/>
          </a:xfrm>
          <a:prstGeom prst="roundRect">
            <a:avLst>
              <a:gd name="adj" fmla="val 2759"/>
            </a:avLst>
          </a:prstGeom>
          <a:solidFill>
            <a:srgbClr val="E8F6F5"/>
          </a:solidFill>
          <a:ln w="6350" cap="flat" cmpd="sng" algn="ctr">
            <a:solidFill>
              <a:srgbClr val="00A896"/>
            </a:solidFill>
            <a:prstDash val="solid"/>
            <a:headEnd type="none"/>
            <a:tailEnd type="none"/>
          </a:ln>
          <a:effectLst>
            <a:outerShdw blurRad="50800" dist="25145" dir="2700000" algn="bl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whQAAMAGAAB+IwAAjQgAABAAAAAmAAAACAAAAP//////////"/>
              </a:ext>
            </a:extLst>
          </p:cNvSpPr>
          <p:nvPr/>
        </p:nvSpPr>
        <p:spPr>
          <a:xfrm>
            <a:off x="3374390" y="1097280"/>
            <a:ext cx="239522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b="1" cap="none">
                <a:solidFill>
                  <a:srgbClr val="00A896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Evento</a:t>
            </a:r>
            <a:endParaRPr lang="en-us" sz="1400" cap="none"/>
          </a:p>
        </p:txBody>
      </p:sp>
      <p:sp>
        <p:nvSpPr>
          <p:cNvPr id="8" name="Text 6"/>
          <p:cNvSpPr>
            <a:extLst>
              <a:ext uri="smNativeData">
                <pr:smNativeData xmlns:pr="smNativeData" xmlns="smNativeData" val="SMDATA_15_NR2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whQAAKoIAAB+IwAAUBkAABAAAAAmAAAACAAAAP//////////"/>
              </a:ext>
            </a:extLst>
          </p:cNvSpPr>
          <p:nvPr/>
        </p:nvSpPr>
        <p:spPr>
          <a:xfrm>
            <a:off x="3374390" y="1408430"/>
            <a:ext cx="2395220" cy="270637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Un hecho del sistema: botón, flanco, timeout.</a:t>
            </a:r>
            <a:endParaRPr lang="en-us" sz="1300" cap="none"/>
          </a:p>
          <a:p>
            <a:pPr marL="0" indent="0">
              <a:buNone/>
            </a:pP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Se puede avisar con cola o con semáforo.</a:t>
            </a:r>
            <a:endParaRPr lang="en-us" sz="1300" cap="none"/>
          </a:p>
          <a:p>
            <a:pPr marL="0" indent="0">
              <a:buNone/>
            </a:pP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El semáforo peatonal vive de eventos.</a:t>
            </a:r>
            <a:endParaRPr lang="en-us" sz="1300" cap="none"/>
          </a:p>
        </p:txBody>
      </p:sp>
      <p:sp>
        <p:nvSpPr>
          <p:cNvPr id="9" name="Shape 7"/>
          <p:cNvSpPr>
            <a:extLst>
              <a:ext uri="smNativeData">
                <pr:smNativeData xmlns:pr="smNativeData" xmlns="smNativeData" val="SMDATA_15_NR20ahMAAAAlAAAAZQAAAA0AAAAAkAAAAEgAAACQAAAASAAAAAAAAAAAAAAAAAAAAAEAAABQAAAA/1vJjo1ArD8AAAAAAADwvwAAAAAAAOA/AAAAAAAA4D8AAAAAAADgPwAAAAAAAOA/AAAAAAAA4D8AAAAAAADgPwAAAAAAAOA/AAAAAAAA4D8CAAAAjAAAAAEAAAAAAAAA6Pb1AP///wgAAAAAAAAAAAAAAAAAAAAAAAAAAAAAAAAAAAAAeAAAAAEAAABAAAAAAAAAAAAAAABaAAAAAAAAAAAAAAAAAAAAAAAAAAAAAAAAAAAAAAAAAAAAAAAAAAAAAAAAAAAAAAAAAAAAAAAAAAAAAAAAAAAAAAAAAAAAAAAAAAAAFAAAADwAAAABAAAAAAAAAALDmgAKAAAAAQAAACMAAAAjAAAAIwAAAB4AAAAAAAAAZAAAAGQAAAAAAAAAZAAAAGQAAAAVAAAAYAAAAAAAAAAAAAAADwAAACADAAAAAAAAAAAAAAEAAACgMgAAVgcAAKr4//8BAAAAf39/AAEAAABkAAAAAAAAABQAAABAHwAAAAAAACYAAAAAAAAAwOD//wAAAAAmAAAAZAAAABYAAABMAAAAAQAAAAAAAAAGAAAAAAAAAAEAAAAAAAAAWAAAABwAAAAcAAAAZAAAAGQAAAAAAAAAy8vLAFgAAAAcAAAAHAAAAGQAAABkAAAAAAAAABcAAAAUAAAAAAAAAAAAAAD/fwAA/38AAAAAAAAJAAAABAAAAB4AHgAeAAAAaAAAAAAAAAAAAAAAAAAAAAAAAAAAAAAAECcAABAnAAAAAAAAAAAAAAAAAAAAAAAAAAAAAAAAAAAAAAAAAAAAAFA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6Pb1AAAAAAEAAAAAAAAAAAAAAAAAAAAAAAAAAAAAAAAAAAAAAAAAAALDmgB/f38AAAAAAMvLywDAwP8Af39/AAAAAAAAAAAAAAAAAAAAAAAAAAAAIQAAABgAAAAUAAAAICUAADAGAABwNQAA4BkAABAAAAAmAAAACAAAAP//////////"/>
              </a:ext>
            </a:extLst>
          </p:cNvSpPr>
          <p:nvPr/>
        </p:nvSpPr>
        <p:spPr>
          <a:xfrm>
            <a:off x="6035040" y="1005840"/>
            <a:ext cx="2651760" cy="3200400"/>
          </a:xfrm>
          <a:prstGeom prst="roundRect">
            <a:avLst>
              <a:gd name="adj" fmla="val 2759"/>
            </a:avLst>
          </a:prstGeom>
          <a:solidFill>
            <a:srgbClr val="E8F6F5"/>
          </a:solidFill>
          <a:ln w="6350" cap="flat" cmpd="sng" algn="ctr">
            <a:solidFill>
              <a:srgbClr val="02C39A"/>
            </a:solidFill>
            <a:prstDash val="solid"/>
            <a:headEnd type="none"/>
            <a:tailEnd type="none"/>
          </a:ln>
          <a:effectLst>
            <a:outerShdw blurRad="50800" dist="25145" dir="2700000" algn="bl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6iUAAMAGAACmNAAAjQgAABAAAAAmAAAACAAAAP//////////"/>
              </a:ext>
            </a:extLst>
          </p:cNvSpPr>
          <p:nvPr/>
        </p:nvSpPr>
        <p:spPr>
          <a:xfrm>
            <a:off x="6163310" y="1097280"/>
            <a:ext cx="239522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b="1" cap="none">
                <a:solidFill>
                  <a:srgbClr val="02C39A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Mutex</a:t>
            </a:r>
            <a:endParaRPr lang="en-us" sz="1400" cap="none"/>
          </a:p>
        </p:txBody>
      </p:sp>
      <p:sp>
        <p:nvSpPr>
          <p:cNvPr id="11" name="Text 9"/>
          <p:cNvSpPr>
            <a:extLst>
              <a:ext uri="smNativeData">
                <pr:smNativeData xmlns:pr="smNativeData" xmlns="smNativeData" val="SMDATA_15_NR2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6iUAAKoIAACmNAAAUBkAABAAAAAmAAAACAAAAP//////////"/>
              </a:ext>
            </a:extLst>
          </p:cNvSpPr>
          <p:nvPr/>
        </p:nvSpPr>
        <p:spPr>
          <a:xfrm>
            <a:off x="6163310" y="1408430"/>
            <a:ext cx="2395220" cy="270637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Candado de un recurso.</a:t>
            </a:r>
            <a:endParaRPr lang="en-us" sz="1300" cap="none"/>
          </a:p>
          <a:p>
            <a:pPr marL="0" indent="0">
              <a:buNone/>
            </a:pP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Ejemplo: un bus I2C o el Serial.</a:t>
            </a:r>
            <a:endParaRPr lang="en-us" sz="1300" cap="none"/>
          </a:p>
          <a:p>
            <a:pPr marL="0" indent="0">
              <a:buNone/>
            </a:pP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Dos tasks no lo usan al mismo tiempo.</a:t>
            </a:r>
            <a:endParaRPr lang="en-us" sz="13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0AIAAJMBAABwNQAAEAUAABAAAAAmAAAACAAAAP//////////"/>
              </a:ext>
            </a:extLst>
          </p:cNvSpPr>
          <p:nvPr/>
        </p:nvSpPr>
        <p:spPr>
          <a:xfrm>
            <a:off x="457200" y="255905"/>
            <a:ext cx="8229600" cy="5670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32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ISR: capturar y encolar</a:t>
            </a:r>
            <a:endParaRPr lang="en-us" sz="3200" cap="none"/>
          </a:p>
        </p:txBody>
      </p:sp>
      <p:sp>
        <p:nvSpPr>
          <p:cNvPr id="3" name="Text 1"/>
          <p:cNvSpPr>
            <a:extLst>
              <a:ext uri="smNativeData">
                <pr:smNativeData xmlns:pr="smNativeData" xmlns="smNativeData" val="SMDATA_15_NR2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0AIAAOgFAAAwIQAAmBkAABAAAAAmAAAACAAAAP//////////"/>
              </a:ext>
            </a:extLst>
          </p:cNvSpPr>
          <p:nvPr/>
        </p:nvSpPr>
        <p:spPr>
          <a:xfrm>
            <a:off x="457200" y="960120"/>
            <a:ext cx="4937760" cy="3200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Una ISR (rutina de interrupción) debe ser muy corta</a:t>
            </a:r>
            <a:endParaRPr lang="en-us" sz="1500" cap="none"/>
          </a:p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Regla: no calcular, no imprimir, no esperar</a:t>
            </a:r>
            <a:endParaRPr lang="en-us" sz="1500" cap="none"/>
          </a:p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Sí: guardar un timestamp o un flanco y mandarlo a una queue</a:t>
            </a:r>
            <a:endParaRPr lang="en-us" sz="1500" cap="none"/>
          </a:p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Una task se despierta, lee la cola y hace el trabajo pesado</a:t>
            </a:r>
            <a:endParaRPr lang="en-us" sz="1500" cap="none"/>
          </a:p>
        </p:txBody>
      </p:sp>
      <p:sp>
        <p:nvSpPr>
          <p:cNvPr id="4" name="Shape 2"/>
          <p:cNvSpPr>
            <a:extLst>
              <a:ext uri="smNativeData">
                <pr:smNativeData xmlns:pr="smNativeData" xmlns="smNativeData" val="SMDATA_15_NR20ahMAAAAlAAAAZQAAAA0AAAAAkAAAAEgAAACQAAAASAAAAAAAAAAAAAAAAAAAAAEAAABQAAAA3CkdrP9zqD8AAAAAAADwvwAAAAAAAOA/AAAAAAAA4D8AAAAAAADgPwAAAAAAAOA/AAAAAAAA4D8AAAAAAADgPwAAAAAAAOA/AAAAAAAA4D8CAAAAjAAAAAEAAAAAAAAA6Pb1AP///wgAAAAAAAAAAAAAAAAAAAAAAAAAAAAAAAAAAAAAeAAAAAEAAABAAAAAAAAAAAAAAABaAAAAAAAAAAAAAAAAAAAAAAAAAAAAAAAAAAAAAAAAAAAAAAAAAAAAAAAAAAAAAAAAAAAAAAAAAAAAAAAAAAAAAAAAAAAAAAAAAAAAFAAAADwAAAABAAAAAAAAAAKAkAAKAAAAAQAAACMAAAAjAAAAIwAAAB4AAAAAAAAAZAAAAGQAAAAAAAAAZAAAAGQAAAAVAAAAYAAAAAAAAAAAAAAADwAAACADAAAAAAAAAAAAAAEAAACgMgAAVgcAAKr4//8BAAAAf39/AAEAAABkAAAAAAAAABQAAABAHwAAAAAAACYAAAAAAAAAwOD//wAAAAAmAAAAZAAAABYAAABMAAAAAQAAAAAAAAAGAAAAAAAAAAEAAAAAAAAAWAAAABwAAAAcAAAAZAAAAGQAAAAAAAAAy8vLAFgAAAAcAAAAHAAAAGQAAABkAAAAAAAAABcAAAAUAAAAAAAAAAAAAAD/fwAA/38AAAAAAAAJAAAABAAAAF8AYAAeAAAAaAAAAAAAAAAAAAAAAAAAAAAAAAAAAAAAECcAABAnAAAAAAAAAAAAAAAAAAAAAAAAAAAAAAAAAAAAAAAAAAAAAFA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6Pb1AAAAAAEAAAAAAAAAAAAAAAAAAAAAAAAAAAAAAAAAAAAAAAAAAAKAkAB/f38AAAAAAMvLywDAwP8Af39/AAAAAAAAAAAAAAAAAAAAAAAAAAAAIQAAABgAAAAUAAAAmCIAAHgGAABwNQAAKBoAABAAAAAmAAAACAAAAP//////////"/>
              </a:ext>
            </a:extLst>
          </p:cNvSpPr>
          <p:nvPr/>
        </p:nvSpPr>
        <p:spPr>
          <a:xfrm>
            <a:off x="5623560" y="1051560"/>
            <a:ext cx="3063240" cy="3200400"/>
          </a:xfrm>
          <a:prstGeom prst="roundRect">
            <a:avLst>
              <a:gd name="adj" fmla="val 2388"/>
            </a:avLst>
          </a:prstGeom>
          <a:solidFill>
            <a:srgbClr val="E8F6F5"/>
          </a:solidFill>
          <a:ln w="6350" cap="flat" cmpd="sng" algn="ctr">
            <a:solidFill>
              <a:srgbClr val="028090"/>
            </a:solidFill>
            <a:prstDash val="solid"/>
            <a:headEnd type="none"/>
            <a:tailEnd type="none"/>
          </a:ln>
          <a:effectLst>
            <a:outerShdw blurRad="50800" dist="25145" dir="2700000" algn="bl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Bs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YiMAAAgHAACmNAAA1QgAABAAAAAmAAAACAAAAP//////////"/>
              </a:ext>
            </a:extLst>
          </p:cNvSpPr>
          <p:nvPr/>
        </p:nvSpPr>
        <p:spPr>
          <a:xfrm>
            <a:off x="5751830" y="1143000"/>
            <a:ext cx="280670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Cadena corta</a:t>
            </a:r>
            <a:endParaRPr lang="en-us" sz="1400" cap="none"/>
          </a:p>
        </p:txBody>
      </p:sp>
      <p:sp>
        <p:nvSpPr>
          <p:cNvPr id="6" name="Text 4"/>
          <p:cNvSpPr>
            <a:extLst>
              <a:ext uri="smNativeData">
                <pr:smNativeData xmlns:pr="smNativeData" xmlns="smNativeData" val="SMDATA_15_NR2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YiMAAPIIAACmNAAAmBkAABAAAAAmAAAACAAAAP//////////"/>
              </a:ext>
            </a:extLst>
          </p:cNvSpPr>
          <p:nvPr/>
        </p:nvSpPr>
        <p:spPr>
          <a:xfrm>
            <a:off x="5751830" y="1454150"/>
            <a:ext cx="2806700" cy="270637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Flanco en un pin</a:t>
            </a: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-&gt; ISR captura el tiempo</a:t>
            </a: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-&gt; xQueueSendFromISR</a:t>
            </a: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-&gt; TaskMeasure calcula período y jitter</a:t>
            </a:r>
            <a:endParaRPr lang="en-us" sz="13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B4AHg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0AIAAJMBAABwNQAAEAUAABAAAAAmAAAACAAAAP//////////"/>
              </a:ext>
            </a:extLst>
          </p:cNvSpPr>
          <p:nvPr/>
        </p:nvSpPr>
        <p:spPr>
          <a:xfrm>
            <a:off x="457200" y="255905"/>
            <a:ext cx="8229600" cy="5670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32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Memoria: stack, heap y high water mark</a:t>
            </a:r>
            <a:endParaRPr lang="en-us" sz="3200" cap="none"/>
          </a:p>
        </p:txBody>
      </p:sp>
      <p:sp>
        <p:nvSpPr>
          <p:cNvPr id="3" name="Shape 1"/>
          <p:cNvSpPr>
            <a:extLst>
              <a:ext uri="smNativeData">
                <pr:smNativeData xmlns:pr="smNativeData" xmlns="smNativeData" val="SMDATA_15_NR20ahMAAAAlAAAAZQAAAA0AAAAAkAAAAEgAAACQAAAASAAAAAAAAAAAAAAAAAAAAAEAAABQAAAA/1vJjo1ArD8AAAAAAADwvwAAAAAAAOA/AAAAAAAA4D8AAAAAAADgPwAAAAAAAOA/AAAAAAAA4D8AAAAAAADgPwAAAAAAAOA/AAAAAAAA4D8CAAAAjAAAAAEAAAAAAAAA6Pb1AP///wgAAAAAAAAAAAAAAAAAAAAAAAAAAAAAAAAAAAAAeAAAAAEAAABAAAAAAAAAAAAAAABaAAAAAAAAAAAAAAAAAAAAAAAAAAAAAAAAAAAAAAAAAAAAAAAAAAAAAAAAAAAAAAAAAAAAAAAAAAAAAAAAAAAAAAAAAAAAAAAAAAAAFAAAADwAAAABAAAAAAAAAAKAkAAKAAAAAQAAACMAAAAjAAAAIwAAAB4AAAAAAAAAZAAAAGQAAAAAAAAAZAAAAGQAAAAVAAAAYAAAAAAAAAAAAAAADwAAACADAAAAAAAAAAAAAAEAAACgMgAAVgcAAKr4//8BAAAAf39/AAEAAABkAAAAAAAAABQAAABAHwAAAAAAACYAAAAAAAAAwOD//wAAAAAmAAAAZAAAABYAAABMAAAAAQAAAAAAAAAGAAAAAAAAAAEAAAAAAAAAWAAAABwAAAAcAAAAZAAAAGQAAAAAAAAAy8vLAFgAAAAcAAAAHAAAAGQAAABkAAAAAAAAABcAAAAUAAAAAAAAAAAAAAD/fwAA/38AAAAAAAAJAAAABAAAAJaoAP8eAAAAaAAAAAAAAAAAAAAAAAAAAAAAAAAAAAAAECcAABAnAAAAAAAAAAAAAAAAAAAAAAAAAAAAAAAAAAAAAAAAAAAAAFA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6Pb1AAAAAAEAAAAAAAAAAAAAAAAAAAAAAAAAAAAAAAAAAAAAAAAAAAKAkAB/f38AAAAAAMvLywDAwP8Af39/AAAAAAAAAAAAAAAAAAAAAAAAAAAAIQAAABgAAAAUAAAA0AIAADAGAAAgEwAA4BkAABAAAAAmAAAACAAAAP//////////"/>
              </a:ext>
            </a:extLst>
          </p:cNvSpPr>
          <p:nvPr/>
        </p:nvSpPr>
        <p:spPr>
          <a:xfrm>
            <a:off x="457200" y="1005840"/>
            <a:ext cx="2651760" cy="3200400"/>
          </a:xfrm>
          <a:prstGeom prst="roundRect">
            <a:avLst>
              <a:gd name="adj" fmla="val 2759"/>
            </a:avLst>
          </a:prstGeom>
          <a:solidFill>
            <a:srgbClr val="E8F6F5"/>
          </a:solidFill>
          <a:ln w="6350" cap="flat" cmpd="sng" algn="ctr">
            <a:solidFill>
              <a:srgbClr val="028090"/>
            </a:solidFill>
            <a:prstDash val="solid"/>
            <a:headEnd type="none"/>
            <a:tailEnd type="none"/>
          </a:ln>
          <a:effectLst>
            <a:outerShdw blurRad="50800" dist="25145" dir="2700000" algn="bl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B4AHg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mgMAAMAGAABWEgAAjQgAABAAAAAmAAAACAAAAP//////////"/>
              </a:ext>
            </a:extLst>
          </p:cNvSpPr>
          <p:nvPr/>
        </p:nvSpPr>
        <p:spPr>
          <a:xfrm>
            <a:off x="585470" y="1097280"/>
            <a:ext cx="239522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Stack</a:t>
            </a:r>
            <a:endParaRPr lang="en-us" sz="1400" cap="none"/>
          </a:p>
        </p:txBody>
      </p:sp>
      <p:sp>
        <p:nvSpPr>
          <p:cNvPr id="5" name="Text 3"/>
          <p:cNvSpPr>
            <a:extLst>
              <a:ext uri="smNativeData">
                <pr:smNativeData xmlns:pr="smNativeData" xmlns="smNativeData" val="SMDATA_15_NR2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B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mgMAAKoIAABWEgAAUBkAABAAAAAmAAAACAAAAP//////////"/>
              </a:ext>
            </a:extLst>
          </p:cNvSpPr>
          <p:nvPr/>
        </p:nvSpPr>
        <p:spPr>
          <a:xfrm>
            <a:off x="585470" y="1408430"/>
            <a:ext cx="2395220" cy="270637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Memoria propia de cada task.</a:t>
            </a:r>
            <a:endParaRPr lang="en-us" sz="1300" cap="none"/>
          </a:p>
          <a:p>
            <a:pPr marL="0" indent="0">
              <a:buNone/>
            </a:pP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Ahí van variables locales y llamadas a funciones.</a:t>
            </a:r>
            <a:endParaRPr lang="en-us" sz="1300" cap="none"/>
          </a:p>
          <a:p>
            <a:pPr marL="0" indent="0">
              <a:buNone/>
            </a:pP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Si se acaba: el sistema se cuelga o se resetea.</a:t>
            </a:r>
            <a:endParaRPr lang="en-us" sz="1300" cap="none"/>
          </a:p>
        </p:txBody>
      </p:sp>
      <p:sp>
        <p:nvSpPr>
          <p:cNvPr id="6" name="Shape 4"/>
          <p:cNvSpPr>
            <a:extLst>
              <a:ext uri="smNativeData">
                <pr:smNativeData xmlns:pr="smNativeData" xmlns="smNativeData" val="SMDATA_15_NR20ahMAAAAlAAAAZQAAAA0AAAAAkAAAAEgAAACQAAAASAAAAAAAAAAAAAAAAAAAAAEAAABQAAAA/1vJjo1ArD8AAAAAAADwvwAAAAAAAOA/AAAAAAAA4D8AAAAAAADgPwAAAAAAAOA/AAAAAAAA4D8AAAAAAADgPwAAAAAAAOA/AAAAAAAA4D8CAAAAjAAAAAEAAAAAAAAA6Pb1AP///wgAAAAAAAAAAAAAAAAAAAAAAAAAAAAAAAAAAAAAeAAAAAEAAABAAAAAAAAAAAAAAABaAAAAAAAAAAAAAAAAAAAAAAAAAAAAAAAAAAAAAAAAAAAAAAAAAAAAAAAAAAAAAAAAAAAAAAAAAAAAAAAAAAAAAAAAAAAAAAAAAAAAFAAAADwAAAABAAAAAAAAAAColgAKAAAAAQAAACMAAAAjAAAAIwAAAB4AAAAAAAAAZAAAAGQAAAAAAAAAZAAAAGQAAAAVAAAAYAAAAAAAAAAAAAAADwAAACADAAAAAAAAAAAAAAEAAACgMgAAVgcAAKr4//8BAAAAf39/AAEAAABkAAAAAAAAABQAAABAHwAAAAAAACYAAAAAAAAAwOD//wAAAAAmAAAAZAAAABYAAABMAAAAAQAAAAAAAAAGAAAAAAAAAAEAAAAAAAAAWAAAABwAAAAcAAAAZAAAAGQAAAAAAAAAy8vLAFgAAAAcAAAAHAAAAGQAAABkAAAAAAAAABcAAAAUAAAAAAAAAAAAAAD/fwAA/38AAAAAAAAJAAAABAAAAGgnkQ4eAAAAaAAAAAAAAAAAAAAAAAAAAAAAAAAAAAAAECcAABAnAAAAAAAAAAAAAAAAAAAAAAAAAAAAAAAAAAAAAAAAAAAAAFA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6Pb1AAAAAAEAAAAAAAAAAAAAAAAAAAAAAAAAAAAAAAAAAAAAAAAAAAColgB/f38AAAAAAMvLywDAwP8Af39/AAAAAAAAAAAAAAAAAAAAAAAAAAAAIQAAABgAAAAUAAAA+BMAADAGAABIJAAA4BkAABAAAAAmAAAACAAAAP//////////"/>
              </a:ext>
            </a:extLst>
          </p:cNvSpPr>
          <p:nvPr/>
        </p:nvSpPr>
        <p:spPr>
          <a:xfrm>
            <a:off x="3246120" y="1005840"/>
            <a:ext cx="2651760" cy="3200400"/>
          </a:xfrm>
          <a:prstGeom prst="roundRect">
            <a:avLst>
              <a:gd name="adj" fmla="val 2759"/>
            </a:avLst>
          </a:prstGeom>
          <a:solidFill>
            <a:srgbClr val="E8F6F5"/>
          </a:solidFill>
          <a:ln w="6350" cap="flat" cmpd="sng" algn="ctr">
            <a:solidFill>
              <a:srgbClr val="00A896"/>
            </a:solidFill>
            <a:prstDash val="solid"/>
            <a:headEnd type="none"/>
            <a:tailEnd type="none"/>
          </a:ln>
          <a:effectLst>
            <a:outerShdw blurRad="50800" dist="25145" dir="2700000" algn="bl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B4AHg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whQAAMAGAAB+IwAAjQgAABAAAAAmAAAACAAAAP//////////"/>
              </a:ext>
            </a:extLst>
          </p:cNvSpPr>
          <p:nvPr/>
        </p:nvSpPr>
        <p:spPr>
          <a:xfrm>
            <a:off x="3374390" y="1097280"/>
            <a:ext cx="239522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b="1" cap="none">
                <a:solidFill>
                  <a:srgbClr val="00A896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Heap</a:t>
            </a:r>
            <a:endParaRPr lang="en-us" sz="1400" cap="none"/>
          </a:p>
        </p:txBody>
      </p:sp>
      <p:sp>
        <p:nvSpPr>
          <p:cNvPr id="8" name="Text 6"/>
          <p:cNvSpPr>
            <a:extLst>
              <a:ext uri="smNativeData">
                <pr:smNativeData xmlns:pr="smNativeData" xmlns="smNativeData" val="SMDATA_15_NR2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whQAAKoIAAB+IwAAUBkAABAAAAAmAAAACAAAAP//////////"/>
              </a:ext>
            </a:extLst>
          </p:cNvSpPr>
          <p:nvPr/>
        </p:nvSpPr>
        <p:spPr>
          <a:xfrm>
            <a:off x="3374390" y="1408430"/>
            <a:ext cx="2395220" cy="270637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Memoria dinámica compartida.</a:t>
            </a:r>
            <a:endParaRPr lang="en-us" sz="1300" cap="none"/>
          </a:p>
          <a:p>
            <a:pPr marL="0" indent="0">
              <a:buNone/>
            </a:pP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FreeRTOS y Arduino piden de acá (colas, strings, Wi-Fi).</a:t>
            </a:r>
            <a:endParaRPr lang="en-us" sz="1300" cap="none"/>
          </a:p>
          <a:p>
            <a:pPr marL="0" indent="0">
              <a:buNone/>
            </a:pP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xPortGetFreeHeapSize() dice cuánto queda.</a:t>
            </a:r>
            <a:endParaRPr lang="en-us" sz="1300" cap="none"/>
          </a:p>
        </p:txBody>
      </p:sp>
      <p:sp>
        <p:nvSpPr>
          <p:cNvPr id="9" name="Shape 7"/>
          <p:cNvSpPr>
            <a:extLst>
              <a:ext uri="smNativeData">
                <pr:smNativeData xmlns:pr="smNativeData" xmlns="smNativeData" val="SMDATA_15_NR20ahMAAAAlAAAAZQAAAA0AAAAAkAAAAEgAAACQAAAASAAAAAAAAAAAAAAAAAAAAAEAAABQAAAA/1vJjo1ArD8AAAAAAADwvwAAAAAAAOA/AAAAAAAA4D8AAAAAAADgPwAAAAAAAOA/AAAAAAAA4D8AAAAAAADgPwAAAAAAAOA/AAAAAAAA4D8CAAAAjAAAAAEAAAAAAAAA6Pb1AP///wgAAAAAAAAAAAAAAAAAAAAAAAAAAAAAAAAAAAAAeAAAAAEAAABAAAAAAAAAAAAAAABaAAAAAAAAAAAAAAAAAAAAAAAAAAAAAAAAAAAAAAAAAAAAAAAAAAAAAAAAAAAAAAAAAAAAAAAAAAAAAAAAAAAAAAAAAAAAAAAAAAAAFAAAADwAAAABAAAAAAAAAALDmgAKAAAAAQAAACMAAAAjAAAAIwAAAB4AAAAAAAAAZAAAAGQAAAAAAAAAZAAAAGQAAAAVAAAAYAAAAAAAAAAAAAAADwAAACADAAAAAAAAAAAAAAEAAACgMgAAVgcAAKr4//8BAAAAf39/AAEAAABkAAAAAAAAABQAAABAHwAAAAAAACYAAAAAAAAAwOD//wAAAAAmAAAAZAAAABYAAABMAAAAAQAAAAAAAAAGAAAAAAAAAAEAAAAAAAAAWAAAABwAAAAcAAAAZAAAAGQAAAAAAAAAy8vLAFgAAAAcAAAAHAAAAGQAAABkAAAAAAAAABcAAAAUAAAAAAAAAAAAAAD/fwAA/38AAAAAAAAJAAAABAAAAB4AHgAeAAAAaAAAAAAAAAAAAAAAAAAAAAAAAAAAAAAAECcAABAnAAAAAAAAAAAAAAAAAAAAAAAAAAAAAAAAAAAAAAAAAAAAAFA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6Pb1AAAAAAEAAAAAAAAAAAAAAAAAAAAAAAAAAAAAAAAAAAAAAAAAAALDmgB/f38AAAAAAMvLywDAwP8Af39/AAAAAAAAAAAAAAAAAAAAAAAAAAAAIQAAABgAAAAUAAAAICUAADAGAABwNQAA4BkAABAAAAAmAAAACAAAAP//////////"/>
              </a:ext>
            </a:extLst>
          </p:cNvSpPr>
          <p:nvPr/>
        </p:nvSpPr>
        <p:spPr>
          <a:xfrm>
            <a:off x="6035040" y="1005840"/>
            <a:ext cx="2651760" cy="3200400"/>
          </a:xfrm>
          <a:prstGeom prst="roundRect">
            <a:avLst>
              <a:gd name="adj" fmla="val 2759"/>
            </a:avLst>
          </a:prstGeom>
          <a:solidFill>
            <a:srgbClr val="E8F6F5"/>
          </a:solidFill>
          <a:ln w="6350" cap="flat" cmpd="sng" algn="ctr">
            <a:solidFill>
              <a:srgbClr val="02C39A"/>
            </a:solidFill>
            <a:prstDash val="solid"/>
            <a:headEnd type="none"/>
            <a:tailEnd type="none"/>
          </a:ln>
          <a:effectLst>
            <a:outerShdw blurRad="50800" dist="25145" dir="2700000" algn="bl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B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6iUAAMAGAACmNAAAjQgAABAAAAAmAAAACAAAAP//////////"/>
              </a:ext>
            </a:extLst>
          </p:cNvSpPr>
          <p:nvPr/>
        </p:nvSpPr>
        <p:spPr>
          <a:xfrm>
            <a:off x="6163310" y="1097280"/>
            <a:ext cx="239522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b="1" cap="none">
                <a:solidFill>
                  <a:srgbClr val="02C39A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High water mark</a:t>
            </a:r>
            <a:endParaRPr lang="en-us" sz="1400" cap="none"/>
          </a:p>
        </p:txBody>
      </p:sp>
      <p:sp>
        <p:nvSpPr>
          <p:cNvPr id="11" name="Text 9"/>
          <p:cNvSpPr>
            <a:extLst>
              <a:ext uri="smNativeData">
                <pr:smNativeData xmlns:pr="smNativeData" xmlns="smNativeData" val="SMDATA_15_NR2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6iUAAKoIAACmNAAAUBkAABAAAAAmAAAACAAAAP//////////"/>
              </a:ext>
            </a:extLst>
          </p:cNvSpPr>
          <p:nvPr/>
        </p:nvSpPr>
        <p:spPr>
          <a:xfrm>
            <a:off x="6163310" y="1408430"/>
            <a:ext cx="2395220" cy="270637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Lo más cerca que estuvo una task de quedarse sin stack.</a:t>
            </a:r>
            <a:endParaRPr lang="en-us" sz="1300" cap="none"/>
          </a:p>
          <a:p>
            <a:pPr marL="0" indent="0">
              <a:buNone/>
            </a:pP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Es el mínimo histórico de pila libre.</a:t>
            </a:r>
            <a:endParaRPr lang="en-us" sz="1300" cap="none"/>
          </a:p>
          <a:p>
            <a:pPr marL="0" indent="0">
              <a:buNone/>
            </a:pP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Sirve para dimensionar el stack.</a:t>
            </a:r>
            <a:endParaRPr lang="en-us" sz="13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B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0AIAAJMBAABwNQAAEAUAABAAAAAmAAAACAAAAP//////////"/>
              </a:ext>
            </a:extLst>
          </p:cNvSpPr>
          <p:nvPr/>
        </p:nvSpPr>
        <p:spPr>
          <a:xfrm>
            <a:off x="457200" y="255905"/>
            <a:ext cx="8229600" cy="5670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32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Estados y control de tasks</a:t>
            </a:r>
            <a:endParaRPr lang="en-us" sz="3200" cap="none"/>
          </a:p>
        </p:txBody>
      </p:sp>
      <p:sp>
        <p:nvSpPr>
          <p:cNvPr id="3" name="Shape 1"/>
          <p:cNvSpPr>
            <a:extLst>
              <a:ext uri="smNativeData">
                <pr:smNativeData xmlns:pr="smNativeData" xmlns="smNativeData" val="SMDATA_15_NR20ahMAAAAlAAAAZQAAAA0AAAAAkAAAAEgAAACQAAAASAAAAAAAAAAAAAAAAAAAAAEAAABQAAAA8UbmkT8YuD8AAAAAAADwvwAAAAAAAOA/AAAAAAAA4D8AAAAAAADgPwAAAAAAAOA/AAAAAAAA4D8AAAAAAADgPwAAAAAAAOA/AAAAAAAA4D8CAAAAjAAAAAEAAAAAAAAA6Pb1AP///wgAAAAAAAAAAAAAAAAAAAAAAAAAAAAAAAAAAAAAeAAAAAEAAABAAAAAAAAAAAAAAABaAAAAAAAAAAAAAAAAAAAAAAAAAAAAAAAAAAAAAAAAAAAAAAAAAAAAAAAAAAAAAAAAAAAAAAAAAAAAAAAAAAAAAAAAAAAAAAAAAAAAFAAAADwAAAABAAAAAAAAAAKAkAAKAAAAAQAAACMAAAAjAAAAIwAAAB4AAAAAAAAAZAAAAGQAAAAAAAAAZAAAAGQAAAAVAAAAYAAAAAAAAAAAAAAADwAAACADAAAAAAAAAAAAAAEAAACgMgAAVgcAAKr4//8BAAAAf39/AAEAAABkAAAAAAAAABQAAABAHwAAAAAAACYAAAAAAAAAwOD//wAAAAAmAAAAZAAAABYAAABMAAAAAQAAAAAAAAAGAAAAAAAAAAEAAAAAAAAAWAAAABwAAAAcAAAAZAAAAGQAAAAAAAAAy8vLAFgAAAAcAAAAHAAAAGQAAABkAAAAAAAAABcAAAAUAAAAAAAAAAAAAAD/fwAA/38AAAAAAAAJAAAABAAAAAAAAB4eAAAAaAAAAAAAAAAAAAAAAAAAAAAAAAAAAAAAECcAABAnAAAAAAAAAAAAAAAAAAAAAAAAAAAAAAAAAAAAAAAAAAAAAFA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6Pb1AAAAAAEAAAAAAAAAAAAAAAAAAAAAAAAAAAAAAAAAAAAAAAAAAAKAkAB/f38AAAAAAMvLywDAwP8Af39/AAAAAAAAAAAAAAAAAAAAAAAAAAAAIQAAABgAAAAUAAAA0AIAAOgFAABoEwAAeA8AABAAAAAmAAAACAAAAP//////////"/>
              </a:ext>
            </a:extLst>
          </p:cNvSpPr>
          <p:nvPr/>
        </p:nvSpPr>
        <p:spPr>
          <a:xfrm>
            <a:off x="457200" y="960120"/>
            <a:ext cx="2697480" cy="1554480"/>
          </a:xfrm>
          <a:prstGeom prst="roundRect">
            <a:avLst>
              <a:gd name="adj" fmla="val 4706"/>
            </a:avLst>
          </a:prstGeom>
          <a:solidFill>
            <a:srgbClr val="E8F6F5"/>
          </a:solidFill>
          <a:ln w="6350" cap="flat" cmpd="sng" algn="ctr">
            <a:solidFill>
              <a:srgbClr val="028090"/>
            </a:solidFill>
            <a:prstDash val="solid"/>
            <a:headEnd type="none"/>
            <a:tailEnd type="none"/>
          </a:ln>
          <a:effectLst>
            <a:outerShdw blurRad="50800" dist="25145" dir="2700000" algn="bl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mgMAAHgGAACeEgAARQgAABAAAAAmAAAACAAAAP//////////"/>
              </a:ext>
            </a:extLst>
          </p:cNvSpPr>
          <p:nvPr/>
        </p:nvSpPr>
        <p:spPr>
          <a:xfrm>
            <a:off x="585470" y="1051560"/>
            <a:ext cx="244094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Running</a:t>
            </a:r>
            <a:endParaRPr lang="en-us" sz="1400" cap="none"/>
          </a:p>
        </p:txBody>
      </p:sp>
      <p:sp>
        <p:nvSpPr>
          <p:cNvPr id="5" name="Text 3"/>
          <p:cNvSpPr>
            <a:extLst>
              <a:ext uri="smNativeData">
                <pr:smNativeData xmlns:pr="smNativeData" xmlns="smNativeData" val="SMDATA_15_NR2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B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mgMAAGIIAACeEgAA6A4AABAAAAAmAAAACAAAAP//////////"/>
              </a:ext>
            </a:extLst>
          </p:cNvSpPr>
          <p:nvPr/>
        </p:nvSpPr>
        <p:spPr>
          <a:xfrm>
            <a:off x="585470" y="1362710"/>
            <a:ext cx="2440940" cy="10604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Está usando el CPU ahora.</a:t>
            </a:r>
            <a:endParaRPr lang="en-us" sz="1300" cap="none"/>
          </a:p>
        </p:txBody>
      </p:sp>
      <p:sp>
        <p:nvSpPr>
          <p:cNvPr id="6" name="Shape 4"/>
          <p:cNvSpPr>
            <a:extLst>
              <a:ext uri="smNativeData">
                <pr:smNativeData xmlns:pr="smNativeData" xmlns="smNativeData" val="SMDATA_15_NR20ahMAAAAlAAAAZQAAAA0AAAAAkAAAAEgAAACQAAAASAAAAAAAAAAAAAAAAAAAAAEAAABQAAAA8UbmkT8YuD8AAAAAAADwvwAAAAAAAOA/AAAAAAAA4D8AAAAAAADgPwAAAAAAAOA/AAAAAAAA4D8AAAAAAADgPwAAAAAAAOA/AAAAAAAA4D8CAAAAjAAAAAEAAAAAAAAA6Pb1AP///wgAAAAAAAAAAAAAAAAAAAAAAAAAAAAAAAAAAAAAeAAAAAEAAABAAAAAAAAAAAAAAABaAAAAAAAAAAAAAAAAAAAAAAAAAAAAAAAAAAAAAAAAAAAAAAAAAAAAAAAAAAAAAAAAAAAAAAAAAAAAAAAAAAAAAAAAAAAAAAAAAAAAFAAAADwAAAABAAAAAAAAAAColgAKAAAAAQAAACMAAAAjAAAAIwAAAB4AAAAAAAAAZAAAAGQAAAAAAAAAZAAAAGQAAAAVAAAAYAAAAAAAAAAAAAAADwAAACADAAAAAAAAAAAAAAEAAACgMgAAVgcAAKr4//8BAAAAf39/AAEAAABkAAAAAAAAABQAAABAHwAAAAAAACYAAAAAAAAAwOD//wAAAAAmAAAAZAAAABYAAABMAAAAAQAAAAAAAAAGAAAAAAAAAAEAAAAAAAAAWAAAABwAAAAcAAAAZAAAAGQAAAAAAAAAy8vLAFgAAAAcAAAAHAAAAGQAAABkAAAAAAAAABcAAAAUAAAAAAAAAAAAAAD/fwAA/38AAAAAAAAJAAAABAAAAAAAAB4eAAAAaAAAAAAAAAAAAAAAAAAAAAAAAAAAAAAAECcAABAnAAAAAAAAAAAAAAAAAAAAAAAAAAAAAAAAAAAAAAAAAAAAAFA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6Pb1AAAAAAEAAAAAAAAAAAAAAAAAAAAAAAAAAAAAAAAAAAAAAAAAAAColgB/f38AAAAAAMvLywDAwP8Af39/AAAAAAAAAAAAAAAAAAAAAAAAAAAAIQAAABgAAAAUAAAAQBQAAOgFAADYJAAAeA8AABAAAAAmAAAACAAAAP//////////"/>
              </a:ext>
            </a:extLst>
          </p:cNvSpPr>
          <p:nvPr/>
        </p:nvSpPr>
        <p:spPr>
          <a:xfrm>
            <a:off x="3291840" y="960120"/>
            <a:ext cx="2697480" cy="1554480"/>
          </a:xfrm>
          <a:prstGeom prst="roundRect">
            <a:avLst>
              <a:gd name="adj" fmla="val 4706"/>
            </a:avLst>
          </a:prstGeom>
          <a:solidFill>
            <a:srgbClr val="E8F6F5"/>
          </a:solidFill>
          <a:ln w="6350" cap="flat" cmpd="sng" algn="ctr">
            <a:solidFill>
              <a:srgbClr val="00A896"/>
            </a:solidFill>
            <a:prstDash val="solid"/>
            <a:headEnd type="none"/>
            <a:tailEnd type="none"/>
          </a:ln>
          <a:effectLst>
            <a:outerShdw blurRad="50800" dist="25145" dir="2700000" algn="bl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B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ChUAAHgGAAAOJAAARQgAABAAAAAmAAAACAAAAP//////////"/>
              </a:ext>
            </a:extLst>
          </p:cNvSpPr>
          <p:nvPr/>
        </p:nvSpPr>
        <p:spPr>
          <a:xfrm>
            <a:off x="3420110" y="1051560"/>
            <a:ext cx="244094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b="1" cap="none">
                <a:solidFill>
                  <a:srgbClr val="00A896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Ready</a:t>
            </a:r>
            <a:endParaRPr lang="en-us" sz="1400" cap="none"/>
          </a:p>
        </p:txBody>
      </p:sp>
      <p:sp>
        <p:nvSpPr>
          <p:cNvPr id="8" name="Text 6"/>
          <p:cNvSpPr>
            <a:extLst>
              <a:ext uri="smNativeData">
                <pr:smNativeData xmlns:pr="smNativeData" xmlns="smNativeData" val="SMDATA_15_NR2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B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ChUAAGIIAAAOJAAA6A4AABAAAAAmAAAACAAAAP//////////"/>
              </a:ext>
            </a:extLst>
          </p:cNvSpPr>
          <p:nvPr/>
        </p:nvSpPr>
        <p:spPr>
          <a:xfrm>
            <a:off x="3420110" y="1362710"/>
            <a:ext cx="2440940" cy="10604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Quiere correr; espera su turno.</a:t>
            </a:r>
            <a:endParaRPr lang="en-us" sz="1300" cap="none"/>
          </a:p>
        </p:txBody>
      </p:sp>
      <p:sp>
        <p:nvSpPr>
          <p:cNvPr id="9" name="Shape 7"/>
          <p:cNvSpPr>
            <a:extLst>
              <a:ext uri="smNativeData">
                <pr:smNativeData xmlns:pr="smNativeData" xmlns="smNativeData" val="SMDATA_15_NR20ahMAAAAlAAAAZQAAAA0AAAAAkAAAAEgAAACQAAAASAAAAAAAAAAAAAAAAAAAAAEAAABQAAAA8UbmkT8YuD8AAAAAAADwvwAAAAAAAOA/AAAAAAAA4D8AAAAAAADgPwAAAAAAAOA/AAAAAAAA4D8AAAAAAADgPwAAAAAAAOA/AAAAAAAA4D8CAAAAjAAAAAEAAAAAAAAA6Pb1AP///wgAAAAAAAAAAAAAAAAAAAAAAAAAAAAAAAAAAAAAeAAAAAEAAABAAAAAAAAAAAAAAABaAAAAAAAAAAAAAAAAAAAAAAAAAAAAAAAAAAAAAAAAAAAAAAAAAAAAAAAAAAAAAAAAAAAAAAAAAAAAAAAAAAAAAAAAAAAAAAAAAAAAFAAAADwAAAABAAAAAAAAAALDmgAKAAAAAQAAACMAAAAjAAAAIwAAAB4AAAAAAAAAZAAAAGQAAAAAAAAAZAAAAGQAAAAVAAAAYAAAAAAAAAAAAAAADwAAACADAAAAAAAAAAAAAAEAAACgMgAAVgcAAKr4//8BAAAAf39/AAEAAABkAAAAAAAAABQAAABAHwAAAAAAACYAAAAAAAAAwOD//wAAAAAmAAAAZAAAABYAAABMAAAAAQAAAAAAAAAGAAAAAAAAAAEAAAAAAAAAWAAAABwAAAAcAAAAZAAAAGQAAAAAAAAAy8vLAFgAAAAcAAAAHAAAAGQAAABkAAAAAAAAABcAAAAUAAAAAAAAAAAAAAD/fwAA/38AAAAAAAAJAAAABAAAAF8AYAAeAAAAaAAAAAAAAAAAAAAAAAAAAAAAAAAAAAAAECcAABAnAAAAAAAAAAAAAAAAAAAAAAAAAAAAAAAAAAAAAAAAAAAAAFA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6Pb1AAAAAAEAAAAAAAAAAAAAAAAAAAAAAAAAAAAAAAAAAAAAAAAAAALDmgB/f38AAAAAAMvLywDAwP8Af39/AAAAAAAAAAAAAAAAAAAAAAAAAAAAIQAAABgAAAAUAAAAsCUAAOgFAABINgAAeA8AABAAAAAmAAAACAAAAP//////////"/>
              </a:ext>
            </a:extLst>
          </p:cNvSpPr>
          <p:nvPr/>
        </p:nvSpPr>
        <p:spPr>
          <a:xfrm>
            <a:off x="6126480" y="960120"/>
            <a:ext cx="2697480" cy="1554480"/>
          </a:xfrm>
          <a:prstGeom prst="roundRect">
            <a:avLst>
              <a:gd name="adj" fmla="val 4706"/>
            </a:avLst>
          </a:prstGeom>
          <a:solidFill>
            <a:srgbClr val="E8F6F5"/>
          </a:solidFill>
          <a:ln w="6350" cap="flat" cmpd="sng" algn="ctr">
            <a:solidFill>
              <a:srgbClr val="02C39A"/>
            </a:solidFill>
            <a:prstDash val="solid"/>
            <a:headEnd type="none"/>
            <a:tailEnd type="none"/>
          </a:ln>
          <a:effectLst>
            <a:outerShdw blurRad="50800" dist="25145" dir="2700000" algn="bl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B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eiYAAHgGAAB+NQAARQgAABAAAAAmAAAACAAAAP//////////"/>
              </a:ext>
            </a:extLst>
          </p:cNvSpPr>
          <p:nvPr/>
        </p:nvSpPr>
        <p:spPr>
          <a:xfrm>
            <a:off x="6254750" y="1051560"/>
            <a:ext cx="244094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b="1" cap="none">
                <a:solidFill>
                  <a:srgbClr val="02C39A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Blocked</a:t>
            </a:r>
            <a:endParaRPr lang="en-us" sz="1400" cap="none"/>
          </a:p>
        </p:txBody>
      </p:sp>
      <p:sp>
        <p:nvSpPr>
          <p:cNvPr id="11" name="Text 9"/>
          <p:cNvSpPr>
            <a:extLst>
              <a:ext uri="smNativeData">
                <pr:smNativeData xmlns:pr="smNativeData" xmlns="smNativeData" val="SMDATA_15_NR2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B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eiYAAGIIAAB+NQAA6A4AABAAAAAmAAAACAAAAP//////////"/>
              </a:ext>
            </a:extLst>
          </p:cNvSpPr>
          <p:nvPr/>
        </p:nvSpPr>
        <p:spPr>
          <a:xfrm>
            <a:off x="6254750" y="1362710"/>
            <a:ext cx="2440940" cy="10604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Espera un delay, una cola o un evento.</a:t>
            </a:r>
            <a:endParaRPr lang="en-us" sz="1300" cap="none"/>
          </a:p>
        </p:txBody>
      </p:sp>
      <p:sp>
        <p:nvSpPr>
          <p:cNvPr id="12" name="Shape 10"/>
          <p:cNvSpPr>
            <a:extLst>
              <a:ext uri="smNativeData">
                <pr:smNativeData xmlns:pr="smNativeData" xmlns="smNativeData" val="SMDATA_15_NR20ahMAAAAlAAAAZQAAAA0AAAAAkAAAAEgAAACQAAAASAAAAAAAAAAAAAAAAAAAAAEAAABQAAAAbkxPWOIBtT8AAAAAAADwvwAAAAAAAOA/AAAAAAAA4D8AAAAAAADgPwAAAAAAAOA/AAAAAAAA4D8AAAAAAADgPwAAAAAAAOA/AAAAAAAA4D8CAAAAjAAAAAEAAAAAAAAA6Pb1AP///wgAAAAAAAAAAAAAAAAAAAAAAAAAAAAAAAAAAAAAeAAAAAEAAABAAAAAAAAAAAAAAABaAAAAAAAAAAAAAAAAAAAAAAAAAAAAAAAAAAAAAAAAAAAAAAAAAAAAAAAAAAAAAAAAAAAAAAAAAAAAAAAAAAAAAAAAAAAAAAAAAAAAFAAAADwAAAABAAAAAAAAAAKAkAAKAAAAAQAAACMAAAAjAAAAIwAAAB4AAAAAAAAAZAAAAGQAAAAAAAAAZAAAAGQAAAAVAAAAYAAAAAAAAAAAAAAADwAAACADAAAAAAAAAAAAAAEAAACgMgAAVgcAAKr4//8BAAAAf39/AAEAAABkAAAAAAAAABQAAABAHwAAAAAAACYAAAAAAAAAwOD//wAAAAAmAAAAZAAAABYAAABMAAAAAQAAAAAAAAAGAAAAAAAAAAEAAAAAAAAAWAAAABwAAAAcAAAAZAAAAGQAAAAAAAAAy8vLAFgAAAAcAAAAHAAAAGQAAABkAAAAAAAAABcAAAAUAAAAAAAAAAAAAAD/fwAA/38AAAAAAAAJAAAABAAAAAAAAB4eAAAAaAAAAAAAAAAAAAAAAAAAAAAAAAAAAAAAECcAABAnAAAAAAAAAAAAAAAAAAAAAAAAAAAAAAAAAAAAAAAAAAAAAFA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6Pb1AAAAAAEAAAAAAAAAAAAAAAAAAAAAAAAAAAAAAAAAAAAAAAAAAAKAkAB/f38AAAAAAMvLywDAwP8Af39/AAAAAAAAAAAAAAAAAAAAAAAAAAAAIQAAABgAAAAUAAAA0AIAAJgQAABwNQAAkBsAABAAAAAmAAAACAAAAP//////////"/>
              </a:ext>
            </a:extLst>
          </p:cNvSpPr>
          <p:nvPr/>
        </p:nvSpPr>
        <p:spPr>
          <a:xfrm>
            <a:off x="457200" y="2697480"/>
            <a:ext cx="8229600" cy="1783080"/>
          </a:xfrm>
          <a:prstGeom prst="roundRect">
            <a:avLst>
              <a:gd name="adj" fmla="val 4103"/>
            </a:avLst>
          </a:prstGeom>
          <a:solidFill>
            <a:srgbClr val="E8F6F5"/>
          </a:solidFill>
          <a:ln w="6350" cap="flat" cmpd="sng" algn="ctr">
            <a:solidFill>
              <a:srgbClr val="028090"/>
            </a:solidFill>
            <a:prstDash val="solid"/>
            <a:headEnd type="none"/>
            <a:tailEnd type="none"/>
          </a:ln>
          <a:effectLst>
            <a:outerShdw blurRad="50800" dist="25145" dir="2700000" algn="bl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B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mgMAACgRAACmNAAA9RIAABAAAAAmAAAACAAAAP//////////"/>
              </a:ext>
            </a:extLst>
          </p:cNvSpPr>
          <p:nvPr/>
        </p:nvSpPr>
        <p:spPr>
          <a:xfrm>
            <a:off x="585470" y="2788920"/>
            <a:ext cx="797306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Control desde otra task (Proyecto 4)</a:t>
            </a:r>
            <a:endParaRPr lang="en-us" sz="1400" cap="none"/>
          </a:p>
        </p:txBody>
      </p:sp>
      <p:sp>
        <p:nvSpPr>
          <p:cNvPr id="14" name="Text 12"/>
          <p:cNvSpPr>
            <a:extLst>
              <a:ext uri="smNativeData">
                <pr:smNativeData xmlns:pr="smNativeData" xmlns="smNativeData" val="SMDATA_15_NR2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B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mgMAABITAACmNAAAABsAABAAAAAmAAAACAAAAP//////////"/>
              </a:ext>
            </a:extLst>
          </p:cNvSpPr>
          <p:nvPr/>
        </p:nvSpPr>
        <p:spPr>
          <a:xfrm>
            <a:off x="585470" y="3100070"/>
            <a:ext cx="7973060" cy="12890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Suspender / reanudar: pause sensor  ·  resume sensor</a:t>
            </a: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Cambiar prioridad: priority logger 5</a:t>
            </a: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Consultar: tasks  ·  status</a:t>
            </a: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Una task Watchdog puede vigilar que las demás sigan vivas.</a:t>
            </a:r>
            <a:endParaRPr lang="en-us" sz="13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0AIAAJMBAABwNQAAEAUAABAAAAAmAAAACAAAAP//////////"/>
              </a:ext>
            </a:extLst>
          </p:cNvSpPr>
          <p:nvPr/>
        </p:nvSpPr>
        <p:spPr>
          <a:xfrm>
            <a:off x="457200" y="255905"/>
            <a:ext cx="8229600" cy="5670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32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Máquina de estados y antirrebote</a:t>
            </a:r>
            <a:endParaRPr lang="en-us" sz="3200" cap="none"/>
          </a:p>
        </p:txBody>
      </p:sp>
      <p:sp>
        <p:nvSpPr>
          <p:cNvPr id="3" name="Shape 1"/>
          <p:cNvSpPr>
            <a:extLst>
              <a:ext uri="smNativeData">
                <pr:smNativeData xmlns:pr="smNativeData" xmlns="smNativeData" val="SMDATA_15_NR20ahMAAAAlAAAAZQAAAA0AAAAAkAAAAEgAAACQAAAASAAAAAAAAAAAAAAAAAAAAAEAAABQAAAAYtaLoZxopz8AAAAAAADwvwAAAAAAAOA/AAAAAAAA4D8AAAAAAADgPwAAAAAAAOA/AAAAAAAA4D8AAAAAAADgPwAAAAAAAOA/AAAAAAAA4D8CAAAAjAAAAAEAAAAAAAAA6Pb1AP///wgAAAAAAAAAAAAAAAAAAAAAAAAAAAAAAAAAAAAAeAAAAAEAAABAAAAAAAAAAAAAAABaAAAAAAAAAAAAAAAAAAAAAAAAAAAAAAAAAAAAAAAAAAAAAAAAAAAAAAAAAAAAAAAAAAAAAAAAAAAAAAAAAAAAAAAAAAAAAAAAAAAAFAAAADwAAAABAAAAAAAAAAKAkAAKAAAAAQAAACMAAAAjAAAAIwAAAB4AAAAAAAAAZAAAAGQAAAAAAAAAZAAAAGQAAAAVAAAAYAAAAAAAAAAAAAAADwAAACADAAAAAAAAAAAAAAEAAACgMgAAVgcAAKr4//8BAAAAf39/AAEAAABkAAAAAAAAABQAAABAHwAAAAAAACYAAAAAAAAAwOD//wAAAAAmAAAAZAAAABYAAABMAAAAAQAAAAAAAAAGAAAAAAAAAAEAAAAAAAAAWAAAABwAAAAcAAAAZAAAAGQAAAAAAAAAy8vLAFgAAAAcAAAAHAAAAGQAAABkAAAAAAAAABcAAAAUAAAAAAAAAAAAAAD/fwAA/38AAAAAAAAJAAAABAAAAAAAAB4eAAAAaAAAAAAAAAAAAAAAAAAAAAAAAAAAAAAAECcAABAnAAAAAAAAAAAAAAAAAAAAAAAAAAAAAAAAAAAAAAAAAAAAAFA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6Pb1AP///wEAAAAAAAAAAAAAAAAAAAAAAAAAAAAAAAAAAAAAAAAAAAKAkAB/f38AAAAAAMvLywDAwP8Af39/AAAAAAAAAAAAAAAAAAAAAAAAAAAAIQAAABgAAAAUAAAA0AIAADAGAABIGwAA4BkAABAAAAAmAAAACAAAAP//////////"/>
              </a:ext>
            </a:extLst>
          </p:cNvSpPr>
          <p:nvPr/>
        </p:nvSpPr>
        <p:spPr>
          <a:xfrm>
            <a:off x="457200" y="1005840"/>
            <a:ext cx="3977640" cy="3200400"/>
          </a:xfrm>
          <a:prstGeom prst="roundRect">
            <a:avLst>
              <a:gd name="adj" fmla="val 2286"/>
            </a:avLst>
          </a:prstGeom>
          <a:solidFill>
            <a:srgbClr val="E8F6F5"/>
          </a:solidFill>
          <a:ln w="6350" cap="flat" cmpd="sng" algn="ctr">
            <a:solidFill>
              <a:srgbClr val="028090"/>
            </a:solidFill>
            <a:prstDash val="solid"/>
            <a:headEnd type="none"/>
            <a:tailEnd type="none"/>
          </a:ln>
          <a:effectLst>
            <a:outerShdw blurRad="50800" dist="25145" dir="2700000" algn="bl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mgMAAMAGAAB+GgAAjQgAABAAAAAmAAAACAAAAP//////////"/>
              </a:ext>
            </a:extLst>
          </p:cNvSpPr>
          <p:nvPr/>
        </p:nvSpPr>
        <p:spPr>
          <a:xfrm>
            <a:off x="585470" y="1097280"/>
            <a:ext cx="372110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Máquina de estados</a:t>
            </a:r>
            <a:endParaRPr lang="en-us" sz="1400" cap="none"/>
          </a:p>
        </p:txBody>
      </p:sp>
      <p:sp>
        <p:nvSpPr>
          <p:cNvPr id="5" name="Text 3"/>
          <p:cNvSpPr>
            <a:extLst>
              <a:ext uri="smNativeData">
                <pr:smNativeData xmlns:pr="smNativeData" xmlns="smNativeData" val="SMDATA_15_NR2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B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mgMAAKoIAAB+GgAAUBkAABAAAAAmAAAACAAAAP//////////"/>
              </a:ext>
            </a:extLst>
          </p:cNvSpPr>
          <p:nvPr/>
        </p:nvSpPr>
        <p:spPr>
          <a:xfrm>
            <a:off x="585470" y="1408430"/>
            <a:ext cx="3721100" cy="270637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El semáforo no es un if suelto: es un conjunto de estados (rojo, verde, peatón pedido...).</a:t>
            </a:r>
            <a:endParaRPr lang="en-us" sz="1300" cap="none"/>
          </a:p>
          <a:p>
            <a:pPr marL="0" indent="0">
              <a:buNone/>
            </a:pP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Un evento dispara el cambio de estado.</a:t>
            </a:r>
            <a:endParaRPr lang="en-us" sz="1300" cap="none"/>
          </a:p>
          <a:p>
            <a:pPr marL="0" indent="0">
              <a:buNone/>
            </a:pP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Eso mantiene la lógica clara cuando hay varios tiempos y botones.</a:t>
            </a:r>
            <a:endParaRPr lang="en-us" sz="1300" cap="none"/>
          </a:p>
        </p:txBody>
      </p:sp>
      <p:sp>
        <p:nvSpPr>
          <p:cNvPr id="6" name="Shape 4"/>
          <p:cNvSpPr>
            <a:extLst>
              <a:ext uri="smNativeData">
                <pr:smNativeData xmlns:pr="smNativeData" xmlns="smNativeData" val="SMDATA_15_NR20ahMAAAAlAAAAZQAAAA0AAAAAkAAAAEgAAACQAAAASAAAAAAAAAAAAAAAAAAAAAEAAABQAAAAYtaLoZxopz8AAAAAAADwvwAAAAAAAOA/AAAAAAAA4D8AAAAAAADgPwAAAAAAAOA/AAAAAAAA4D8AAAAAAADgPwAAAAAAAOA/AAAAAAAA4D8CAAAAjAAAAAEAAAAAAAAA6Pb1AP///wgAAAAAAAAAAAAAAAAAAAAAAAAAAAAAAAAAAAAAeAAAAAEAAABAAAAAAAAAAAAAAABaAAAAAAAAAAAAAAAAAAAAAAAAAAAAAAAAAAAAAAAAAAAAAAAAAAAAAAAAAAAAAAAAAAAAAAAAAAAAAAAAAAAAAAAAAAAAAAAAAAAAFAAAADwAAAABAAAAAAAAAAColgAKAAAAAQAAACMAAAAjAAAAIwAAAB4AAAAAAAAAZAAAAGQAAAAAAAAAZAAAAGQAAAAVAAAAYAAAAAAAAAAAAAAADwAAACADAAAAAAAAAAAAAAEAAACgMgAAVgcAAKr4//8BAAAAf39/AAEAAABkAAAAAAAAABQAAABAHwAAAAAAACYAAAAAAAAAwOD//wAAAAAmAAAAZAAAABYAAABMAAAAAQAAAAAAAAAGAAAAAAAAAAEAAAAAAAAAWAAAABwAAAAcAAAAZAAAAGQAAAAAAAAAy8vLAFgAAAAcAAAAHAAAAGQAAABkAAAAAAAAABcAAAAUAAAAAAAAAAAAAAD/fwAA/38AAAAAAAAJAAAABAAAAAAAAB4eAAAAaAAAAAAAAAAAAAAAAAAAAAAAAAAAAAAAECcAABAnAAAAAAAAAAAAAAAAAAAAAAAAAAAAAAAAAAAAAAAAAAAAAFA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6Pb1AP///wEAAAAAAAAAAAAAAAAAAAAAAAAAAAAAAAAAAAAAAAAAAAColgB/f38AAAAAAMvLywDAwP8Af39/AAAAAAAAAAAAAAAAAAAAAAAAAAAAIQAAABgAAAAUAAAA+BwAADAGAABwNQAA4BkAABAAAAAmAAAACAAAAP//////////"/>
              </a:ext>
            </a:extLst>
          </p:cNvSpPr>
          <p:nvPr/>
        </p:nvSpPr>
        <p:spPr>
          <a:xfrm>
            <a:off x="4709160" y="1005840"/>
            <a:ext cx="3977640" cy="3200400"/>
          </a:xfrm>
          <a:prstGeom prst="roundRect">
            <a:avLst>
              <a:gd name="adj" fmla="val 2286"/>
            </a:avLst>
          </a:prstGeom>
          <a:solidFill>
            <a:srgbClr val="E8F6F5"/>
          </a:solidFill>
          <a:ln w="6350" cap="flat" cmpd="sng" algn="ctr">
            <a:solidFill>
              <a:srgbClr val="00A896"/>
            </a:solidFill>
            <a:prstDash val="solid"/>
            <a:headEnd type="none"/>
            <a:tailEnd type="none"/>
          </a:ln>
          <a:effectLst>
            <a:outerShdw blurRad="50800" dist="25145" dir="2700000" algn="bl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wh0AAMAGAACmNAAAjQgAABAAAAAmAAAACAAAAP//////////"/>
              </a:ext>
            </a:extLst>
          </p:cNvSpPr>
          <p:nvPr/>
        </p:nvSpPr>
        <p:spPr>
          <a:xfrm>
            <a:off x="4837430" y="1097280"/>
            <a:ext cx="372110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b="1" cap="none">
                <a:solidFill>
                  <a:srgbClr val="00A896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Antirrebote</a:t>
            </a:r>
            <a:endParaRPr lang="en-us" sz="1400" cap="none"/>
          </a:p>
        </p:txBody>
      </p:sp>
      <p:sp>
        <p:nvSpPr>
          <p:cNvPr id="8" name="Text 6"/>
          <p:cNvSpPr>
            <a:extLst>
              <a:ext uri="smNativeData">
                <pr:smNativeData xmlns:pr="smNativeData" xmlns="smNativeData" val="SMDATA_15_NR2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wh0AAKoIAACmNAAAUBkAABAAAAAmAAAACAAAAP//////////"/>
              </a:ext>
            </a:extLst>
          </p:cNvSpPr>
          <p:nvPr/>
        </p:nvSpPr>
        <p:spPr>
          <a:xfrm>
            <a:off x="4837430" y="1408430"/>
            <a:ext cx="3721100" cy="270637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Un botón mecánico rebota: varios flancos por una sola pulsación.</a:t>
            </a:r>
            <a:endParaRPr lang="en-us" sz="1300" cap="none"/>
          </a:p>
          <a:p>
            <a:pPr marL="0" indent="0">
              <a:buNone/>
            </a:pP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Hay que filtrar (tiempo o muestras) antes de tratarlo como evento.</a:t>
            </a:r>
            <a:endParaRPr lang="en-us" sz="1300" cap="none"/>
          </a:p>
          <a:p>
            <a:pPr marL="0" indent="0">
              <a:buNone/>
            </a:pP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Si no, el peatón pide el semáforo varias veces.</a:t>
            </a:r>
            <a:endParaRPr lang="en-us" sz="13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rUs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0AIAAJMBAABwNQAAEAUAABAAAAAmAAAACAAAAP//////////"/>
              </a:ext>
            </a:extLst>
          </p:cNvSpPr>
          <p:nvPr/>
        </p:nvSpPr>
        <p:spPr>
          <a:xfrm>
            <a:off x="457200" y="255905"/>
            <a:ext cx="8229600" cy="5670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32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FreeRTOS en Arduino (ESP32)</a:t>
            </a:r>
            <a:endParaRPr lang="en-us" sz="3200" cap="none"/>
          </a:p>
        </p:txBody>
      </p:sp>
      <p:sp>
        <p:nvSpPr>
          <p:cNvPr id="3" name="Text 1"/>
          <p:cNvSpPr>
            <a:extLst>
              <a:ext uri="smNativeData">
                <pr:smNativeData xmlns:pr="smNativeData" xmlns="smNativeData" val="SMDATA_15_NR2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r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0AIAAOgFAACgIAAAKBoAABAAAAAmAAAACAAAAP//////////"/>
              </a:ext>
            </a:extLst>
          </p:cNvSpPr>
          <p:nvPr/>
        </p:nvSpPr>
        <p:spPr>
          <a:xfrm>
            <a:off x="457200" y="960120"/>
            <a:ext cx="4846320" cy="329184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El core de ESP32 en Arduino IDE ya incluye FreeRTOS</a:t>
            </a:r>
            <a:endParaRPr lang="en-us" sz="1500" cap="none"/>
          </a:p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En setup() se crean las tasks (xTaskCreate o PinnedToCore)</a:t>
            </a:r>
            <a:endParaRPr lang="en-us" sz="1500" cap="none"/>
          </a:p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loop() puede quedar vacío: el scheduler toma el control</a:t>
            </a:r>
            <a:endParaRPr lang="en-us" sz="1500" cap="none"/>
          </a:p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Cada task corre su propio for(;;) con vTaskDelay</a:t>
            </a:r>
            <a:endParaRPr lang="en-us" sz="1500" cap="none"/>
          </a:p>
        </p:txBody>
      </p:sp>
      <p:sp>
        <p:nvSpPr>
          <p:cNvPr id="4" name="Shape 2"/>
          <p:cNvSpPr>
            <a:extLst>
              <a:ext uri="smNativeData">
                <pr:smNativeData xmlns:pr="smNativeData" xmlns="smNativeData" val="SMDATA_15_NR20ahMAAAAlAAAAZQAAAA0AAAAAkAAAAEgAAACQAAAASAAAAAAAAAAAAAAAAAAAAAEAAABQAAAAXW3F/rJ7yj8AAAAAAADwvwAAAAAAAOA/AAAAAAAA4D8AAAAAAADgPwAAAAAAAOA/AAAAAAAA4D8AAAAAAADgPwAAAAAAAOA/AAAAAAAA4D8CAAAAjAAAAAEAAAAAAAAAAoCQ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/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oCQAP///wEAAAAAAAAAAAAAAAAAAAAAAAAAAAAAAAAAAAAAAAAAAAAAAAB/f38A5+bmA8zMzADAwP8Af39/AAAAAAAAAAAAAAAAAAAAAAAAAAAAIQAAABgAAAAUAAAACCIAAHgGAAAoNQAAuwkAABAAAAAmAAAACAAAAP//////////"/>
              </a:ext>
            </a:extLst>
          </p:cNvSpPr>
          <p:nvPr/>
        </p:nvSpPr>
        <p:spPr>
          <a:xfrm>
            <a:off x="5532120" y="1051560"/>
            <a:ext cx="3108960" cy="530225"/>
          </a:xfrm>
          <a:prstGeom prst="roundRect">
            <a:avLst>
              <a:gd name="adj" fmla="val 10345"/>
            </a:avLst>
          </a:prstGeom>
          <a:solidFill>
            <a:srgbClr val="028090"/>
          </a:solidFill>
          <a:ln>
            <a:noFill/>
          </a:ln>
          <a:effectLst/>
        </p:spPr>
      </p:sp>
      <p:sp>
        <p:nvSpPr>
          <p:cNvPr id="5" name="Text 3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CCIAAN0GAAAoNQAAVgkAABAAAAAmAAAACAAAAP//////////"/>
              </a:ext>
            </a:extLst>
          </p:cNvSpPr>
          <p:nvPr/>
        </p:nvSpPr>
        <p:spPr>
          <a:xfrm>
            <a:off x="5532120" y="1115695"/>
            <a:ext cx="3108960" cy="4019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500" b="1" cap="none">
                <a:solidFill>
                  <a:srgbClr val="FFFFFF"/>
                </a:solidFill>
              </a:rPr>
              <a:t>setup()</a:t>
            </a:r>
            <a:endParaRPr lang="en-us" sz="1500" cap="none"/>
          </a:p>
        </p:txBody>
      </p:sp>
      <p:sp>
        <p:nvSpPr>
          <p:cNvPr id="6" name="Text 4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Y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MCoAAJAJAAAALQAAzQoAABAAAAAmAAAACAAAAP//////////"/>
              </a:ext>
            </a:extLst>
          </p:cNvSpPr>
          <p:nvPr/>
        </p:nvSpPr>
        <p:spPr>
          <a:xfrm>
            <a:off x="6858000" y="1554480"/>
            <a:ext cx="457200" cy="20129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400" cap="none">
                <a:solidFill>
                  <a:srgbClr val="028090"/>
                </a:solidFill>
              </a:rPr>
              <a:t>v</a:t>
            </a:r>
            <a:endParaRPr lang="en-us" sz="1400" cap="none"/>
          </a:p>
        </p:txBody>
      </p:sp>
      <p:sp>
        <p:nvSpPr>
          <p:cNvPr id="7" name="Shape 5"/>
          <p:cNvSpPr>
            <a:extLst>
              <a:ext uri="smNativeData">
                <pr:smNativeData xmlns:pr="smNativeData" xmlns="smNativeData" val="SMDATA_15_NR20ahMAAAAlAAAAZQAAAA0AAAAAkAAAAEgAAACQAAAASAAAAAAAAAAAAAAAAAAAAAEAAABQAAAAXW3F/rJ7yj8AAAAAAADwvwAAAAAAAOA/AAAAAAAA4D8AAAAAAADgPwAAAAAAAOA/AAAAAAAA4D8AAAAAAADgPwAAAAAAAOA/AAAAAAAA4D8CAAAAjAAAAAEAAAAAAAAAAKiW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7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KiWAP///wEAAAAAAAAAAAAAAAAAAAAAAAAAAAAAAAAAAAAAAAAAAAAAAAB/f38A5+bmA8zMzADAwP8Af39/AAAAAAAAAAAAAAAAAAAAAAAAAAAAIQAAABgAAAAUAAAACCIAAEALAAAoNQAAgw4AABAAAAAmAAAACAAAAP//////////"/>
              </a:ext>
            </a:extLst>
          </p:cNvSpPr>
          <p:nvPr/>
        </p:nvSpPr>
        <p:spPr>
          <a:xfrm>
            <a:off x="5532120" y="1828800"/>
            <a:ext cx="3108960" cy="530225"/>
          </a:xfrm>
          <a:prstGeom prst="roundRect">
            <a:avLst>
              <a:gd name="adj" fmla="val 10345"/>
            </a:avLst>
          </a:prstGeom>
          <a:solidFill>
            <a:srgbClr val="00A896"/>
          </a:solidFill>
          <a:ln>
            <a:noFill/>
          </a:ln>
          <a:effectLst/>
        </p:spPr>
      </p:sp>
      <p:sp>
        <p:nvSpPr>
          <p:cNvPr id="8" name="Text 6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CCIAAKULAAAoNQAAHg4AABAAAAAmAAAACAAAAP//////////"/>
              </a:ext>
            </a:extLst>
          </p:cNvSpPr>
          <p:nvPr/>
        </p:nvSpPr>
        <p:spPr>
          <a:xfrm>
            <a:off x="5532120" y="1892935"/>
            <a:ext cx="3108960" cy="4019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500" b="1" cap="none">
                <a:solidFill>
                  <a:srgbClr val="FFFFFF"/>
                </a:solidFill>
              </a:rPr>
              <a:t>xTaskCreate()</a:t>
            </a:r>
            <a:endParaRPr lang="en-us" sz="1500" cap="none"/>
          </a:p>
        </p:txBody>
      </p:sp>
      <p:sp>
        <p:nvSpPr>
          <p:cNvPr id="9" name="Text 7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N7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MCoAAFgOAAAALQAAlQ8AABAAAAAmAAAACAAAAP//////////"/>
              </a:ext>
            </a:extLst>
          </p:cNvSpPr>
          <p:nvPr/>
        </p:nvSpPr>
        <p:spPr>
          <a:xfrm>
            <a:off x="6858000" y="2331720"/>
            <a:ext cx="457200" cy="20129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400" cap="none">
                <a:solidFill>
                  <a:srgbClr val="028090"/>
                </a:solidFill>
              </a:rPr>
              <a:t>v</a:t>
            </a:r>
            <a:endParaRPr lang="en-us" sz="1400" cap="none"/>
          </a:p>
        </p:txBody>
      </p:sp>
      <p:sp>
        <p:nvSpPr>
          <p:cNvPr id="10" name="Shape 8"/>
          <p:cNvSpPr>
            <a:extLst>
              <a:ext uri="smNativeData">
                <pr:smNativeData xmlns:pr="smNativeData" xmlns="smNativeData" val="SMDATA_15_NR20ahMAAAAlAAAAZQAAAA0AAAAAkAAAAEgAAACQAAAASAAAAAAAAAAAAAAAAAAAAAEAAABQAAAAXW3F/rJ7yj8AAAAAAADwvwAAAAAAAOA/AAAAAAAA4D8AAAAAAADgPwAAAAAAAOA/AAAAAAAA4D8AAAAAAADgPwAAAAAAAOA/AAAAAAAA4D8CAAAAjAAAAAEAAAAAAAAAAsOa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j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sOaAP///wEAAAAAAAAAAAAAAAAAAAAAAAAAAAAAAAAAAAAAAAAAAAAAAAB/f38A5+bmA8zMzADAwP8Af39/AAAAAAAAAAAAAAAAAAAAAAAAAAAAIQAAABgAAAAUAAAACCIAAAgQAAAoNQAASxMAABAAAAAmAAAACAAAAP//////////"/>
              </a:ext>
            </a:extLst>
          </p:cNvSpPr>
          <p:nvPr/>
        </p:nvSpPr>
        <p:spPr>
          <a:xfrm>
            <a:off x="5532120" y="2606040"/>
            <a:ext cx="3108960" cy="530225"/>
          </a:xfrm>
          <a:prstGeom prst="roundRect">
            <a:avLst>
              <a:gd name="adj" fmla="val 10345"/>
            </a:avLst>
          </a:prstGeom>
          <a:solidFill>
            <a:srgbClr val="02C39A"/>
          </a:solidFill>
          <a:ln>
            <a:noFill/>
          </a:ln>
          <a:effectLst/>
        </p:spPr>
      </p:sp>
      <p:sp>
        <p:nvSpPr>
          <p:cNvPr id="11" name="Text 9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Y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CCIAAG0QAAAoNQAA5hIAABAAAAAmAAAACAAAAP//////////"/>
              </a:ext>
            </a:extLst>
          </p:cNvSpPr>
          <p:nvPr/>
        </p:nvSpPr>
        <p:spPr>
          <a:xfrm>
            <a:off x="5532120" y="2670175"/>
            <a:ext cx="3108960" cy="4019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500" b="1" cap="none">
                <a:solidFill>
                  <a:srgbClr val="FFFFFF"/>
                </a:solidFill>
              </a:rPr>
              <a:t>Scheduler</a:t>
            </a:r>
            <a:endParaRPr lang="en-us" sz="1500" cap="none"/>
          </a:p>
        </p:txBody>
      </p:sp>
      <p:sp>
        <p:nvSpPr>
          <p:cNvPr id="12" name="Text 10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7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MCoAACATAAAALQAAXRQAABAAAAAmAAAACAAAAP//////////"/>
              </a:ext>
            </a:extLst>
          </p:cNvSpPr>
          <p:nvPr/>
        </p:nvSpPr>
        <p:spPr>
          <a:xfrm>
            <a:off x="6858000" y="3108960"/>
            <a:ext cx="457200" cy="20129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400" cap="none">
                <a:solidFill>
                  <a:srgbClr val="028090"/>
                </a:solidFill>
              </a:rPr>
              <a:t>v</a:t>
            </a:r>
            <a:endParaRPr lang="en-us" sz="1400" cap="none"/>
          </a:p>
        </p:txBody>
      </p:sp>
      <p:sp>
        <p:nvSpPr>
          <p:cNvPr id="13" name="Shape 11"/>
          <p:cNvSpPr>
            <a:extLst>
              <a:ext uri="smNativeData">
                <pr:smNativeData xmlns:pr="smNativeData" xmlns="smNativeData" val="SMDATA_15_NR20ahMAAAAlAAAAZQAAAA0AAAAAkAAAAEgAAACQAAAASAAAAAAAAAAAAAAAAAAAAAEAAABQAAAAXW3F/rJ7yj8AAAAAAADwvwAAAAAAAOA/AAAAAAAA4D8AAAAAAADgPwAAAAAAAOA/AAAAAAAA4D8AAAAAAADgPwAAAAAAAOA/AAAAAAAA4D8CAAAAjAAAAAEAAAAAAAAAAoCQ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T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oCQAP///wEAAAAAAAAAAAAAAAAAAAAAAAAAAAAAAAAAAAAAAAAAAAAAAAB/f38A5+bmA8zMzADAwP8Af39/AAAAAAAAAAAAAAAAAAAAAAAAAAAAIQAAABgAAAAUAAAACCIAANAUAAAoNQAAExgAABAAAAAmAAAACAAAAP//////////"/>
              </a:ext>
            </a:extLst>
          </p:cNvSpPr>
          <p:nvPr/>
        </p:nvSpPr>
        <p:spPr>
          <a:xfrm>
            <a:off x="5532120" y="3383280"/>
            <a:ext cx="3108960" cy="530225"/>
          </a:xfrm>
          <a:prstGeom prst="roundRect">
            <a:avLst>
              <a:gd name="adj" fmla="val 10345"/>
            </a:avLst>
          </a:prstGeom>
          <a:solidFill>
            <a:srgbClr val="028090"/>
          </a:solidFill>
          <a:ln>
            <a:noFill/>
          </a:ln>
          <a:effectLst/>
        </p:spPr>
      </p:sp>
      <p:sp>
        <p:nvSpPr>
          <p:cNvPr id="14" name="Text 12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/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CCIAADUVAAAoNQAArhcAABAAAAAmAAAACAAAAP//////////"/>
              </a:ext>
            </a:extLst>
          </p:cNvSpPr>
          <p:nvPr/>
        </p:nvSpPr>
        <p:spPr>
          <a:xfrm>
            <a:off x="5532120" y="3447415"/>
            <a:ext cx="3108960" cy="4019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500" b="1" cap="none">
                <a:solidFill>
                  <a:srgbClr val="FFFFFF"/>
                </a:solidFill>
              </a:rPr>
              <a:t>Tasks activas</a:t>
            </a:r>
            <a:endParaRPr lang="en-us" sz="15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0AIAAJMBAABwNQAAEAUAABAAAAAmAAAACAAAAP//////////"/>
              </a:ext>
            </a:extLst>
          </p:cNvSpPr>
          <p:nvPr/>
        </p:nvSpPr>
        <p:spPr>
          <a:xfrm>
            <a:off x="457200" y="255905"/>
            <a:ext cx="8229600" cy="5670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30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Ejemplo: dos LEDs (Proyecto 1)</a:t>
            </a:r>
            <a:endParaRPr lang="en-us" sz="3000" cap="none"/>
          </a:p>
        </p:txBody>
      </p:sp>
      <p:sp>
        <p:nvSpPr>
          <p:cNvPr id="3" name="Shape 1"/>
          <p:cNvSpPr>
            <a:extLst>
              <a:ext uri="smNativeData">
                <pr:smNativeData xmlns:pr="smNativeData" xmlns="smNativeData" val="SMDATA_15_NR20ahMAAAAlAAAAZQAAAA0AAAAAkAAAAEgAAACQAAAASAAAAAAAAAAAAAAAAAAAAAEAAABQAAAAhuY6jbRUnj8AAAAAAADwvwAAAAAAAOA/AAAAAAAA4D8AAAAAAADgPwAAAAAAAOA/AAAAAAAA4D8AAAAAAADgPwAAAAAAAOA/AAAAAAAA4D8CAAAAjAAAAAEAAAAAAAAAHh4u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Hh4uAP///wEAAAAAAAAAAAAAAAAAAAAAAAAAAAAAAAAAAAAAAAAAAAAAAAB/f38A5+bmA8zMzADAwP8Af39/AAAAAAAAAAAAAAAAAAAAAAAAAAAAIQAAABgAAAAUAAAAQAIAAKAFAADYGwAAaBwAABAAAAAmAAAACAAAAP//////////"/>
              </a:ext>
            </a:extLst>
          </p:cNvSpPr>
          <p:nvPr/>
        </p:nvSpPr>
        <p:spPr>
          <a:xfrm>
            <a:off x="365760" y="914400"/>
            <a:ext cx="4160520" cy="3703320"/>
          </a:xfrm>
          <a:prstGeom prst="roundRect">
            <a:avLst>
              <a:gd name="adj" fmla="val 1481"/>
            </a:avLst>
          </a:prstGeom>
          <a:solidFill>
            <a:srgbClr val="1E1E2E"/>
          </a:solidFill>
          <a:ln>
            <a:noFill/>
          </a:ln>
          <a:effectLst/>
        </p:spPr>
      </p:sp>
      <p:sp>
        <p:nvSpPr>
          <p:cNvPr id="4" name="Text 2"/>
          <p:cNvSpPr>
            <a:extLst>
              <a:ext uri="smNativeData">
                <pr:smNativeData xmlns:pr="smNativeData" xmlns="smNativeData" val="SMDATA_15_NR2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JgMAADAGAADyGgAA2BsAABAAAAAmAAAACAAAAP//////////"/>
              </a:ext>
            </a:extLst>
          </p:cNvSpPr>
          <p:nvPr/>
        </p:nvSpPr>
        <p:spPr>
          <a:xfrm>
            <a:off x="511810" y="1005840"/>
            <a:ext cx="3868420" cy="352044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0" indent="0">
              <a:buNone/>
            </a:pPr>
            <a:r>
              <a:rPr lang="en-us" sz="11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void taskLedRapido(void *param) {</a:t>
            </a:r>
            <a:endParaRPr lang="en-us" sz="1100" cap="none"/>
          </a:p>
          <a:p>
            <a:pPr marL="0" indent="0">
              <a:buNone/>
            </a:pPr>
            <a:r>
              <a:rPr lang="en-us" sz="11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  pinMode(2, OUTPUT);</a:t>
            </a:r>
            <a:endParaRPr lang="en-us" sz="1100" cap="none"/>
          </a:p>
          <a:p>
            <a:pPr marL="0" indent="0">
              <a:buNone/>
            </a:pPr>
            <a:r>
              <a:rPr lang="en-us" sz="11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  for (;;) {</a:t>
            </a:r>
            <a:endParaRPr lang="en-us" sz="1100" cap="none"/>
          </a:p>
          <a:p>
            <a:pPr marL="0" indent="0">
              <a:buNone/>
            </a:pPr>
            <a:r>
              <a:rPr lang="en-us" sz="11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    digitalWrite(2, !digitalRead(2));</a:t>
            </a:r>
            <a:endParaRPr lang="en-us" sz="1100" cap="none"/>
          </a:p>
          <a:p>
            <a:pPr marL="0" indent="0">
              <a:buNone/>
            </a:pPr>
            <a:r>
              <a:rPr lang="en-us" sz="11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    vTaskDelay(pdMS_TO_TICKS(500));</a:t>
            </a:r>
            <a:endParaRPr lang="en-us" sz="1100" cap="none"/>
          </a:p>
          <a:p>
            <a:pPr marL="0" indent="0">
              <a:buNone/>
            </a:pPr>
            <a:r>
              <a:rPr lang="en-us" sz="11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  }</a:t>
            </a:r>
            <a:endParaRPr lang="en-us" sz="1100" cap="none"/>
          </a:p>
          <a:p>
            <a:pPr marL="0" indent="0">
              <a:buNone/>
            </a:pPr>
            <a:r>
              <a:rPr lang="en-us" sz="11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}</a:t>
            </a:r>
            <a:endParaRPr lang="en-us" sz="1100" cap="none"/>
          </a:p>
          <a:p>
            <a:pPr marL="0" indent="0">
              <a:buNone/>
            </a:pPr>
            <a:endParaRPr lang="en-us" sz="1100" cap="none"/>
          </a:p>
          <a:p>
            <a:pPr marL="0" indent="0">
              <a:buNone/>
            </a:pPr>
            <a:r>
              <a:rPr lang="en-us" sz="11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void taskLedLento(void *param) {</a:t>
            </a:r>
            <a:endParaRPr lang="en-us" sz="1100" cap="none"/>
          </a:p>
          <a:p>
            <a:pPr marL="0" indent="0">
              <a:buNone/>
            </a:pPr>
            <a:r>
              <a:rPr lang="en-us" sz="11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  pinMode(4, OUTPUT);</a:t>
            </a:r>
            <a:endParaRPr lang="en-us" sz="1100" cap="none"/>
          </a:p>
          <a:p>
            <a:pPr marL="0" indent="0">
              <a:buNone/>
            </a:pPr>
            <a:r>
              <a:rPr lang="en-us" sz="11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  for (;;) {</a:t>
            </a:r>
            <a:endParaRPr lang="en-us" sz="1100" cap="none"/>
          </a:p>
          <a:p>
            <a:pPr marL="0" indent="0">
              <a:buNone/>
            </a:pPr>
            <a:r>
              <a:rPr lang="en-us" sz="11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    digitalWrite(4, !digitalRead(4));</a:t>
            </a:r>
            <a:endParaRPr lang="en-us" sz="1100" cap="none"/>
          </a:p>
          <a:p>
            <a:pPr marL="0" indent="0">
              <a:buNone/>
            </a:pPr>
            <a:r>
              <a:rPr lang="en-us" sz="11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    vTaskDelay(pdMS_TO_TICKS(1000));</a:t>
            </a:r>
            <a:endParaRPr lang="en-us" sz="1100" cap="none"/>
          </a:p>
          <a:p>
            <a:pPr marL="0" indent="0">
              <a:buNone/>
            </a:pPr>
            <a:r>
              <a:rPr lang="en-us" sz="11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  }</a:t>
            </a:r>
            <a:endParaRPr lang="en-us" sz="1100" cap="none"/>
          </a:p>
          <a:p>
            <a:pPr marL="0" indent="0">
              <a:buNone/>
            </a:pPr>
            <a:r>
              <a:rPr lang="en-us" sz="11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}</a:t>
            </a:r>
            <a:endParaRPr lang="en-us" sz="1100" cap="none"/>
          </a:p>
        </p:txBody>
      </p:sp>
      <p:sp>
        <p:nvSpPr>
          <p:cNvPr id="5" name="Shape 3"/>
          <p:cNvSpPr>
            <a:extLst>
              <a:ext uri="smNativeData">
                <pr:smNativeData xmlns:pr="smNativeData" xmlns="smNativeData" val="SMDATA_15_NR20ahMAAAAlAAAAZQAAAA0AAAAAkAAAAEgAAACQAAAASAAAAAAAAAAAAAAAAAAAAAEAAABQAAAAhuY6jbRUnj8AAAAAAADwvwAAAAAAAOA/AAAAAAAA4D8AAAAAAADgPwAAAAAAAOA/AAAAAAAA4D8AAAAAAADgPwAAAAAAAOA/AAAAAAAA4D8CAAAAjAAAAAEAAAAAAAAAHh4u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Hh4uAP///wEAAAAAAAAAAAAAAAAAAAAAAAAAAAAAAAAAAAAAAAAAAAAAAAB/f38A5+bmA8zMzADAwP8Af39/AAAAAAAAAAAAAAAAAAAAAAAAAAAAIQAAABgAAAAUAAAAsBwAAKAFAAAANgAAaBwAABAAAAAmAAAACAAAAP//////////"/>
              </a:ext>
            </a:extLst>
          </p:cNvSpPr>
          <p:nvPr/>
        </p:nvSpPr>
        <p:spPr>
          <a:xfrm>
            <a:off x="4663440" y="914400"/>
            <a:ext cx="4114800" cy="3703320"/>
          </a:xfrm>
          <a:prstGeom prst="roundRect">
            <a:avLst>
              <a:gd name="adj" fmla="val 1481"/>
            </a:avLst>
          </a:prstGeom>
          <a:solidFill>
            <a:srgbClr val="1E1E2E"/>
          </a:solidFill>
          <a:ln>
            <a:noFill/>
          </a:ln>
          <a:effectLst/>
        </p:spPr>
      </p:sp>
      <p:sp>
        <p:nvSpPr>
          <p:cNvPr id="6" name="Text 4"/>
          <p:cNvSpPr>
            <a:extLst>
              <a:ext uri="smNativeData">
                <pr:smNativeData xmlns:pr="smNativeData" xmlns="smNativeData" val="SMDATA_15_NR2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lh0AADAGAAAaNQAA2BsAABAAAAAmAAAACAAAAP//////////"/>
              </a:ext>
            </a:extLst>
          </p:cNvSpPr>
          <p:nvPr/>
        </p:nvSpPr>
        <p:spPr>
          <a:xfrm>
            <a:off x="4809490" y="1005840"/>
            <a:ext cx="3822700" cy="352044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0" indent="0">
              <a:buNone/>
            </a:pPr>
            <a:r>
              <a:rPr lang="en-us" sz="12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void setup() {</a:t>
            </a:r>
            <a:endParaRPr lang="en-us" sz="1200" cap="none"/>
          </a:p>
          <a:p>
            <a:pPr marL="0" indent="0">
              <a:buNone/>
            </a:pPr>
            <a:r>
              <a:rPr lang="en-us" sz="12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  xTaskCreate(</a:t>
            </a:r>
            <a:endParaRPr lang="en-us" sz="1200" cap="none"/>
          </a:p>
          <a:p>
            <a:pPr marL="0" indent="0">
              <a:buNone/>
            </a:pPr>
            <a:r>
              <a:rPr lang="en-us" sz="12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    taskLedRapido, "LedRapido",</a:t>
            </a:r>
            <a:endParaRPr lang="en-us" sz="1200" cap="none"/>
          </a:p>
          <a:p>
            <a:pPr marL="0" indent="0">
              <a:buNone/>
            </a:pPr>
            <a:r>
              <a:rPr lang="en-us" sz="12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    2048, NULL, 1, NULL);</a:t>
            </a:r>
            <a:endParaRPr lang="en-us" sz="1200" cap="none"/>
          </a:p>
          <a:p>
            <a:pPr marL="0" indent="0">
              <a:buNone/>
            </a:pPr>
            <a:r>
              <a:rPr lang="en-us" sz="12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  xTaskCreate(</a:t>
            </a:r>
            <a:endParaRPr lang="en-us" sz="1200" cap="none"/>
          </a:p>
          <a:p>
            <a:pPr marL="0" indent="0">
              <a:buNone/>
            </a:pPr>
            <a:r>
              <a:rPr lang="en-us" sz="12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    taskLedLento, "LedLento",</a:t>
            </a:r>
            <a:endParaRPr lang="en-us" sz="1200" cap="none"/>
          </a:p>
          <a:p>
            <a:pPr marL="0" indent="0">
              <a:buNone/>
            </a:pPr>
            <a:r>
              <a:rPr lang="en-us" sz="12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    2048, NULL, 1, NULL);</a:t>
            </a:r>
            <a:endParaRPr lang="en-us" sz="1200" cap="none"/>
          </a:p>
          <a:p>
            <a:pPr marL="0" indent="0">
              <a:buNone/>
            </a:pPr>
            <a:r>
              <a:rPr lang="en-us" sz="12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}</a:t>
            </a:r>
            <a:endParaRPr lang="en-us" sz="1200" cap="none"/>
          </a:p>
          <a:p>
            <a:pPr marL="0" indent="0">
              <a:buNone/>
            </a:pPr>
            <a:endParaRPr lang="en-us" sz="1200" cap="none"/>
          </a:p>
          <a:p>
            <a:pPr marL="0" indent="0">
              <a:buNone/>
            </a:pPr>
            <a:r>
              <a:rPr lang="en-us" sz="12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void loop() {</a:t>
            </a:r>
            <a:endParaRPr lang="en-us" sz="1200" cap="none"/>
          </a:p>
          <a:p>
            <a:pPr marL="0" indent="0">
              <a:buNone/>
            </a:pPr>
            <a:r>
              <a:rPr lang="en-us" sz="12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  // vacío: corren las tasks</a:t>
            </a:r>
            <a:endParaRPr lang="en-us" sz="1200" cap="none"/>
          </a:p>
          <a:p>
            <a:pPr marL="0" indent="0">
              <a:buNone/>
            </a:pPr>
            <a:r>
              <a:rPr lang="en-us" sz="12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}</a:t>
            </a:r>
            <a:endParaRPr lang="en-us" sz="12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0AIAAJMBAABwNQAAEAUAABAAAAAmAAAACAAAAP//////////"/>
              </a:ext>
            </a:extLst>
          </p:cNvSpPr>
          <p:nvPr/>
        </p:nvSpPr>
        <p:spPr>
          <a:xfrm>
            <a:off x="457200" y="255905"/>
            <a:ext cx="8229600" cy="5670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32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Cómo se arma un sistema</a:t>
            </a:r>
            <a:endParaRPr lang="en-us" sz="3200" cap="none"/>
          </a:p>
        </p:txBody>
      </p:sp>
      <p:sp>
        <p:nvSpPr>
          <p:cNvPr id="3" name="Shape 1"/>
          <p:cNvSpPr>
            <a:extLst>
              <a:ext uri="smNativeData">
                <pr:smNativeData xmlns:pr="smNativeData" xmlns="smNativeData" val="SMDATA_15_NR20ahMAAAAlAAAAZQAAAA0AAAAAkAAAAEgAAACQAAAASAAAAAAAAAAAAAAAAAAAAAEAAABQAAAAb9Of/UgRwT8AAAAAAADwvwAAAAAAAOA/AAAAAAAA4D8AAAAAAADgPwAAAAAAAOA/AAAAAAAA4D8AAAAAAADgPwAAAAAAAOA/AAAAAAAA4D8CAAAAjAAAAAEAAAAAAAAAAoCQ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oCQAP///wEAAAAAAAAAAAAAAAAAAAAAAAAAAAAAAAAAAAAAAAAAAAAAAAB/f38A5+bmA8zMzADAwP8Af39/AAAAAAAAAAAAAAAAAAAAAAAAAAAAIQAAABgAAAAUAAAA0AIAAOgFAAAwDwAA0AsAABAAAAAmAAAACAAAAP//////////"/>
              </a:ext>
            </a:extLst>
          </p:cNvSpPr>
          <p:nvPr/>
        </p:nvSpPr>
        <p:spPr>
          <a:xfrm>
            <a:off x="457200" y="960120"/>
            <a:ext cx="2011680" cy="960120"/>
          </a:xfrm>
          <a:prstGeom prst="roundRect">
            <a:avLst>
              <a:gd name="adj" fmla="val 6667"/>
            </a:avLst>
          </a:prstGeom>
          <a:solidFill>
            <a:srgbClr val="028090"/>
          </a:solidFill>
          <a:ln>
            <a:noFill/>
          </a:ln>
          <a:effectLst/>
        </p:spPr>
      </p:sp>
      <p:sp>
        <p:nvSpPr>
          <p:cNvPr id="4" name="Text 2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0AIAAE0GAAAwDwAA1QgAABAAAAAmAAAACAAAAP//////////"/>
              </a:ext>
            </a:extLst>
          </p:cNvSpPr>
          <p:nvPr/>
        </p:nvSpPr>
        <p:spPr>
          <a:xfrm>
            <a:off x="457200" y="1024255"/>
            <a:ext cx="2011680" cy="4114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400" b="1" cap="none">
                <a:solidFill>
                  <a:srgbClr val="FFFFFF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Scheduler</a:t>
            </a:r>
            <a:endParaRPr lang="en-us" sz="1400" cap="none"/>
          </a:p>
        </p:txBody>
      </p:sp>
      <p:sp>
        <p:nvSpPr>
          <p:cNvPr id="5" name="Text 3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0AIAALgIAAAwDwAA+AoAABAAAAAmAAAACAAAAP//////////"/>
              </a:ext>
            </a:extLst>
          </p:cNvSpPr>
          <p:nvPr/>
        </p:nvSpPr>
        <p:spPr>
          <a:xfrm>
            <a:off x="457200" y="1417320"/>
            <a:ext cx="201168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200" cap="none">
                <a:solidFill>
                  <a:srgbClr val="FFFFFF"/>
                </a:solidFill>
              </a:rPr>
              <a:t>elige quién corre</a:t>
            </a:r>
            <a:endParaRPr lang="en-us" sz="1200" cap="none"/>
          </a:p>
        </p:txBody>
      </p:sp>
      <p:sp>
        <p:nvSpPr>
          <p:cNvPr id="6" name="Shape 4"/>
          <p:cNvSpPr>
            <a:extLst>
              <a:ext uri="smNativeData">
                <pr:smNativeData xmlns:pr="smNativeData" xmlns="smNativeData" val="SMDATA_15_NR20ahMAAAAlAAAAZQAAAA0AAAAAkAAAAEgAAACQAAAASAAAAAAAAAAAAAAAAAAAAAEAAABQAAAAb9Of/UgRwT8AAAAAAADwvwAAAAAAAOA/AAAAAAAA4D8AAAAAAADgPwAAAAAAAOA/AAAAAAAA4D8AAAAAAADgPwAAAAAAAOA/AAAAAAAA4D8CAAAAjAAAAAEAAAAAAAAAAKiW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KiWAP///wEAAAAAAAAAAAAAAAAAAAAAAAAAAAAAAAAAAAAAAAAAAAAAAAB/f38A5+bmA8zMzADAwP8Af39/AAAAAAAAAAAAAAAAAAAAAAAAAAAAIQAAABgAAAAUAAAACBAAAOgFAABoHAAA0AsAABAAAAAmAAAACAAAAP//////////"/>
              </a:ext>
            </a:extLst>
          </p:cNvSpPr>
          <p:nvPr/>
        </p:nvSpPr>
        <p:spPr>
          <a:xfrm>
            <a:off x="2606040" y="960120"/>
            <a:ext cx="2011680" cy="960120"/>
          </a:xfrm>
          <a:prstGeom prst="roundRect">
            <a:avLst>
              <a:gd name="adj" fmla="val 6667"/>
            </a:avLst>
          </a:prstGeom>
          <a:solidFill>
            <a:srgbClr val="00A896"/>
          </a:solidFill>
          <a:ln>
            <a:noFill/>
          </a:ln>
          <a:effectLst/>
        </p:spPr>
      </p:sp>
      <p:sp>
        <p:nvSpPr>
          <p:cNvPr id="7" name="Text 5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CBAAAE0GAABoHAAA1QgAABAAAAAmAAAACAAAAP//////////"/>
              </a:ext>
            </a:extLst>
          </p:cNvSpPr>
          <p:nvPr/>
        </p:nvSpPr>
        <p:spPr>
          <a:xfrm>
            <a:off x="2606040" y="1024255"/>
            <a:ext cx="2011680" cy="4114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400" b="1" cap="none">
                <a:solidFill>
                  <a:srgbClr val="FFFFFF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Tasks</a:t>
            </a:r>
            <a:endParaRPr lang="en-us" sz="1400" cap="none"/>
          </a:p>
        </p:txBody>
      </p:sp>
      <p:sp>
        <p:nvSpPr>
          <p:cNvPr id="8" name="Text 6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CBAAALgIAABoHAAA+AoAABAAAAAmAAAACAAAAP//////////"/>
              </a:ext>
            </a:extLst>
          </p:cNvSpPr>
          <p:nvPr/>
        </p:nvSpPr>
        <p:spPr>
          <a:xfrm>
            <a:off x="2606040" y="1417320"/>
            <a:ext cx="201168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200" cap="none">
                <a:solidFill>
                  <a:srgbClr val="FFFFFF"/>
                </a:solidFill>
              </a:rPr>
              <a:t>cada servicio</a:t>
            </a:r>
            <a:endParaRPr lang="en-us" sz="1200" cap="none"/>
          </a:p>
        </p:txBody>
      </p:sp>
      <p:sp>
        <p:nvSpPr>
          <p:cNvPr id="9" name="Shape 7"/>
          <p:cNvSpPr>
            <a:extLst>
              <a:ext uri="smNativeData">
                <pr:smNativeData xmlns:pr="smNativeData" xmlns="smNativeData" val="SMDATA_15_NR20ahMAAAAlAAAAZQAAAA0AAAAAkAAAAEgAAACQAAAASAAAAAAAAAAAAAAAAAAAAAEAAABQAAAAb9Of/UgRwT8AAAAAAADwvwAAAAAAAOA/AAAAAAAA4D8AAAAAAADgPwAAAAAAAOA/AAAAAAAA4D8AAAAAAADgPwAAAAAAAOA/AAAAAAAA4D8CAAAAjAAAAAEAAAAAAAAAAsOa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sOaAP///wEAAAAAAAAAAAAAAAAAAAAAAAAAAAAAAAAAAAAAAAAAAAAAAAB/f38A5+bmA8zMzADAwP8Af39/AAAAAAAAAAAAAAAAAAAAAAAAAAAAIQAAABgAAAAUAAAAQB0AAOgFAACgKQAA0AsAABAAAAAmAAAACAAAAP//////////"/>
              </a:ext>
            </a:extLst>
          </p:cNvSpPr>
          <p:nvPr/>
        </p:nvSpPr>
        <p:spPr>
          <a:xfrm>
            <a:off x="4754880" y="960120"/>
            <a:ext cx="2011680" cy="960120"/>
          </a:xfrm>
          <a:prstGeom prst="roundRect">
            <a:avLst>
              <a:gd name="adj" fmla="val 6667"/>
            </a:avLst>
          </a:prstGeom>
          <a:solidFill>
            <a:srgbClr val="02C39A"/>
          </a:solidFill>
          <a:ln>
            <a:noFill/>
          </a:ln>
          <a:effectLst/>
        </p:spPr>
      </p:sp>
      <p:sp>
        <p:nvSpPr>
          <p:cNvPr id="10" name="Text 8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QB0AAE0GAACgKQAA1QgAABAAAAAmAAAACAAAAP//////////"/>
              </a:ext>
            </a:extLst>
          </p:cNvSpPr>
          <p:nvPr/>
        </p:nvSpPr>
        <p:spPr>
          <a:xfrm>
            <a:off x="4754880" y="1024255"/>
            <a:ext cx="2011680" cy="4114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400" b="1" cap="none">
                <a:solidFill>
                  <a:srgbClr val="FFFFFF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Queue / ISR</a:t>
            </a:r>
            <a:endParaRPr lang="en-us" sz="1400" cap="none"/>
          </a:p>
        </p:txBody>
      </p:sp>
      <p:sp>
        <p:nvSpPr>
          <p:cNvPr id="11" name="Text 9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QB0AALgIAACgKQAA+AoAABAAAAAmAAAACAAAAP//////////"/>
              </a:ext>
            </a:extLst>
          </p:cNvSpPr>
          <p:nvPr/>
        </p:nvSpPr>
        <p:spPr>
          <a:xfrm>
            <a:off x="4754880" y="1417320"/>
            <a:ext cx="201168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200" cap="none">
                <a:solidFill>
                  <a:srgbClr val="FFFFFF"/>
                </a:solidFill>
              </a:rPr>
              <a:t>eventos y datos</a:t>
            </a:r>
            <a:endParaRPr lang="en-us" sz="1200" cap="none"/>
          </a:p>
        </p:txBody>
      </p:sp>
      <p:sp>
        <p:nvSpPr>
          <p:cNvPr id="12" name="Shape 10"/>
          <p:cNvSpPr>
            <a:extLst>
              <a:ext uri="smNativeData">
                <pr:smNativeData xmlns:pr="smNativeData" xmlns="smNativeData" val="SMDATA_15_NR20ahMAAAAlAAAAZQAAAA0AAAAAkAAAAEgAAACQAAAASAAAAAAAAAAAAAAAAAAAAAEAAABQAAAAb9Of/UgRwT8AAAAAAADwvwAAAAAAAOA/AAAAAAAA4D8AAAAAAADgPwAAAAAAAOA/AAAAAAAA4D8AAAAAAADgPwAAAAAAAOA/AAAAAAAA4D8CAAAAjAAAAAEAAAAAAAAAISlc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ISlcAP///wEAAAAAAAAAAAAAAAAAAAAAAAAAAAAAAAAAAAAAAAAAAAAAAAB/f38A5+bmA8zMzADAwP8Af39/AAAAAAAAAAAAAAAAAAAAAAAAAAAAIQAAABgAAAAUAAAAeCoAAOgFAADYNgAA0AsAABAAAAAmAAAACAAAAP//////////"/>
              </a:ext>
            </a:extLst>
          </p:cNvSpPr>
          <p:nvPr/>
        </p:nvSpPr>
        <p:spPr>
          <a:xfrm>
            <a:off x="6903720" y="960120"/>
            <a:ext cx="2011680" cy="960120"/>
          </a:xfrm>
          <a:prstGeom prst="roundRect">
            <a:avLst>
              <a:gd name="adj" fmla="val 6667"/>
            </a:avLst>
          </a:prstGeom>
          <a:solidFill>
            <a:srgbClr val="21295C"/>
          </a:solidFill>
          <a:ln>
            <a:noFill/>
          </a:ln>
          <a:effectLst/>
        </p:spPr>
      </p:sp>
      <p:sp>
        <p:nvSpPr>
          <p:cNvPr id="13" name="Text 11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eCoAAE0GAADYNgAA1QgAABAAAAAmAAAACAAAAP//////////"/>
              </a:ext>
            </a:extLst>
          </p:cNvSpPr>
          <p:nvPr/>
        </p:nvSpPr>
        <p:spPr>
          <a:xfrm>
            <a:off x="6903720" y="1024255"/>
            <a:ext cx="2011680" cy="4114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400" b="1" cap="none">
                <a:solidFill>
                  <a:srgbClr val="FFFFFF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Core 0 / 1</a:t>
            </a:r>
            <a:endParaRPr lang="en-us" sz="1400" cap="none"/>
          </a:p>
        </p:txBody>
      </p:sp>
      <p:sp>
        <p:nvSpPr>
          <p:cNvPr id="14" name="Text 12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eCoAALgIAADYNgAA+AoAABAAAAAmAAAACAAAAP//////////"/>
              </a:ext>
            </a:extLst>
          </p:cNvSpPr>
          <p:nvPr/>
        </p:nvSpPr>
        <p:spPr>
          <a:xfrm>
            <a:off x="6903720" y="1417320"/>
            <a:ext cx="201168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200" cap="none">
                <a:solidFill>
                  <a:srgbClr val="FFFFFF"/>
                </a:solidFill>
              </a:rPr>
              <a:t>dónde corre cada una</a:t>
            </a:r>
            <a:endParaRPr lang="en-us" sz="1200" cap="none"/>
          </a:p>
        </p:txBody>
      </p:sp>
      <p:sp>
        <p:nvSpPr>
          <p:cNvPr id="15" name="Text 13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GAMAANQPAAAoNQAAhxIAABAAAAAmAAAACAAAAP//////////"/>
              </a:ext>
            </a:extLst>
          </p:cNvSpPr>
          <p:nvPr/>
        </p:nvSpPr>
        <p:spPr>
          <a:xfrm>
            <a:off x="502920" y="2573020"/>
            <a:ext cx="8138160" cy="43878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cap="none">
                <a:solidFill>
                  <a:srgbClr val="1A1A2E"/>
                </a:solidFill>
              </a:rPr>
              <a:t>P1  Blink de 2 LEDs  - dos tasks y vTaskDelay</a:t>
            </a:r>
            <a:endParaRPr lang="en-us" sz="1400" cap="none"/>
          </a:p>
        </p:txBody>
      </p:sp>
      <p:sp>
        <p:nvSpPr>
          <p:cNvPr id="16" name="Text 15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GAMAAMoSAAAoNQAAfRUAAAAAAAAmAAAACAAAAP//////////"/>
              </a:ext>
            </a:extLst>
          </p:cNvSpPr>
          <p:nvPr/>
        </p:nvSpPr>
        <p:spPr>
          <a:xfrm>
            <a:off x="502920" y="3054350"/>
            <a:ext cx="8138160" cy="43878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cap="none">
                <a:solidFill>
                  <a:srgbClr val="1A1A2E"/>
                </a:solidFill>
              </a:rPr>
              <a:t>P2  Profiling  - prioridades, ISR, stack, jitter y dual-core</a:t>
            </a:r>
            <a:endParaRPr lang="en-us" sz="1400" cap="none"/>
          </a:p>
        </p:txBody>
      </p:sp>
      <p:sp>
        <p:nvSpPr>
          <p:cNvPr id="17" name="Text 16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GAMAALYVAAAoNQAAahgAAAAAAAAmAAAACAAAAP//////////"/>
              </a:ext>
            </a:extLst>
          </p:cNvSpPr>
          <p:nvPr/>
        </p:nvSpPr>
        <p:spPr>
          <a:xfrm>
            <a:off x="502920" y="3529330"/>
            <a:ext cx="8138160" cy="4394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cap="none">
                <a:solidFill>
                  <a:srgbClr val="1A1A2E"/>
                </a:solidFill>
              </a:rPr>
              <a:t>P3  Mini sistema operativo  - consola, heap/stack y control de tasks</a:t>
            </a:r>
            <a:endParaRPr lang="en-us" sz="1400" cap="none"/>
          </a:p>
        </p:txBody>
      </p:sp>
      <p:sp>
        <p:nvSpPr>
          <p:cNvPr id="18" name="Text 17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GAMAAKMYAAAoNQAAVhsAAAAAAAAmAAAACAAAAP//////////"/>
              </a:ext>
            </a:extLst>
          </p:cNvSpPr>
          <p:nvPr/>
        </p:nvSpPr>
        <p:spPr>
          <a:xfrm>
            <a:off x="502920" y="4004945"/>
            <a:ext cx="8138160" cy="43878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cap="none">
                <a:solidFill>
                  <a:srgbClr val="1A1A2E"/>
                </a:solidFill>
              </a:rPr>
              <a:t>P4  Panel web  - Wi-Fi en Core 0, medición a tiempo en Core 1</a:t>
            </a:r>
            <a:endParaRPr lang="en-us" sz="14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18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8AMAANACAABQNAAAeAYAABAAAAAmAAAACAAAAP//////////"/>
              </a:ext>
            </a:extLst>
          </p:cNvSpPr>
          <p:nvPr/>
        </p:nvSpPr>
        <p:spPr>
          <a:xfrm>
            <a:off x="640080" y="457200"/>
            <a:ext cx="7863840" cy="5943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3400" b="1" cap="none">
                <a:solidFill>
                  <a:srgbClr val="FFFFFF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Para llevarse</a:t>
            </a:r>
            <a:endParaRPr lang="en-us" sz="3400" cap="none"/>
          </a:p>
        </p:txBody>
      </p:sp>
      <p:sp>
        <p:nvSpPr>
          <p:cNvPr id="3" name="Shape 1"/>
          <p:cNvSpPr>
            <a:extLst>
              <a:ext uri="smNativeData">
                <pr:smNativeData xmlns:pr="smNativeData" xmlns="smNativeData" val="SMDATA_15_NR20ahMAAAAlAAAAZgAAAA0AAAAAkAAAAEgAAACQAAAASAAAAAAAAAAAAAAAAAAAAAEAAABQAAAAAAAAAAAA8D8AAAAAAADwPwAAAAAAAOA/AAAAAAAA4D8AAAAAAADgPwAAAAAAAOA/AAAAAAAA4D8AAAAAAADgPwAAAAAAAOA/AAAAAAAA4D8CAAAAjAAAAAEAAAAAAAAAAsOa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sOaAP///wEAAAAAAAAAAAAAAAAAAAAAAAAAAAAAAAAAAAAAAAAAAAAAAAB/f38A5+bmA8zMzADAwP8Af39/AAAAAAAAAAAAAAAAAAAAAAAAAAAAIQAAABgAAAAUAAAAOAQAACgIAAAFBgAA9QkAABAAAAAmAAAACAAAAP//////////"/>
              </a:ext>
            </a:extLst>
          </p:cNvSpPr>
          <p:nvPr/>
        </p:nvSpPr>
        <p:spPr>
          <a:xfrm>
            <a:off x="685800" y="1325880"/>
            <a:ext cx="292735" cy="292735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</p:sp>
      <p:sp>
        <p:nvSpPr>
          <p:cNvPr id="4" name="Text 2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CAcAAMMHAAAINAAA2woAABAAAAAmAAAACAAAAP//////////"/>
              </a:ext>
            </a:extLst>
          </p:cNvSpPr>
          <p:nvPr/>
        </p:nvSpPr>
        <p:spPr>
          <a:xfrm>
            <a:off x="1143000" y="1261745"/>
            <a:ext cx="7315200" cy="5029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600" cap="none">
                <a:solidFill>
                  <a:srgbClr val="E0E0E0"/>
                </a:solidFill>
              </a:rPr>
              <a:t>FreeRTOS reparte el CPU entre tasks según prioridad y núcleo</a:t>
            </a:r>
            <a:endParaRPr lang="en-us" sz="1600" cap="none"/>
          </a:p>
        </p:txBody>
      </p:sp>
      <p:sp>
        <p:nvSpPr>
          <p:cNvPr id="5" name="Shape 3"/>
          <p:cNvSpPr>
            <a:extLst>
              <a:ext uri="smNativeData">
                <pr:smNativeData xmlns:pr="smNativeData" xmlns="smNativeData" val="SMDATA_15_NR20ahMAAAAlAAAAZgAAAA0AAAAAkAAAAEgAAACQAAAASAAAAAAAAAAAAAAAAAAAAAEAAABQAAAAAAAAAAAA8D8AAAAAAADwPwAAAAAAAOA/AAAAAAAA4D8AAAAAAADgPwAAAAAAAOA/AAAAAAAA4D8AAAAAAADgPwAAAAAAAOA/AAAAAAAA4D8CAAAAjAAAAAEAAAAAAAAAAsOa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sOaAP///wEAAAAAAAAAAAAAAAAAAAAAAAAAAAAAAAAAAAAAAAAAAAAAAAB/f38A5+bmA8zMzADAwP8Af39/AAAAAAAAAAAAAAAAAAAAAAAAAAAAIQAAABgAAAAUAAAAOAQAAPAMAAAFBgAAvQ4AABAAAAAmAAAACAAAAP//////////"/>
              </a:ext>
            </a:extLst>
          </p:cNvSpPr>
          <p:nvPr/>
        </p:nvSpPr>
        <p:spPr>
          <a:xfrm>
            <a:off x="685800" y="2103120"/>
            <a:ext cx="292735" cy="292735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</p:sp>
      <p:sp>
        <p:nvSpPr>
          <p:cNvPr id="6" name="Text 4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CAcAAIsMAAAINAAAow8AABAAAAAmAAAACAAAAP//////////"/>
              </a:ext>
            </a:extLst>
          </p:cNvSpPr>
          <p:nvPr/>
        </p:nvSpPr>
        <p:spPr>
          <a:xfrm>
            <a:off x="1143000" y="2038985"/>
            <a:ext cx="7315200" cy="5029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600" cap="none">
                <a:solidFill>
                  <a:srgbClr val="E0E0E0"/>
                </a:solidFill>
              </a:rPr>
              <a:t>Colas, ISR cortas y stack/heap son el vocabulario de los proyectos</a:t>
            </a:r>
            <a:endParaRPr lang="en-us" sz="1600" cap="none"/>
          </a:p>
        </p:txBody>
      </p:sp>
      <p:sp>
        <p:nvSpPr>
          <p:cNvPr id="7" name="Shape 5"/>
          <p:cNvSpPr>
            <a:extLst>
              <a:ext uri="smNativeData">
                <pr:smNativeData xmlns:pr="smNativeData" xmlns="smNativeData" val="SMDATA_15_NR20ahMAAAAlAAAAZgAAAA0AAAAAkAAAAEgAAACQAAAASAAAAAAAAAAAAAAAAAAAAAEAAABQAAAAAAAAAAAA8D8AAAAAAADwPwAAAAAAAOA/AAAAAAAA4D8AAAAAAADgPwAAAAAAAOA/AAAAAAAA4D8AAAAAAADgPwAAAAAAAOA/AAAAAAAA4D8CAAAAjAAAAAEAAAAAAAAAAsOa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sOaAP///wEAAAAAAAAAAAAAAAAAAAAAAAAAAAAAAAAAAAAAAAAAAAAAAAB/f38A5+bmA8zMzADAwP8Af39/AAAAAAAAAAAAAAAAAAAAAAAAAAAAIQAAABgAAAAUAAAAOAQAALgRAAAFBgAAhRMAABAAAAAmAAAACAAAAP//////////"/>
              </a:ext>
            </a:extLst>
          </p:cNvSpPr>
          <p:nvPr/>
        </p:nvSpPr>
        <p:spPr>
          <a:xfrm>
            <a:off x="685800" y="2880360"/>
            <a:ext cx="292735" cy="292735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</p:sp>
      <p:sp>
        <p:nvSpPr>
          <p:cNvPr id="8" name="Text 6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CAcAAFMRAAAINAAAaxQAABAAAAAmAAAACAAAAP//////////"/>
              </a:ext>
            </a:extLst>
          </p:cNvSpPr>
          <p:nvPr/>
        </p:nvSpPr>
        <p:spPr>
          <a:xfrm>
            <a:off x="1143000" y="2816225"/>
            <a:ext cx="7315200" cy="5029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600" cap="none">
                <a:solidFill>
                  <a:srgbClr val="E0E0E0"/>
                </a:solidFill>
              </a:rPr>
              <a:t>El ESP32 trae todo esto incluido: se trabaja en la práctica, no en instalar un RTOS</a:t>
            </a:r>
            <a:endParaRPr lang="en-us" sz="1600" cap="none"/>
          </a:p>
        </p:txBody>
      </p:sp>
      <p:sp>
        <p:nvSpPr>
          <p:cNvPr id="9" name="Text 7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v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8AMAAFgXAABQNAAAUBkAABAAAAAmAAAACAAAAP//////////"/>
              </a:ext>
            </a:extLst>
          </p:cNvSpPr>
          <p:nvPr/>
        </p:nvSpPr>
        <p:spPr>
          <a:xfrm>
            <a:off x="640080" y="3794760"/>
            <a:ext cx="786384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cap="none">
                <a:solidFill>
                  <a:srgbClr val="02C39A"/>
                </a:solidFill>
              </a:rPr>
              <a:t>Recursos:  freertos.org  ·  docs.espressif.com</a:t>
            </a:r>
            <a:endParaRPr lang="en-us" sz="1400" cap="none"/>
          </a:p>
        </p:txBody>
      </p:sp>
      <p:sp>
        <p:nvSpPr>
          <p:cNvPr id="10" name="Text 8"/>
          <p:cNvSpPr>
            <a:extLst>
              <a:ext uri="smNativeData">
                <pr:smNativeData xmlns:pr="smNativeData" xmlns="smNativeData" val="SMDATA_15_NR2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3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8AMAAHAaAABQNAAAQB0AABAAAAAmAAAACAAAAP//////////"/>
              </a:ext>
            </a:extLst>
          </p:cNvSpPr>
          <p:nvPr/>
        </p:nvSpPr>
        <p:spPr>
          <a:xfrm>
            <a:off x="640080" y="4297680"/>
            <a:ext cx="786384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2600" b="1" cap="none">
                <a:solidFill>
                  <a:srgbClr val="FFFFFF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¿Preguntas?</a:t>
            </a:r>
            <a:endParaRPr lang="en-us" sz="26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Presentation">
  <a:themeElements>
    <a:clrScheme name="Presentation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resentation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>
        <a:prstTxWarp prst="textNoShape">
          <a:avLst/>
        </a:prstTxWarp>
        <a:noAutofit/>
      </a:bodyPr>
      <a:lstStyle>
        <a:defPPr>
          <a:defRPr/>
        </a:defPPr>
      </a:lstStyle>
      <a:style>
        <a:lnRef idx="0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Presentation 1">
        <a:dk1>
          <a:srgbClr val="000000"/>
        </a:dk1>
        <a:lt1>
          <a:srgbClr val="FFFFFF"/>
        </a:lt1>
        <a:dk2>
          <a:srgbClr val="44546A"/>
        </a:dk2>
        <a:lt2>
          <a:srgbClr val="E7E6E6"/>
        </a:lt2>
        <a:accent1>
          <a:srgbClr val="4472C4"/>
        </a:accent1>
        <a:accent2>
          <a:srgbClr val="ED7D31"/>
        </a:accent2>
        <a:accent3>
          <a:srgbClr val="A5A5A5"/>
        </a:accent3>
        <a:accent4>
          <a:srgbClr val="FFC000"/>
        </a:accent4>
        <a:accent5>
          <a:srgbClr val="5B9BD5"/>
        </a:accent5>
        <a:accent6>
          <a:srgbClr val="70AD47"/>
        </a:accent6>
        <a:hlink>
          <a:srgbClr val="0563C1"/>
        </a:hlink>
        <a:folHlink>
          <a:srgbClr val="954F7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Presentation">
  <a:themeElements>
    <a:clrScheme name="Presentation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resentation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>
        <a:prstTxWarp prst="textNoShape">
          <a:avLst/>
        </a:prstTxWarp>
        <a:noAutofit/>
      </a:bodyPr>
      <a:lstStyle>
        <a:defPPr>
          <a:defRPr/>
        </a:defPPr>
      </a:lstStyle>
      <a:style>
        <a:lnRef idx="0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Presentation 1">
        <a:dk1>
          <a:srgbClr val="000000"/>
        </a:dk1>
        <a:lt1>
          <a:srgbClr val="FFFFFF"/>
        </a:lt1>
        <a:dk2>
          <a:srgbClr val="44546A"/>
        </a:dk2>
        <a:lt2>
          <a:srgbClr val="E7E6E6"/>
        </a:lt2>
        <a:accent1>
          <a:srgbClr val="4472C4"/>
        </a:accent1>
        <a:accent2>
          <a:srgbClr val="ED7D31"/>
        </a:accent2>
        <a:accent3>
          <a:srgbClr val="A5A5A5"/>
        </a:accent3>
        <a:accent4>
          <a:srgbClr val="FFC000"/>
        </a:accent4>
        <a:accent5>
          <a:srgbClr val="5B9BD5"/>
        </a:accent5>
        <a:accent6>
          <a:srgbClr val="70AD47"/>
        </a:accent6>
        <a:hlink>
          <a:srgbClr val="0563C1"/>
        </a:hlink>
        <a:folHlink>
          <a:srgbClr val="954F7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Override1.xml><?xml version="1.0" encoding="utf-8"?>
<a:themeOverride xmlns:a="http://schemas.openxmlformats.org/drawingml/2006/main">
  <a:clrScheme name="Presentation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Presentation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Presentation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Presentation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5.xml><?xml version="1.0" encoding="utf-8"?>
<a:themeOverride xmlns:a="http://schemas.openxmlformats.org/drawingml/2006/main">
  <a:clrScheme name="Presentation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6.xml><?xml version="1.0" encoding="utf-8"?>
<a:themeOverride xmlns:a="http://schemas.openxmlformats.org/drawingml/2006/main">
  <a:clrScheme name="Presentation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7.xml><?xml version="1.0" encoding="utf-8"?>
<a:themeOverride xmlns:a="http://schemas.openxmlformats.org/drawingml/2006/main">
  <a:clrScheme name="Presentation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8.xml><?xml version="1.0" encoding="utf-8"?>
<a:themeOverride xmlns:a="http://schemas.openxmlformats.org/drawingml/2006/main">
  <a:clrScheme name="Presentation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9.xml><?xml version="1.0" encoding="utf-8"?>
<a:themeOverride xmlns:a="http://schemas.openxmlformats.org/drawingml/2006/main">
  <a:clrScheme name="Presentation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0.xml><?xml version="1.0" encoding="utf-8"?>
<a:themeOverride xmlns:a="http://schemas.openxmlformats.org/drawingml/2006/main">
  <a:clrScheme name="Presentation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1.xml><?xml version="1.0" encoding="utf-8"?>
<a:themeOverride xmlns:a="http://schemas.openxmlformats.org/drawingml/2006/main">
  <a:clrScheme name="Presentation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2.xml><?xml version="1.0" encoding="utf-8"?>
<a:themeOverride xmlns:a="http://schemas.openxmlformats.org/drawingml/2006/main">
  <a:clrScheme name="Presentation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3.xml><?xml version="1.0" encoding="utf-8"?>
<a:themeOverride xmlns:a="http://schemas.openxmlformats.org/drawingml/2006/main">
  <a:clrScheme name="Presentation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4.xml><?xml version="1.0" encoding="utf-8"?>
<a:themeOverride xmlns:a="http://schemas.openxmlformats.org/drawingml/2006/main">
  <a:clrScheme name="Presentation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5.xml><?xml version="1.0" encoding="utf-8"?>
<a:themeOverride xmlns:a="http://schemas.openxmlformats.org/drawingml/2006/main">
  <a:clrScheme name="Presentation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6.xml><?xml version="1.0" encoding="utf-8"?>
<a:themeOverride xmlns:a="http://schemas.openxmlformats.org/drawingml/2006/main">
  <a:clrScheme name="Presentation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7.xml><?xml version="1.0" encoding="utf-8"?>
<a:themeOverride xmlns:a="http://schemas.openxmlformats.org/drawingml/2006/main">
  <a:clrScheme name="Presentation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8.xml><?xml version="1.0" encoding="utf-8"?>
<a:themeOverride xmlns:a="http://schemas.openxmlformats.org/drawingml/2006/main">
  <a:clrScheme name="Presentation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FreeRTOS + ESP32 - Introducción</dc:title>
  <dc:subject>Técnicas Digitales 2</dc:subject>
  <dc:creator>UTN Paraná - TD2</dc:creator>
  <cp:keywords/>
  <dc:description/>
  <cp:lastModifiedBy>adriano</cp:lastModifiedBy>
  <cp:revision>0</cp:revision>
  <dcterms:created xsi:type="dcterms:W3CDTF">2026-09-19T23:44:41Z</dcterms:created>
  <dcterms:modified xsi:type="dcterms:W3CDTF">2026-09-23T18:40:53Z</dcterms:modified>
</cp:coreProperties>
</file>