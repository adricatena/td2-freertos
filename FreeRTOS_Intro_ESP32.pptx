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25880"/>
            <a:ext cx="8229600" cy="2148840"/>
          </a:xfrm>
          <a:prstGeom prst="roundRect">
            <a:avLst>
              <a:gd name="adj" fmla="val 4255"/>
            </a:avLst>
          </a:prstGeom>
          <a:solidFill>
            <a:srgbClr val="028090">
              <a:alpha val="8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508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+ ESP32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 mínimo para los proyectos de la materia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Digitales 2  ·  UTN Paraná  ·  Ingeniería Electrónica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la clase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0972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13385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qué es un RTOS y por qué un solo loop() no alcanza cuando hay varias tareas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5681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tasks, scheduler, prioridades y los dos núcleos del ESP32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7797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6974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Entender colas, ISR, stack/heap y cómo se controla una task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60273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5204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código de los proyectos de la materia, empezando por el blink de dos LEDs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loop() al problema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clásico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3721608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MCU ejecuta instrucciones una tras otra.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Arduino: setup() una vez y loop() para siempre.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un LED, un sensor o un ensayo corto. El programa es una sola cola de trabajo.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3717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Cuando se queda corto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7176" y="1408176"/>
            <a:ext cx="3721608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+ Wi-Fi + pantalla + botón al mismo tiempo.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delay() frena todo el programa.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distintos se mezclan.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se vuelve difícil de mantener.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pueden perder eventos.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RTOS y FreeRTOS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212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RTOS = Real-Time Operating System: sistema pequeño y eficiente para micros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Multitarea: varias tasks parecen correr en paralelo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scheduler es el director de orquesta: decide quién usa el CPU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es open source, liviano y muy usado en industria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ESP32 ya viene incluido (Arduino y ESP-IDF)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63640" y="1325880"/>
            <a:ext cx="2103120" cy="21031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263640" y="18288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RTOS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12648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freertos.org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principales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3721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task tiene un rol claro: sensor, comunicación, display, consola.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9145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 uso del CPU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91456" y="1408176"/>
            <a:ext cx="3721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una task espera, otra puede ejecutarse.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85216" y="283464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Respuesta predecible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" y="3145536"/>
            <a:ext cx="3721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prioridades atienden primero lo urgente.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91456" y="283464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91456" y="3145536"/>
            <a:ext cx="3721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agregan funciones sin reescribir todo el loop().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 central: Tasks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task es un mini-programa dentro del programa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 como una función con bucle infinito: for(;;) { ... }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nombre, prioridad y stack (memoria propia)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scheduler alterna entre tasks según prioridad y estado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núcleo, solo una task corre a la vez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0" y="1051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-&gt;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40680" y="14173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LED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858000" y="1444752"/>
            <a:ext cx="34747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1444752"/>
            <a:ext cx="34747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7863840" y="1444752"/>
            <a:ext cx="34747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366760" y="1444752"/>
            <a:ext cx="347472" cy="2560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224028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LED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67728" y="2267712"/>
            <a:ext cx="347472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7470648" y="2267712"/>
            <a:ext cx="347472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7973568" y="2267712"/>
            <a:ext cx="347472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8476488" y="2267712"/>
            <a:ext cx="347472" cy="2560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40680" y="306324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otras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077456" y="3090672"/>
            <a:ext cx="34747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0376" y="3090672"/>
            <a:ext cx="34747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8083296" y="3090672"/>
            <a:ext cx="347472" cy="2560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86216" y="3090672"/>
            <a:ext cx="347472" cy="256032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Scheduler, prioridades y delay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número de prioridad = más importante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scheduler es expulsivo: si entra una task más urgente, le quita el CPU a la otra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vTaskDelay() hace esperar sin bloquear el resto del sistema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una task, preferir vTaskDelay() (o pdMS_TO_TICKS) y no delay()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051560"/>
            <a:ext cx="3017520" cy="3200400"/>
          </a:xfrm>
          <a:prstGeom prst="roundRect">
            <a:avLst>
              <a:gd name="adj" fmla="val 2424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97296" y="1143000"/>
            <a:ext cx="2761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97296" y="1453896"/>
            <a:ext cx="276148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prioridad: medir un período con precisión.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prioridad: un cálculo pesado.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subimos la prioridad del cálculo, la medición pierde tiempos: eso es jitter.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Dual-core en ESP32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3721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llevar Wi-Fi, Bluetooth y el servidor web.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consume CPU y no es muy predecible.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típica: xTaskCreatePinnedToCore(..., 0)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3717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7176" y="1408176"/>
            <a:ext cx="3721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Conviene usarlo para lo que tiene que responder a tiempo: sensores, medición, control.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la red no le roba el CPU a lo urgente.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típica: xTaskCreatePinnedToCore(..., 1)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Colas y productor-consumidor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queue es un buzón: una task deja datos, otra los retira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Productor: genera eventos o mediciones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Consumidor: los procesa a su ritmo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cola está vacía, el consumidor espera sin gastar CPU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dos tasks se hablan sin compartir variables a lo loco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125272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(botón / sensor)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49440" y="18928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224028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0" y="23500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(buzón)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0" y="29900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0" y="3337560"/>
            <a:ext cx="3017520" cy="777240"/>
          </a:xfrm>
          <a:prstGeom prst="roundRect">
            <a:avLst>
              <a:gd name="adj" fmla="val 7059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3447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(lógica / display)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Semáforos, eventos y mutex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896112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39496" y="98755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39496" y="1298448"/>
            <a:ext cx="244144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una bandera.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Transporta: nada, solo un aviso.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qué: despertar a una task.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llegó el flanco, seguí.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18688" y="896112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46704" y="98755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46704" y="1298448"/>
            <a:ext cx="244144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pasó: flanco, timeout, comando.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objeto aparte en FreeRTOS.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avisa con cola (si hay dato) o con semáforo (si solo hay que despertar).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896112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E8F6F5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63056" y="987552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Mutex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63056" y="1298448"/>
            <a:ext cx="2441448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un candado.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Transporta: nada; reserva un recurso.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qué: Serial, I2C, una variable compartida.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tasks no lo usan a la vez.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364992"/>
            <a:ext cx="8321040" cy="1417320"/>
          </a:xfrm>
          <a:prstGeom prst="roundRect">
            <a:avLst>
              <a:gd name="adj" fmla="val 5161"/>
            </a:avLst>
          </a:prstGeom>
          <a:solidFill>
            <a:srgbClr val="F4FAF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3814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¿Cuál uso?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pasar un dato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(timestamp, comando, medición).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Semáforo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4005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hay que despertar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otra task: pasó algo.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4005072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tasks quieren el mismo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(Serial, bus I2C).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ISR: capturar y encolar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ISR (rutina de interrupción) debe ser muy corta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no calcular, no imprimir, no esperar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guardar un timestamp o un flanco y mandarlo a una queue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task se despierta, lee la cola y hace el trabajo pesado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23560" y="1051560"/>
            <a:ext cx="3063240" cy="3200400"/>
          </a:xfrm>
          <a:prstGeom prst="roundRect">
            <a:avLst>
              <a:gd name="adj" fmla="val 2388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51576" y="1143000"/>
            <a:ext cx="2807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Cadena corta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51576" y="1453896"/>
            <a:ext cx="28072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Flanco en un pin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ISR captura el tiempo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xQueueSendFromISR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TaskMeasure calcula período y jitter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Memoria: stack, heap y high water mark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0972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239572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propia de cada task.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Ahí van variables locales y llamadas a funciones.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acaba: el sistema se cuelga o se resetea.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74136" y="10972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74136" y="1408176"/>
            <a:ext cx="239572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dinámica compartida.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y Arduino piden de acá (colas, strings, Wi-Fi).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xPortGetFreeHeapSize() dice cuánto queda.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05840"/>
            <a:ext cx="2651760" cy="3200400"/>
          </a:xfrm>
          <a:prstGeom prst="roundRect">
            <a:avLst>
              <a:gd name="adj" fmla="val 2759"/>
            </a:avLst>
          </a:prstGeom>
          <a:solidFill>
            <a:srgbClr val="E8F6F5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63056" y="109728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water mark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63056" y="1408176"/>
            <a:ext cx="239572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más cerca que estuvo una task de quedarse sin stack.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mínimo histórico de pila libre.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Sirve para dimensionar el stack.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Estados y control de tasks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05156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1362456"/>
            <a:ext cx="2441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usando el CPU ahora.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9601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19856" y="105156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19856" y="1362456"/>
            <a:ext cx="2441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 correr; espera su turno.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96012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E8F6F5"/>
          </a:solidFill>
          <a:ln w="6350">
            <a:solidFill>
              <a:srgbClr val="02C39A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54496" y="1051560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54496" y="1362456"/>
            <a:ext cx="244144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 un delay, una cola o un evento.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8229600" cy="1783080"/>
          </a:xfrm>
          <a:prstGeom prst="roundRect">
            <a:avLst>
              <a:gd name="adj" fmla="val 4103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" y="2788920"/>
            <a:ext cx="7973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desde otra task (Proyecto 4)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" y="3099816"/>
            <a:ext cx="7973568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Suspender / reanudar: pause sensor  ·  resume sensor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prioridad: priority logger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Consultar: tasks  ·  status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task Watchdog puede vigilar que las demás sigan vivas.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de estados y antirrebote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6F5"/>
          </a:solidFill>
          <a:ln w="6350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8521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Máquina de estados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3721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semáforo no es un if suelto: es un conjunto de estados (rojo, verde, peatón pedido...).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evento dispara el cambio de estado.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 mantiene la lógica clara cuando hay varios tiempos y botones.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05840"/>
            <a:ext cx="3977640" cy="3200400"/>
          </a:xfrm>
          <a:prstGeom prst="roundRect">
            <a:avLst>
              <a:gd name="adj" fmla="val 2286"/>
            </a:avLst>
          </a:prstGeom>
          <a:solidFill>
            <a:srgbClr val="E8F6F5"/>
          </a:solidFill>
          <a:ln w="6350">
            <a:solidFill>
              <a:srgbClr val="00A896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37176" y="1097280"/>
            <a:ext cx="3721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Antirrebote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37176" y="1408176"/>
            <a:ext cx="3721608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botón mecánico rebota: varios flancos por una sola pulsación.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filtrar (tiempo o muestras) antes de tratarlo como evento.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no, el peatón pide el semáforo varias veces.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FreeRTOS en Arduino (ESP32)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core de ESP32 en Arduino IDE ya incluye FreeRTOS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setup() se crean las tasks (xTaskCreate o PinnedToCore)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loop() puede quedar vacío: el scheduler toma el control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task corre su propio for(;;) con vTaskDelay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32120" y="1051560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532120" y="111556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setup()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0" y="15544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2120" y="1828800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5532120" y="189280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xTaskCreate()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0" y="23317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2120" y="2606040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532120" y="2670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310896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32120" y="3383280"/>
            <a:ext cx="3108960" cy="530352"/>
          </a:xfrm>
          <a:prstGeom prst="roundRect">
            <a:avLst>
              <a:gd name="adj" fmla="val 10345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344728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activas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Ejemplo: dos LEDs (Proyecto 1)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160520" cy="3703320"/>
          </a:xfrm>
          <a:prstGeom prst="roundRect">
            <a:avLst>
              <a:gd name="adj" fmla="val 1481"/>
            </a:avLst>
          </a:prstGeom>
          <a:solidFill>
            <a:srgbClr val="1E1E2E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" y="1005840"/>
            <a:ext cx="386791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taskLedRapido(void *param)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pinMode(2, OUTPUT);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(;;)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digitalWrite(2, !digitalRead(2));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vTaskDelay(pdMS_TO_TICKS(500));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taskLedLento(void *param)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pinMode(4, OUTPUT);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(;;)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digitalWrite(4, !digitalRead(4));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vTaskDelay(pdMS_TO_TICKS(1000));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663440" y="914400"/>
            <a:ext cx="4114800" cy="3703320"/>
          </a:xfrm>
          <a:prstGeom prst="roundRect">
            <a:avLst>
              <a:gd name="adj" fmla="val 1481"/>
            </a:avLst>
          </a:prstGeom>
          <a:solidFill>
            <a:srgbClr val="1E1E2E"/>
          </a:solidFill>
          <a:ln/>
        </p:spPr>
      </p:sp>
      <p:sp>
        <p:nvSpPr>
          <p:cNvPr id="6" name="Text 4"/>
          <p:cNvSpPr/>
          <p:nvPr/>
        </p:nvSpPr>
        <p:spPr>
          <a:xfrm>
            <a:off x="4809744" y="1005840"/>
            <a:ext cx="3822192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setup()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xTaskCreate(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taskLedRapido, "LedRapido",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2048, NULL, 1, NULL);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xTaskCreate(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taskLedLento, "LedLento",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2048, NULL, 1, NULL);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loop()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vacío: corren las tasks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arma un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quién corre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96012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2606040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/ ISR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y datos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960120"/>
            <a:ext cx="2011680" cy="96012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0241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0 / 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corre cada una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10312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Blink de 2 LEDs  - dos tasks y vTaskDelay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57860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Semáforo peatonal  - colas, eventos, FSM y antirrebote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3054096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Profiling  - prioridades, ISR, stack, jitter y dual-core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3529584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Mini sistema operativo  - consola, heap/stack y control de tasks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0050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Panel web  - Wi-Fi en Core 0, medición a tiempo en Core 1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2618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FreeRTOS reparte el CPU entre tasks según prioridad y núcleo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0391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Colas, ISR cortas y stack/heap son el vocabulario de los proyectos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8803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163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ESP32 trae todo esto incluido: se trabaja en la práctica, no en instalar un RTOS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Recursos:  freertos.org  ·  docs.espressif.com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FreeRTOS + ESP32 - Introducción</dc:title>
  <dc:subject>Técnicas Digitales 2</dc:subject>
  <dc:creator>UTN Paraná - TD2</dc:creator>
  <cp:lastModifiedBy>UTN Paraná - TD2</cp:lastModifiedBy>
  <cp:revision>1</cp:revision>
  <dcterms:created xsi:type="dcterms:W3CDTF">2026-09-23T20:07:31Z</dcterms:created>
  <dcterms:modified xsi:type="dcterms:W3CDTF">2026-09-23T20:07:31Z</dcterms:modified>
</cp:coreProperties>
</file>